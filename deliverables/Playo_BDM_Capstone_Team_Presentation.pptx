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d4bdfd8c374763" /><Relationship Type="http://schemas.openxmlformats.org/officeDocument/2006/relationships/extended-properties" Target="/docProps/app.xml" Id="Rfcc3babc14ea49f1" /><Relationship Type="http://schemas.openxmlformats.org/officeDocument/2006/relationships/officeDocument" Target="/ppt/presentation.xml" Id="R13d14c655e30422f" /></Relationships>
</file>

<file path=ppt/presentation.xml><?xml version="1.0" encoding="utf-8"?>
<p:presentation xmlns:p="http://schemas.openxmlformats.org/presentationml/2006/main">
  <p:sldMasterIdLst>
    <p:sldMasterId xmlns:r="http://schemas.openxmlformats.org/officeDocument/2006/relationships" id="2147483648" r:id="R707b0f78275f4673"/>
  </p:sldMasterIdLst>
  <p:notesMasterIdLst>
    <p:notesMasterId xmlns:r="http://schemas.openxmlformats.org/officeDocument/2006/relationships" r:id="R2d41959bd5144d22"/>
  </p:notesMasterIdLst>
  <p:sldIdLst>
    <p:sldId xmlns:r="http://schemas.openxmlformats.org/officeDocument/2006/relationships" id="256" r:id="Rb2fb3d2b4e854cd1"/>
    <p:sldId xmlns:r="http://schemas.openxmlformats.org/officeDocument/2006/relationships" id="257" r:id="Rac368eb8004a4db3"/>
    <p:sldId xmlns:r="http://schemas.openxmlformats.org/officeDocument/2006/relationships" id="258" r:id="R30b78a33e8ec4ed2"/>
    <p:sldId xmlns:r="http://schemas.openxmlformats.org/officeDocument/2006/relationships" id="259" r:id="Rff4a7dcfc4894905"/>
    <p:sldId xmlns:r="http://schemas.openxmlformats.org/officeDocument/2006/relationships" id="260" r:id="R870d5e62a9884a3f"/>
    <p:sldId xmlns:r="http://schemas.openxmlformats.org/officeDocument/2006/relationships" id="261" r:id="R598b767ddaf94e31"/>
    <p:sldId xmlns:r="http://schemas.openxmlformats.org/officeDocument/2006/relationships" id="262" r:id="R6f959d810e6f447c"/>
    <p:sldId xmlns:r="http://schemas.openxmlformats.org/officeDocument/2006/relationships" id="263" r:id="R826d02ce676b48b3"/>
    <p:sldId xmlns:r="http://schemas.openxmlformats.org/officeDocument/2006/relationships" id="264" r:id="R80fbff0432924c41"/>
    <p:sldId xmlns:r="http://schemas.openxmlformats.org/officeDocument/2006/relationships" id="265" r:id="R83957c963e4b4099"/>
    <p:sldId xmlns:r="http://schemas.openxmlformats.org/officeDocument/2006/relationships" id="266" r:id="Rd566ad1a481a4090"/>
    <p:sldId xmlns:r="http://schemas.openxmlformats.org/officeDocument/2006/relationships" id="267" r:id="R23b46fb485a34f74"/>
    <p:sldId xmlns:r="http://schemas.openxmlformats.org/officeDocument/2006/relationships" id="268" r:id="R0f830472b26f417d"/>
    <p:sldId xmlns:r="http://schemas.openxmlformats.org/officeDocument/2006/relationships" id="269" r:id="R423f67a5991d4a43"/>
    <p:sldId xmlns:r="http://schemas.openxmlformats.org/officeDocument/2006/relationships" id="270" r:id="Rc4a4df62a2ff4aaf"/>
    <p:sldId xmlns:r="http://schemas.openxmlformats.org/officeDocument/2006/relationships" id="271" r:id="Rd3bcc962eb2949d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f18d8ba43874f27" /><Relationship Type="http://schemas.openxmlformats.org/officeDocument/2006/relationships/slideMaster" Target="/ppt/slideMasters/slideMaster1.xml" Id="R707b0f78275f4673" /><Relationship Type="http://schemas.openxmlformats.org/officeDocument/2006/relationships/notesMaster" Target="/ppt/notesMasters/notesMaster1.xml" Id="R2d41959bd5144d22" /><Relationship Type="http://schemas.openxmlformats.org/officeDocument/2006/relationships/presProps" Target="/ppt/presProps.xml" Id="Rd06f98a250a24e86" /><Relationship Type="http://schemas.openxmlformats.org/officeDocument/2006/relationships/viewProps" Target="/ppt/viewProps.xml" Id="Re36de203c6534c02" /><Relationship Type="http://schemas.openxmlformats.org/officeDocument/2006/relationships/tableStyles" Target="/ppt/tableStyles.xml" Id="Rab54ebdac6234883" /><Relationship Type="http://schemas.openxmlformats.org/officeDocument/2006/relationships/slide" Target="/ppt/slides/slide1.xml" Id="Rb2fb3d2b4e854cd1" /><Relationship Type="http://schemas.openxmlformats.org/officeDocument/2006/relationships/slide" Target="/ppt/slides/slide2.xml" Id="Rac368eb8004a4db3" /><Relationship Type="http://schemas.openxmlformats.org/officeDocument/2006/relationships/slide" Target="/ppt/slides/slide3.xml" Id="R30b78a33e8ec4ed2" /><Relationship Type="http://schemas.openxmlformats.org/officeDocument/2006/relationships/slide" Target="/ppt/slides/slide4.xml" Id="Rff4a7dcfc4894905" /><Relationship Type="http://schemas.openxmlformats.org/officeDocument/2006/relationships/slide" Target="/ppt/slides/slide5.xml" Id="R870d5e62a9884a3f" /><Relationship Type="http://schemas.openxmlformats.org/officeDocument/2006/relationships/slide" Target="/ppt/slides/slide6.xml" Id="R598b767ddaf94e31" /><Relationship Type="http://schemas.openxmlformats.org/officeDocument/2006/relationships/slide" Target="/ppt/slides/slide7.xml" Id="R6f959d810e6f447c" /><Relationship Type="http://schemas.openxmlformats.org/officeDocument/2006/relationships/slide" Target="/ppt/slides/slide8.xml" Id="R826d02ce676b48b3" /><Relationship Type="http://schemas.openxmlformats.org/officeDocument/2006/relationships/slide" Target="/ppt/slides/slide9.xml" Id="R80fbff0432924c41" /><Relationship Type="http://schemas.openxmlformats.org/officeDocument/2006/relationships/slide" Target="/ppt/slides/slide10.xml" Id="R83957c963e4b4099" /><Relationship Type="http://schemas.openxmlformats.org/officeDocument/2006/relationships/slide" Target="/ppt/slides/slide11.xml" Id="Rd566ad1a481a4090" /><Relationship Type="http://schemas.openxmlformats.org/officeDocument/2006/relationships/slide" Target="/ppt/slides/slide12.xml" Id="R23b46fb485a34f74" /><Relationship Type="http://schemas.openxmlformats.org/officeDocument/2006/relationships/slide" Target="/ppt/slides/slide13.xml" Id="R0f830472b26f417d" /><Relationship Type="http://schemas.openxmlformats.org/officeDocument/2006/relationships/slide" Target="/ppt/slides/slide14.xml" Id="R423f67a5991d4a43" /><Relationship Type="http://schemas.openxmlformats.org/officeDocument/2006/relationships/slide" Target="/ppt/slides/slide15.xml" Id="Rc4a4df62a2ff4aaf" /><Relationship Type="http://schemas.openxmlformats.org/officeDocument/2006/relationships/slide" Target="/ppt/slides/slide16.xml" Id="Rd3bcc962eb2949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5581b996f94f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af7b19ae0c4327" /><Relationship Type="http://schemas.openxmlformats.org/officeDocument/2006/relationships/notesMaster" Target="/ppt/notesMasters/notesMaster1.xml" Id="R282ed8cb7f7f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6f66d9aec64d5c" /><Relationship Type="http://schemas.openxmlformats.org/officeDocument/2006/relationships/notesMaster" Target="/ppt/notesMasters/notesMaster1.xml" Id="R1b94cfc4f9494e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200847ea3d4839" /><Relationship Type="http://schemas.openxmlformats.org/officeDocument/2006/relationships/notesMaster" Target="/ppt/notesMasters/notesMaster1.xml" Id="R882cd555f32845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23bb3833f440b3" /><Relationship Type="http://schemas.openxmlformats.org/officeDocument/2006/relationships/notesMaster" Target="/ppt/notesMasters/notesMaster1.xml" Id="R353d15d5548048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5d87fe73d14d88" /><Relationship Type="http://schemas.openxmlformats.org/officeDocument/2006/relationships/notesMaster" Target="/ppt/notesMasters/notesMaster1.xml" Id="R54c543a6b9a143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69a9b4f71a4066" /><Relationship Type="http://schemas.openxmlformats.org/officeDocument/2006/relationships/notesMaster" Target="/ppt/notesMasters/notesMaster1.xml" Id="R1944184a09504b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c366182f7e4840" /><Relationship Type="http://schemas.openxmlformats.org/officeDocument/2006/relationships/notesMaster" Target="/ppt/notesMasters/notesMaster1.xml" Id="R531cf49578c54d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926f39edd84bc4" /><Relationship Type="http://schemas.openxmlformats.org/officeDocument/2006/relationships/notesMaster" Target="/ppt/notesMasters/notesMaster1.xml" Id="R49c07eca154745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cd9b3a17c14bdf" /><Relationship Type="http://schemas.openxmlformats.org/officeDocument/2006/relationships/notesMaster" Target="/ppt/notesMasters/notesMaster1.xml" Id="Rd6ec0493144948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7e1d80178c444e" /><Relationship Type="http://schemas.openxmlformats.org/officeDocument/2006/relationships/notesMaster" Target="/ppt/notesMasters/notesMaster1.xml" Id="R1cc949f149734b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77b70377ae4147" /><Relationship Type="http://schemas.openxmlformats.org/officeDocument/2006/relationships/notesMaster" Target="/ppt/notesMasters/notesMaster1.xml" Id="R1768178775b245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b4f29a94a243a3" /><Relationship Type="http://schemas.openxmlformats.org/officeDocument/2006/relationships/notesMaster" Target="/ppt/notesMasters/notesMaster1.xml" Id="R56b0a727131043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74fd6d544649c0" /><Relationship Type="http://schemas.openxmlformats.org/officeDocument/2006/relationships/notesMaster" Target="/ppt/notesMasters/notesMaster1.xml" Id="R3fcd08d7a68446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531f96441c4699" /><Relationship Type="http://schemas.openxmlformats.org/officeDocument/2006/relationships/notesMaster" Target="/ppt/notesMasters/notesMaster1.xml" Id="R044f20934e9b4c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f6205eb908498f" /><Relationship Type="http://schemas.openxmlformats.org/officeDocument/2006/relationships/notesMaster" Target="/ppt/notesMasters/notesMaster1.xml" Id="R25d1f1805ff544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3cef7408954102" /><Relationship Type="http://schemas.openxmlformats.org/officeDocument/2006/relationships/notesMaster" Target="/ppt/notesMasters/notesMaster1.xml" Id="R89557b670a764f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audit outcome clearly. Synthetic expansion was intentionally not used for the core analysis because it would not solve the dataset’s structural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strongest design decision is separation: the historical empirical dataset drives analysis and ML, while community submissions use a separate moderated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simplified diagram for explanation, then show the full supplied ER screenshot on the next slide. Explain the many-to-many relationship between venues and activity labels through venue_activities.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colour-coded clusters and the foreign keys. The public schema now includes discovery views that expose approved community claims while keeping historical KPIs and model training isolated.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pipeline favors verifiability over aggressive filling. In particular, unrated venues keep a missing target rather than receiving zero, and the HTML info field is excluded from the public site and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live page as evidence that the website does not rely on hard-coded metrics. The SQL views centralize logic so the dashboard and notebook-level analysis remain 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strong viva slide. The original rating field is a truncated version of avgRating, and the HTML info field repeats rating information. Including either would allow the model to see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comparison to the median baseline. Then be honest: the model is better, but the low R-squared means it is not a venue-quality guarantee or a business-demand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current Venue Explorer source filters and the Activities &amp; Services directory. Approved community venues appear in both discovery surfaces; historical rating statistics remain historical.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form requires no account, but it is not an open edit. New rows begin pending. Once approved, they appear in Venue Explorer and activity counts while remaining outside historical KPIs, features and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A GitHub push triggers tests and deployment; the frontend only has the publishable Supabase key, while RLS controls what anonymous users may read or insert.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defensible descriptive findings. Avoid language such as market demand, popularity or revenue because the dataset contains ratings and recorded venue attributes, not bookings or financial 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this slide as a strength, not an apology. The project is designed to prevent unsupported interpretations and to keep historical, predicted and community-submitted information visually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central contribution: a transparent, database-backed research system with moderated public discovery. Then follow the six-step live demo sequence shown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edaff3054c45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56d291ad704cea" /><Relationship Type="http://schemas.openxmlformats.org/officeDocument/2006/relationships/slideLayout" Target="/ppt/slideLayouts/slideLayout1.xml" Id="R638c739edf3e44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c739edf3e44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aa4e0092bd4da9" /><Relationship Type="http://schemas.openxmlformats.org/officeDocument/2006/relationships/image" Target="/ppt/media/image.jpeg" Id="R159834b970484376" /><Relationship Type="http://schemas.openxmlformats.org/officeDocument/2006/relationships/notesSlide" Target="/ppt/notesSlides/notesSlide1.xml" Id="R584d9af5742240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927c329eb240c6" /><Relationship Type="http://schemas.openxmlformats.org/officeDocument/2006/relationships/notesSlide" Target="/ppt/notesSlides/notesSlide2.xml" Id="R6c54016569c040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84612428bb469f" /><Relationship Type="http://schemas.openxmlformats.org/officeDocument/2006/relationships/chart" Target="/ppt/slides/charts/chart1.xml" Id="Rf0d7c5a247834125" /><Relationship Type="http://schemas.openxmlformats.org/officeDocument/2006/relationships/notesSlide" Target="/ppt/notesSlides/notesSlide3.xml" Id="R7886e47121a84e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96eccba730429d" /><Relationship Type="http://schemas.openxmlformats.org/officeDocument/2006/relationships/notesSlide" Target="/ppt/notesSlides/notesSlide4.xml" Id="R4c5bed548a04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080b9d8f1141cb" /><Relationship Type="http://schemas.openxmlformats.org/officeDocument/2006/relationships/notesSlide" Target="/ppt/notesSlides/notesSlide5.xml" Id="Rb33b2f651c434f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20f38c02114286" /><Relationship Type="http://schemas.openxmlformats.org/officeDocument/2006/relationships/image" Target="/ppt/media/image.png" Id="R97e63b5e56d744d4" /><Relationship Type="http://schemas.openxmlformats.org/officeDocument/2006/relationships/notesSlide" Target="/ppt/notesSlides/notesSlide6.xml" Id="Rdf0193c294e546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943a59832549ce" /><Relationship Type="http://schemas.openxmlformats.org/officeDocument/2006/relationships/notesSlide" Target="/ppt/notesSlides/notesSlide7.xml" Id="R24e7b210e65345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ee7aa62b2641df" /><Relationship Type="http://schemas.openxmlformats.org/officeDocument/2006/relationships/image" Target="/ppt/media/image2.jpeg" Id="R95ca054b64844033" /><Relationship Type="http://schemas.openxmlformats.org/officeDocument/2006/relationships/notesSlide" Target="/ppt/notesSlides/notesSlide8.xml" Id="Rffd7adf9bbee4e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89add8356b44ee" /><Relationship Type="http://schemas.openxmlformats.org/officeDocument/2006/relationships/notesSlide" Target="/ppt/notesSlides/notesSlide9.xml" Id="R3c8e555f983f47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18e7415a9a457a" /><Relationship Type="http://schemas.openxmlformats.org/officeDocument/2006/relationships/notesSlide" Target="/ppt/notesSlides/notesSlide10.xml" Id="R221b3cead1934f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9c003db7814384" /><Relationship Type="http://schemas.openxmlformats.org/officeDocument/2006/relationships/image" Target="/ppt/media/image.jpeg" Id="R1dc6683ac37c44e4" /><Relationship Type="http://schemas.openxmlformats.org/officeDocument/2006/relationships/image" Target="/ppt/media/image2.png" Id="R296ae790796e472c" /><Relationship Type="http://schemas.openxmlformats.org/officeDocument/2006/relationships/image" Target="/ppt/media/image3.png" Id="Rcfb5b98576d248db" /><Relationship Type="http://schemas.openxmlformats.org/officeDocument/2006/relationships/image" Target="/ppt/media/image3.jpeg" Id="Ra72bf34b1cfc43c5" /><Relationship Type="http://schemas.openxmlformats.org/officeDocument/2006/relationships/notesSlide" Target="/ppt/notesSlides/notesSlide11.xml" Id="R1642c2f0b2704d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e994e1bad2412d" /><Relationship Type="http://schemas.openxmlformats.org/officeDocument/2006/relationships/image" Target="/ppt/media/image4.jpeg" Id="R917d1c53427c4681" /><Relationship Type="http://schemas.openxmlformats.org/officeDocument/2006/relationships/image" Target="/ppt/media/image5.jpeg" Id="R11c73033c3724aa6" /><Relationship Type="http://schemas.openxmlformats.org/officeDocument/2006/relationships/notesSlide" Target="/ppt/notesSlides/notesSlide12.xml" Id="Ra845f55e4b6348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161ebd474147bc" /><Relationship Type="http://schemas.openxmlformats.org/officeDocument/2006/relationships/notesSlide" Target="/ppt/notesSlides/notesSlide13.xml" Id="R9f21e0b182b643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a6f8f8677c4679" /><Relationship Type="http://schemas.openxmlformats.org/officeDocument/2006/relationships/notesSlide" Target="/ppt/notesSlides/notesSlide14.xml" Id="R9138a9ffe53c47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0af02db7654c08" /><Relationship Type="http://schemas.openxmlformats.org/officeDocument/2006/relationships/notesSlide" Target="/ppt/notesSlides/notesSlide15.xml" Id="R01afb797222e45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366a4e7b4e45b3" /><Relationship Type="http://schemas.openxmlformats.org/officeDocument/2006/relationships/notesSlide" Target="/ppt/notesSlides/notesSlide16.xml" Id="R25abc9eefb2b4807" /></Relationships>
</file>

<file path=ppt/slides/charts/chart1.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Deduplicated venues</c:v>
          </c:tx>
          <c:spPr>
            <a:solidFill xmlns:a="http://schemas.openxmlformats.org/drawingml/2006/main">
              <a:srgbClr val="2D7A62"/>
            </a:solidFill>
          </c:spPr>
          <c:invertIfNegative val="1"/>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cat>
            <c:strRef>
              <c:f>'Chart Data'!$A$2:$A$5</c:f>
              <c:strCache>
                <c:ptCount val="4"/>
                <c:pt idx="0">
                  <c:v>Bangalore</c:v>
                </c:pt>
                <c:pt idx="1">
                  <c:v>Hyderabad</c:v>
                </c:pt>
                <c:pt idx="2">
                  <c:v>Delhi / NCR</c:v>
                </c:pt>
                <c:pt idx="3">
                  <c:v>Chennai</c:v>
                </c:pt>
              </c:strCache>
            </c:strRef>
          </c:cat>
          <c:val>
            <c:numRef>
              <c:f>'Chart Data'!$B$2:$B$5</c:f>
              <c:numCache>
                <c:formatCode>General</c:formatCode>
                <c:ptCount val="4"/>
                <c:pt idx="0">
                  <c:v>1358</c:v>
                </c:pt>
                <c:pt idx="1">
                  <c:v>1085</c:v>
                </c:pt>
                <c:pt idx="2">
                  <c:v>698</c:v>
                </c:pt>
                <c:pt idx="3">
                  <c:v>556</c:v>
                </c:pt>
              </c:numCache>
            </c:numRef>
          </c:val>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rosses val="autoZero"/>
        <c:lblAlgn val="ctr"/>
        <c:noMultiLvlLbl val="1"/>
        <c:lblOffset val="100"/>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plotArea>
    <c:plotVisOnly val="1"/>
    <c:dispBlanksAs val="zero"/>
  </c:chart>
</c:chartSpace>
</file>

<file path=ppt/slides/slide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195A7026-58A6-4D17-BECA-B19ABD085F72}"/>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solidFill xmlns:a="http://schemas.openxmlformats.org/drawingml/2006/main">
            <a:srgbClr val="173B31"/>
          </a:solidFill>
          <a:ln xmlns:a="http://schemas.openxmlformats.org/drawingml/2006/main" w="0">
            <a:noFill/>
          </a:ln>
        </p:spPr>
      </p:sp>
      <p:sp>
        <p:nvSpPr>
          <p:cNvPr id="2" name="Oval 1">
            <a:extLst xmlns:a="http://schemas.openxmlformats.org/drawingml/2006/main">
              <a:ext uri="{FF2B5EF4-FFF2-40B4-BE49-F238E27FC236}">
                <a16:creationId xmlns:a16="http://schemas.microsoft.com/office/drawing/2014/main" id="{5C91003A-DA2B-4E4A-8F8C-239364721F31}"/>
              </a:ext>
            </a:extLst>
          </p:cNvPr>
          <p:cNvSpPr>
            <a:spLocks xmlns:a="http://schemas.openxmlformats.org/drawingml/2006/main" noGrp="1"/>
          </p:cNvSpPr>
          <p:nvPr/>
        </p:nvSpPr>
        <p:spPr>
          <a:xfrm xmlns:a="http://schemas.openxmlformats.org/drawingml/2006/main">
            <a:off x="609600" y="590550"/>
            <a:ext cx="419100" cy="41910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3" name="Oval 2">
            <a:extLst xmlns:a="http://schemas.openxmlformats.org/drawingml/2006/main">
              <a:ext uri="{FF2B5EF4-FFF2-40B4-BE49-F238E27FC236}">
                <a16:creationId xmlns:a16="http://schemas.microsoft.com/office/drawing/2014/main" id="{04673E1F-6546-45F7-8D04-A58246CD1F4B}"/>
              </a:ext>
            </a:extLst>
          </p:cNvPr>
          <p:cNvSpPr>
            <a:spLocks xmlns:a="http://schemas.openxmlformats.org/drawingml/2006/main" noGrp="1"/>
          </p:cNvSpPr>
          <p:nvPr/>
        </p:nvSpPr>
        <p:spPr>
          <a:xfrm xmlns:a="http://schemas.openxmlformats.org/drawingml/2006/main">
            <a:off x="876300" y="723900"/>
            <a:ext cx="228600" cy="228600"/>
          </a:xfrm>
          <a:prstGeom xmlns:a="http://schemas.openxmlformats.org/drawingml/2006/main" prst="ellipse">
            <a:avLst/>
          </a:prstGeom>
          <a:solidFill xmlns:a="http://schemas.openxmlformats.org/drawingml/2006/main">
            <a:srgbClr val="D89029"/>
          </a:solidFill>
          <a:ln xmlns:a="http://schemas.openxmlformats.org/drawingml/2006/main" w="0">
            <a:noFill/>
          </a:ln>
        </p:spPr>
      </p:sp>
      <p:sp>
        <p:nvSpPr>
          <p:cNvPr id="4" name="Rectangle 3">
            <a:extLst xmlns:a="http://schemas.openxmlformats.org/drawingml/2006/main">
              <a:ext uri="{FF2B5EF4-FFF2-40B4-BE49-F238E27FC236}">
                <a16:creationId xmlns:a16="http://schemas.microsoft.com/office/drawing/2014/main" id="{08BDA1B6-38AF-4D56-B9EC-820C8CE6040B}"/>
              </a:ext>
            </a:extLst>
          </p:cNvPr>
          <p:cNvSpPr>
            <a:spLocks xmlns:a="http://schemas.openxmlformats.org/drawingml/2006/main" noGrp="1"/>
          </p:cNvSpPr>
          <p:nvPr/>
        </p:nvSpPr>
        <p:spPr>
          <a:xfrm xmlns:a="http://schemas.openxmlformats.org/drawingml/2006/main">
            <a:off x="609600" y="12573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1">
                <a:solidFill>
                  <a:srgbClr val="F5E7CB"/>
                </a:solidFill>
                <a:latin typeface="Arial"/>
                <a:ea typeface="Arial"/>
                <a:cs typeface="Arial"/>
              </a:defRPr>
            </a:pPr>
            <a:r>
              <a:rPr sz="1275" b="1">
                <a:solidFill>
                  <a:srgbClr val="F5E7CB"/>
                </a:solidFill>
                <a:latin typeface="Arial"/>
                <a:ea typeface="Arial"/>
                <a:cs typeface="Arial"/>
              </a:rPr>
              <a:t>PLAYO</a:t>
            </a:r>
          </a:p>
        </p:txBody>
      </p:sp>
      <p:sp>
        <p:nvSpPr>
          <p:cNvPr id="5" name="Rectangle 4">
            <a:extLst xmlns:a="http://schemas.openxmlformats.org/drawingml/2006/main">
              <a:ext uri="{FF2B5EF4-FFF2-40B4-BE49-F238E27FC236}">
                <a16:creationId xmlns:a16="http://schemas.microsoft.com/office/drawing/2014/main" id="{D53C4299-6767-4BBE-95F4-CB2D89DD6993}"/>
              </a:ext>
            </a:extLst>
          </p:cNvPr>
          <p:cNvSpPr>
            <a:spLocks xmlns:a="http://schemas.openxmlformats.org/drawingml/2006/main" noGrp="1"/>
          </p:cNvSpPr>
          <p:nvPr/>
        </p:nvSpPr>
        <p:spPr>
          <a:xfrm xmlns:a="http://schemas.openxmlformats.org/drawingml/2006/main">
            <a:off x="609600" y="15716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650" b="1">
                <a:solidFill>
                  <a:srgbClr val="FFFFFF"/>
                </a:solidFill>
                <a:latin typeface="Arial"/>
                <a:ea typeface="Arial"/>
                <a:cs typeface="Arial"/>
              </a:defRPr>
            </a:pPr>
            <a:r>
              <a:rPr sz="1650" b="1">
                <a:solidFill>
                  <a:srgbClr val="FFFFFF"/>
                </a:solidFill>
                <a:latin typeface="Arial"/>
                <a:ea typeface="Arial"/>
                <a:cs typeface="Arial"/>
              </a:rPr>
              <a:t>VENUE OBSERVATORY</a:t>
            </a:r>
          </a:p>
        </p:txBody>
      </p:sp>
      <p:sp>
        <p:nvSpPr>
          <p:cNvPr id="6" name="Rectangle 5">
            <a:extLst xmlns:a="http://schemas.openxmlformats.org/drawingml/2006/main">
              <a:ext uri="{FF2B5EF4-FFF2-40B4-BE49-F238E27FC236}">
                <a16:creationId xmlns:a16="http://schemas.microsoft.com/office/drawing/2014/main" id="{83282B7B-E5B6-410F-9878-812C77C09B6D}"/>
              </a:ext>
            </a:extLst>
          </p:cNvPr>
          <p:cNvSpPr>
            <a:spLocks xmlns:a="http://schemas.openxmlformats.org/drawingml/2006/main" noGrp="1"/>
          </p:cNvSpPr>
          <p:nvPr/>
        </p:nvSpPr>
        <p:spPr>
          <a:xfrm xmlns:a="http://schemas.openxmlformats.org/drawingml/2006/main">
            <a:off x="609600" y="2190750"/>
            <a:ext cx="371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8"/>
          </a:bodyPr>
          <a:lstStyle xmlns:a="http://schemas.openxmlformats.org/drawingml/2006/main"/>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A historical sports-venue data management and machine-learning capstone</a:t>
            </a:r>
          </a:p>
        </p:txBody>
      </p:sp>
      <p:sp>
        <p:nvSpPr>
          <p:cNvPr id="7" name="Rectangle 6">
            <a:extLst xmlns:a="http://schemas.openxmlformats.org/drawingml/2006/main">
              <a:ext uri="{FF2B5EF4-FFF2-40B4-BE49-F238E27FC236}">
                <a16:creationId xmlns:a16="http://schemas.microsoft.com/office/drawing/2014/main" id="{B98B9847-CA10-4CCA-B00D-FBA6C51AF6E0}"/>
              </a:ext>
            </a:extLst>
          </p:cNvPr>
          <p:cNvSpPr>
            <a:spLocks xmlns:a="http://schemas.openxmlformats.org/drawingml/2006/main" noGrp="1"/>
          </p:cNvSpPr>
          <p:nvPr/>
        </p:nvSpPr>
        <p:spPr>
          <a:xfrm xmlns:a="http://schemas.openxmlformats.org/drawingml/2006/main">
            <a:off x="609600" y="3714750"/>
            <a:ext cx="3638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350" b="0">
                <a:solidFill>
                  <a:srgbClr val="DDECE2"/>
                </a:solidFill>
                <a:latin typeface="Arial"/>
                <a:ea typeface="Arial"/>
                <a:cs typeface="Arial"/>
              </a:defRPr>
            </a:pPr>
            <a:r>
              <a:rPr sz="1350" b="0">
                <a:solidFill>
                  <a:srgbClr val="DDECE2"/>
                </a:solidFill>
                <a:latin typeface="Arial"/>
                <a:ea typeface="Arial"/>
                <a:cs typeface="Arial"/>
              </a:rPr>
              <a:t>Empirical data • PostgreSQL/Supabase • SQL • ML • public dashboard</a:t>
            </a:r>
          </a:p>
        </p:txBody>
      </p:sp>
      <p:sp>
        <p:nvSpPr>
          <p:cNvPr id="8" name="Rectangle 7">
            <a:extLst xmlns:a="http://schemas.openxmlformats.org/drawingml/2006/main">
              <a:ext uri="{FF2B5EF4-FFF2-40B4-BE49-F238E27FC236}">
                <a16:creationId xmlns:a16="http://schemas.microsoft.com/office/drawing/2014/main" id="{08B3F1D2-2BFF-4CBF-A0BF-602C3CB47BBD}"/>
              </a:ext>
            </a:extLst>
          </p:cNvPr>
          <p:cNvSpPr>
            <a:spLocks xmlns:a="http://schemas.openxmlformats.org/drawingml/2006/main" noGrp="1"/>
          </p:cNvSpPr>
          <p:nvPr/>
        </p:nvSpPr>
        <p:spPr>
          <a:xfrm xmlns:a="http://schemas.openxmlformats.org/drawingml/2006/main">
            <a:off x="609600" y="60198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sz="1125" b="1">
                <a:solidFill>
                  <a:srgbClr val="F5E7CB"/>
                </a:solidFill>
                <a:latin typeface="Arial"/>
                <a:ea typeface="Arial"/>
                <a:cs typeface="Arial"/>
              </a:defRPr>
            </a:pPr>
            <a:r>
              <a:rPr sz="1125" b="1">
                <a:solidFill>
                  <a:srgbClr val="F5E7CB"/>
                </a:solidFill>
                <a:latin typeface="Arial"/>
                <a:ea typeface="Arial"/>
                <a:cs typeface="Arial"/>
              </a:rPr>
              <a:t>Team presentation · 2026</a:t>
            </a:r>
          </a:p>
        </p:txBody>
      </p:sp>
      <p:pic>
        <p:nvPicPr>
          <p:cNvPr id="21" name="Picture 18"/>
          <p:cNvPicPr>
            <a:picLocks xmlns:a="http://schemas.openxmlformats.org/drawingml/2006/main" noChangeAspect="1"/>
          </p:cNvPicPr>
          <p:nvPr/>
        </p:nvPicPr>
        <p:blipFill>
          <a:blip xmlns:r="http://schemas.openxmlformats.org/officeDocument/2006/relationships" xmlns:a="http://schemas.openxmlformats.org/drawingml/2006/main" r:embed="R159834b970484376"/>
          <a:srcRect xmlns:a="http://schemas.openxmlformats.org/drawingml/2006/main" l="9213" t="0" r="9213" b="0"/>
          <a:stretch xmlns:a="http://schemas.openxmlformats.org/drawingml/2006/main">
            <a:fillRect l="0" t="0" r="0" b="0"/>
          </a:stretch>
        </p:blipFill>
        <p:spPr>
          <a:xfrm xmlns:a="http://schemas.openxmlformats.org/drawingml/2006/main">
            <a:off x="5286375" y="685800"/>
            <a:ext cx="6334125" cy="5334000"/>
          </a:xfrm>
          <a:prstGeom xmlns:a="http://schemas.openxmlformats.org/drawingml/2006/main" prst="roundRect">
            <a:avLst>
              <a:gd name="adj" fmla="val 2143"/>
            </a:avLst>
          </a:prstGeom>
        </p:spPr>
      </p:pic>
      <p:sp>
        <p:nvSpPr>
          <p:cNvPr id="10" name="Rectangle 9">
            <a:extLst xmlns:a="http://schemas.openxmlformats.org/drawingml/2006/main">
              <a:ext uri="{FF2B5EF4-FFF2-40B4-BE49-F238E27FC236}">
                <a16:creationId xmlns:a16="http://schemas.microsoft.com/office/drawing/2014/main" id="{55654564-8C1F-43B4-936E-6FE3B90708A0}"/>
              </a:ext>
            </a:extLst>
          </p:cNvPr>
          <p:cNvSpPr>
            <a:spLocks xmlns:a="http://schemas.openxmlformats.org/drawingml/2006/main" noGrp="1"/>
          </p:cNvSpPr>
          <p:nvPr/>
        </p:nvSpPr>
        <p:spPr>
          <a:xfrm xmlns:a="http://schemas.openxmlformats.org/drawingml/2006/main">
            <a:off x="5286375" y="5743575"/>
            <a:ext cx="6334125" cy="276225"/>
          </a:xfrm>
          <a:prstGeom xmlns:a="http://schemas.openxmlformats.org/drawingml/2006/main" prst="rect">
            <a:avLst/>
          </a:prstGeom>
          <a:solidFill xmlns:a="http://schemas.openxmlformats.org/drawingml/2006/main">
            <a:srgbClr val="C64235"/>
          </a:solidFill>
          <a:ln xmlns:a="http://schemas.openxmlformats.org/drawingml/2006/main" w="0">
            <a:noFill/>
          </a:ln>
        </p:spPr>
      </p:sp>
    </p:spTree>
    <p:extLst>
      <p:ext uri="{BB962C8B-B14F-4D97-AF65-F5344CB8AC3E}">
        <p14:creationId xmlns:p14="http://schemas.microsoft.com/office/powerpoint/2010/main" val="212061371"/>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CCCD3DBB-31FD-4C5D-94C2-DF20AA225A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62"/>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B3461CFF-F3A0-41E8-8B7E-D2FB273E56F3}"/>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PROJECT</a:t>
            </a:r>
          </a:p>
        </p:txBody>
      </p:sp>
      <p:sp>
        <p:nvSpPr>
          <p:cNvPr id="3" name="Rectangle 2">
            <a:extLst xmlns:a="http://schemas.openxmlformats.org/drawingml/2006/main">
              <a:ext uri="{FF2B5EF4-FFF2-40B4-BE49-F238E27FC236}">
                <a16:creationId xmlns:a16="http://schemas.microsoft.com/office/drawing/2014/main" id="{A853D531-4EA4-46FB-A572-D13B025C6450}"/>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problem is not just analysis — it is trust.</a:t>
            </a:r>
          </a:p>
        </p:txBody>
      </p:sp>
      <p:sp>
        <p:nvSpPr>
          <p:cNvPr id="4" name="Rectangle 3">
            <a:extLst xmlns:a="http://schemas.openxmlformats.org/drawingml/2006/main">
              <a:ext uri="{FF2B5EF4-FFF2-40B4-BE49-F238E27FC236}">
                <a16:creationId xmlns:a16="http://schemas.microsoft.com/office/drawing/2014/main" id="{C6CE66EF-32DC-4E9A-A3B8-52E5374A0D17}"/>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A useful capstone must preserve provenance, prevent leakage, and make every result traceable.</a:t>
            </a:r>
          </a:p>
        </p:txBody>
      </p:sp>
      <p:sp>
        <p:nvSpPr>
          <p:cNvPr id="5" name="Rectangle 4">
            <a:extLst xmlns:a="http://schemas.openxmlformats.org/drawingml/2006/main">
              <a:ext uri="{FF2B5EF4-FFF2-40B4-BE49-F238E27FC236}">
                <a16:creationId xmlns:a16="http://schemas.microsoft.com/office/drawing/2014/main" id="{04721F2D-4F36-442B-9E1E-02AED2007B3E}"/>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02</a:t>
            </a:r>
          </a:p>
        </p:txBody>
      </p:sp>
      <p:sp>
        <p:nvSpPr>
          <p:cNvPr id="6" name="Rectangle 5">
            <a:extLst xmlns:a="http://schemas.openxmlformats.org/drawingml/2006/main">
              <a:ext uri="{FF2B5EF4-FFF2-40B4-BE49-F238E27FC236}">
                <a16:creationId xmlns:a16="http://schemas.microsoft.com/office/drawing/2014/main" id="{9E831891-E8F5-4742-8D4C-CA3B54C1237E}"/>
              </a:ext>
            </a:extLst>
          </p:cNvPr>
          <p:cNvSpPr>
            <a:spLocks xmlns:a="http://schemas.openxmlformats.org/drawingml/2006/main" noGrp="1"/>
          </p:cNvSpPr>
          <p:nvPr/>
        </p:nvSpPr>
        <p:spPr>
          <a:xfrm xmlns:a="http://schemas.openxmlformats.org/drawingml/2006/main">
            <a:off x="704850" y="2057400"/>
            <a:ext cx="76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buNone/>
              <a:defRPr sz="2250" b="1">
                <a:solidFill>
                  <a:srgbClr val="C64235"/>
                </a:solidFill>
                <a:latin typeface="Arial"/>
                <a:ea typeface="Arial"/>
                <a:cs typeface="Arial"/>
              </a:defRPr>
            </a:pPr>
            <a:r>
              <a:rPr sz="2250" b="1">
                <a:solidFill>
                  <a:srgbClr val="C64235"/>
                </a:solidFill>
                <a:latin typeface="Arial"/>
                <a:ea typeface="Arial"/>
                <a:cs typeface="Arial"/>
              </a:rPr>
              <a:t>01</a:t>
            </a:r>
          </a:p>
        </p:txBody>
      </p:sp>
      <p:sp>
        <p:nvSpPr>
          <p:cNvPr id="7" name="Rectangle 6">
            <a:extLst xmlns:a="http://schemas.openxmlformats.org/drawingml/2006/main">
              <a:ext uri="{FF2B5EF4-FFF2-40B4-BE49-F238E27FC236}">
                <a16:creationId xmlns:a16="http://schemas.microsoft.com/office/drawing/2014/main" id="{EE7E67C1-EE91-44F2-85FF-86A64BC03D05}"/>
              </a:ext>
            </a:extLst>
          </p:cNvPr>
          <p:cNvSpPr>
            <a:spLocks xmlns:a="http://schemas.openxmlformats.org/drawingml/2006/main" noGrp="1"/>
          </p:cNvSpPr>
          <p:nvPr/>
        </p:nvSpPr>
        <p:spPr>
          <a:xfrm xmlns:a="http://schemas.openxmlformats.org/drawingml/2006/main">
            <a:off x="1485900" y="20383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36"/>
          </a:bodyPr>
          <a:lstStyle xmlns:a="http://schemas.openxmlformats.org/drawingml/2006/main"/>
          <a:p xmlns:a="http://schemas.openxmlformats.org/drawingml/2006/main">
            <a:pPr>
              <a:buNone/>
              <a:defRPr sz="1950" b="1">
                <a:solidFill>
                  <a:srgbClr val="173B31"/>
                </a:solidFill>
                <a:latin typeface="Arial"/>
                <a:ea typeface="Arial"/>
                <a:cs typeface="Arial"/>
              </a:defRPr>
            </a:pPr>
            <a:r>
              <a:rPr sz="1950" b="1">
                <a:solidFill>
                  <a:srgbClr val="173B31"/>
                </a:solidFill>
                <a:latin typeface="Arial"/>
                <a:ea typeface="Arial"/>
                <a:cs typeface="Arial"/>
              </a:rPr>
              <a:t>Messy historical input</a:t>
            </a:r>
          </a:p>
        </p:txBody>
      </p:sp>
      <p:sp>
        <p:nvSpPr>
          <p:cNvPr id="8" name="Rectangle 7">
            <a:extLst xmlns:a="http://schemas.openxmlformats.org/drawingml/2006/main">
              <a:ext uri="{FF2B5EF4-FFF2-40B4-BE49-F238E27FC236}">
                <a16:creationId xmlns:a16="http://schemas.microsoft.com/office/drawing/2014/main" id="{5BCAAB34-963E-45AC-839A-6B979F9C5306}"/>
              </a:ext>
            </a:extLst>
          </p:cNvPr>
          <p:cNvSpPr>
            <a:spLocks xmlns:a="http://schemas.openxmlformats.org/drawingml/2006/main" noGrp="1"/>
          </p:cNvSpPr>
          <p:nvPr/>
        </p:nvSpPr>
        <p:spPr>
          <a:xfrm xmlns:a="http://schemas.openxmlformats.org/drawingml/2006/main">
            <a:off x="1485900" y="2447925"/>
            <a:ext cx="390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350" b="0">
                <a:solidFill>
                  <a:srgbClr val="66736D"/>
                </a:solidFill>
                <a:latin typeface="Arial"/>
                <a:ea typeface="Arial"/>
                <a:cs typeface="Arial"/>
              </a:defRPr>
            </a:pPr>
            <a:r>
              <a:rPr sz="1350" b="0">
                <a:solidFill>
                  <a:srgbClr val="66736D"/>
                </a:solidFill>
                <a:latin typeface="Arial"/>
                <a:ea typeface="Arial"/>
                <a:cs typeface="Arial"/>
              </a:rPr>
              <a:t>Four regional JSON sources contain duplicated venues, free-text HTML and incomplete ratings.</a:t>
            </a:r>
          </a:p>
        </p:txBody>
      </p:sp>
      <p:sp>
        <p:nvSpPr>
          <p:cNvPr id="9" name="Rectangle 8">
            <a:extLst xmlns:a="http://schemas.openxmlformats.org/drawingml/2006/main">
              <a:ext uri="{FF2B5EF4-FFF2-40B4-BE49-F238E27FC236}">
                <a16:creationId xmlns:a16="http://schemas.microsoft.com/office/drawing/2014/main" id="{CD1E85C4-CBA1-4F0B-B49C-596D549446AF}"/>
              </a:ext>
            </a:extLst>
          </p:cNvPr>
          <p:cNvSpPr>
            <a:spLocks xmlns:a="http://schemas.openxmlformats.org/drawingml/2006/main" noGrp="1"/>
          </p:cNvSpPr>
          <p:nvPr/>
        </p:nvSpPr>
        <p:spPr>
          <a:xfrm xmlns:a="http://schemas.openxmlformats.org/drawingml/2006/main">
            <a:off x="6134100" y="2057400"/>
            <a:ext cx="76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buNone/>
              <a:defRPr sz="2250" b="1">
                <a:solidFill>
                  <a:srgbClr val="2D7A62"/>
                </a:solidFill>
                <a:latin typeface="Arial"/>
                <a:ea typeface="Arial"/>
                <a:cs typeface="Arial"/>
              </a:defRPr>
            </a:pPr>
            <a:r>
              <a:rPr sz="2250" b="1">
                <a:solidFill>
                  <a:srgbClr val="2D7A62"/>
                </a:solidFill>
                <a:latin typeface="Arial"/>
                <a:ea typeface="Arial"/>
                <a:cs typeface="Arial"/>
              </a:rPr>
              <a:t>02</a:t>
            </a:r>
          </a:p>
        </p:txBody>
      </p:sp>
      <p:sp>
        <p:nvSpPr>
          <p:cNvPr id="10" name="Rectangle 9">
            <a:extLst xmlns:a="http://schemas.openxmlformats.org/drawingml/2006/main">
              <a:ext uri="{FF2B5EF4-FFF2-40B4-BE49-F238E27FC236}">
                <a16:creationId xmlns:a16="http://schemas.microsoft.com/office/drawing/2014/main" id="{3ACA40CC-B4D7-4F19-9F8A-A0CC4E296D0A}"/>
              </a:ext>
            </a:extLst>
          </p:cNvPr>
          <p:cNvSpPr>
            <a:spLocks xmlns:a="http://schemas.openxmlformats.org/drawingml/2006/main" noGrp="1"/>
          </p:cNvSpPr>
          <p:nvPr/>
        </p:nvSpPr>
        <p:spPr>
          <a:xfrm xmlns:a="http://schemas.openxmlformats.org/drawingml/2006/main">
            <a:off x="6915150" y="20383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36"/>
          </a:bodyPr>
          <a:lstStyle xmlns:a="http://schemas.openxmlformats.org/drawingml/2006/main"/>
          <a:p xmlns:a="http://schemas.openxmlformats.org/drawingml/2006/main">
            <a:pPr>
              <a:buNone/>
              <a:defRPr sz="1950" b="1">
                <a:solidFill>
                  <a:srgbClr val="173B31"/>
                </a:solidFill>
                <a:latin typeface="Arial"/>
                <a:ea typeface="Arial"/>
                <a:cs typeface="Arial"/>
              </a:defRPr>
            </a:pPr>
            <a:r>
              <a:rPr sz="1950" b="1">
                <a:solidFill>
                  <a:srgbClr val="173B31"/>
                </a:solidFill>
                <a:latin typeface="Arial"/>
                <a:ea typeface="Arial"/>
                <a:cs typeface="Arial"/>
              </a:rPr>
              <a:t>Evidence-safe analytics</a:t>
            </a:r>
          </a:p>
        </p:txBody>
      </p:sp>
      <p:sp>
        <p:nvSpPr>
          <p:cNvPr id="11" name="Rectangle 10">
            <a:extLst xmlns:a="http://schemas.openxmlformats.org/drawingml/2006/main">
              <a:ext uri="{FF2B5EF4-FFF2-40B4-BE49-F238E27FC236}">
                <a16:creationId xmlns:a16="http://schemas.microsoft.com/office/drawing/2014/main" id="{706F0605-D3AD-4A54-8B16-D94E7F9B8344}"/>
              </a:ext>
            </a:extLst>
          </p:cNvPr>
          <p:cNvSpPr>
            <a:spLocks xmlns:a="http://schemas.openxmlformats.org/drawingml/2006/main" noGrp="1"/>
          </p:cNvSpPr>
          <p:nvPr/>
        </p:nvSpPr>
        <p:spPr>
          <a:xfrm xmlns:a="http://schemas.openxmlformats.org/drawingml/2006/main">
            <a:off x="6915150" y="2447925"/>
            <a:ext cx="390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350" b="0">
                <a:solidFill>
                  <a:srgbClr val="66736D"/>
                </a:solidFill>
                <a:latin typeface="Arial"/>
                <a:ea typeface="Arial"/>
                <a:cs typeface="Arial"/>
              </a:defRPr>
            </a:pPr>
            <a:r>
              <a:rPr sz="1350" b="0">
                <a:solidFill>
                  <a:srgbClr val="66736D"/>
                </a:solidFill>
                <a:latin typeface="Arial"/>
                <a:ea typeface="Arial"/>
                <a:cs typeface="Arial"/>
              </a:rPr>
              <a:t>The target, features and train/test split must avoid information leakage and unsupported claims.</a:t>
            </a:r>
          </a:p>
        </p:txBody>
      </p:sp>
      <p:sp>
        <p:nvSpPr>
          <p:cNvPr id="12" name="Rectangle 11">
            <a:extLst xmlns:a="http://schemas.openxmlformats.org/drawingml/2006/main">
              <a:ext uri="{FF2B5EF4-FFF2-40B4-BE49-F238E27FC236}">
                <a16:creationId xmlns:a16="http://schemas.microsoft.com/office/drawing/2014/main" id="{21142D07-E46D-4205-BB2E-77BA3AE965B5}"/>
              </a:ext>
            </a:extLst>
          </p:cNvPr>
          <p:cNvSpPr>
            <a:spLocks xmlns:a="http://schemas.openxmlformats.org/drawingml/2006/main" noGrp="1"/>
          </p:cNvSpPr>
          <p:nvPr/>
        </p:nvSpPr>
        <p:spPr>
          <a:xfrm xmlns:a="http://schemas.openxmlformats.org/drawingml/2006/main">
            <a:off x="704850" y="3714750"/>
            <a:ext cx="10096500" cy="190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31F2A254-337C-46CA-A75D-21BE816C1AF8}"/>
              </a:ext>
            </a:extLst>
          </p:cNvPr>
          <p:cNvSpPr>
            <a:spLocks xmlns:a="http://schemas.openxmlformats.org/drawingml/2006/main" noGrp="1"/>
          </p:cNvSpPr>
          <p:nvPr/>
        </p:nvSpPr>
        <p:spPr>
          <a:xfrm xmlns:a="http://schemas.openxmlformats.org/drawingml/2006/main">
            <a:off x="704850" y="40386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1">
                <a:solidFill>
                  <a:srgbClr val="C64235"/>
                </a:solidFill>
                <a:latin typeface="Arial"/>
                <a:ea typeface="Arial"/>
                <a:cs typeface="Arial"/>
              </a:defRPr>
            </a:pPr>
            <a:r>
              <a:rPr sz="1200" b="1">
                <a:solidFill>
                  <a:srgbClr val="C64235"/>
                </a:solidFill>
                <a:latin typeface="Arial"/>
                <a:ea typeface="Arial"/>
                <a:cs typeface="Arial"/>
              </a:rPr>
              <a:t>Project answer</a:t>
            </a:r>
          </a:p>
        </p:txBody>
      </p:sp>
      <p:sp>
        <p:nvSpPr>
          <p:cNvPr id="14" name="Rectangle 13">
            <a:extLst xmlns:a="http://schemas.openxmlformats.org/drawingml/2006/main">
              <a:ext uri="{FF2B5EF4-FFF2-40B4-BE49-F238E27FC236}">
                <a16:creationId xmlns:a16="http://schemas.microsoft.com/office/drawing/2014/main" id="{29E4F4DA-AE75-40F2-A8D8-799FA4E10F72}"/>
              </a:ext>
            </a:extLst>
          </p:cNvPr>
          <p:cNvSpPr>
            <a:spLocks xmlns:a="http://schemas.openxmlformats.org/drawingml/2006/main" noGrp="1"/>
          </p:cNvSpPr>
          <p:nvPr/>
        </p:nvSpPr>
        <p:spPr>
          <a:xfrm xmlns:a="http://schemas.openxmlformats.org/drawingml/2006/main">
            <a:off x="704850" y="4419600"/>
            <a:ext cx="952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68"/>
          </a:bodyPr>
          <a:lstStyle xmlns:a="http://schemas.openxmlformats.org/drawingml/2006/main"/>
          <a:p xmlns:a="http://schemas.openxmlformats.org/drawingml/2006/main">
            <a:pPr>
              <a:buNone/>
              <a:defRPr sz="2250" b="1">
                <a:solidFill>
                  <a:srgbClr val="173B31"/>
                </a:solidFill>
                <a:latin typeface="Arial"/>
                <a:ea typeface="Arial"/>
                <a:cs typeface="Arial"/>
              </a:defRPr>
            </a:pPr>
            <a:r>
              <a:rPr sz="2250" b="1">
                <a:solidFill>
                  <a:srgbClr val="173B31"/>
                </a:solidFill>
                <a:latin typeface="Arial"/>
                <a:ea typeface="Arial"/>
                <a:cs typeface="Arial"/>
              </a:rPr>
              <a:t>An auditable pipeline from immutable raw files to normalized PostgreSQL, reproducible SQL, grouped ML evaluation and a public evidence dashboard.</a:t>
            </a:r>
          </a:p>
        </p:txBody>
      </p:sp>
    </p:spTree>
    <p:extLst>
      <p:ext uri="{BB962C8B-B14F-4D97-AF65-F5344CB8AC3E}">
        <p14:creationId xmlns:p14="http://schemas.microsoft.com/office/powerpoint/2010/main" val="824680053"/>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0B9B1D17-5658-4F9F-8C72-363BE6BB6B9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029"/>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752ABEAA-13C9-4CB1-AF6D-64FFEFE52EE3}"/>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EVIDENCE</a:t>
            </a:r>
          </a:p>
        </p:txBody>
      </p:sp>
      <p:sp>
        <p:nvSpPr>
          <p:cNvPr id="3" name="Rectangle 2">
            <a:extLst xmlns:a="http://schemas.openxmlformats.org/drawingml/2006/main">
              <a:ext uri="{FF2B5EF4-FFF2-40B4-BE49-F238E27FC236}">
                <a16:creationId xmlns:a16="http://schemas.microsoft.com/office/drawing/2014/main" id="{D51E34E6-D9D8-4CAE-967B-73E1951465A4}"/>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audit established a sufficient real-data foundation.</a:t>
            </a:r>
          </a:p>
        </p:txBody>
      </p:sp>
      <p:sp>
        <p:nvSpPr>
          <p:cNvPr id="4" name="Rectangle 3">
            <a:extLst xmlns:a="http://schemas.openxmlformats.org/drawingml/2006/main">
              <a:ext uri="{FF2B5EF4-FFF2-40B4-BE49-F238E27FC236}">
                <a16:creationId xmlns:a16="http://schemas.microsoft.com/office/drawing/2014/main" id="{A046E0BD-564D-4314-93CD-B57EF75AADD8}"/>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3,701 raw records became 3,697 exact-deduplicated historical venue records.</a:t>
            </a:r>
          </a:p>
        </p:txBody>
      </p:sp>
      <p:sp>
        <p:nvSpPr>
          <p:cNvPr id="5" name="Rectangle 4">
            <a:extLst xmlns:a="http://schemas.openxmlformats.org/drawingml/2006/main">
              <a:ext uri="{FF2B5EF4-FFF2-40B4-BE49-F238E27FC236}">
                <a16:creationId xmlns:a16="http://schemas.microsoft.com/office/drawing/2014/main" id="{1B5E4861-88DB-4643-9452-A47C3A50461F}"/>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03</a:t>
            </a:r>
          </a:p>
        </p:txBody>
      </p:sp>
      <p:sp>
        <p:nvSpPr>
          <p:cNvPr id="6" name="Rectangle: Rounded Corners 5">
            <a:extLst xmlns:a="http://schemas.openxmlformats.org/drawingml/2006/main">
              <a:ext uri="{FF2B5EF4-FFF2-40B4-BE49-F238E27FC236}">
                <a16:creationId xmlns:a16="http://schemas.microsoft.com/office/drawing/2014/main" id="{A650FE94-945A-4C44-A61A-10A81C84D394}"/>
              </a:ext>
            </a:extLst>
          </p:cNvPr>
          <p:cNvSpPr>
            <a:spLocks xmlns:a="http://schemas.openxmlformats.org/drawingml/2006/main" noGrp="1"/>
          </p:cNvSpPr>
          <p:nvPr/>
        </p:nvSpPr>
        <p:spPr>
          <a:xfrm xmlns:a="http://schemas.openxmlformats.org/drawingml/2006/main">
            <a:off x="552450" y="1962150"/>
            <a:ext cx="2266950" cy="1485900"/>
          </a:xfrm>
          <a:prstGeom xmlns:a="http://schemas.openxmlformats.org/drawingml/2006/main" prst="roundRect">
            <a:avLst>
              <a:gd name="adj" fmla="val 5128"/>
            </a:avLst>
          </a:prstGeom>
          <a:solidFill xmlns:a="http://schemas.openxmlformats.org/drawingml/2006/main">
            <a:srgbClr val="FFFDF8"/>
          </a:solidFill>
          <a:ln xmlns:a="http://schemas.openxmlformats.org/drawingml/2006/main" w="0">
            <a:noFill/>
          </a:ln>
        </p:spPr>
      </p:sp>
      <p:sp>
        <p:nvSpPr>
          <p:cNvPr id="7" name="Rectangle: Rounded Corners 6">
            <a:extLst xmlns:a="http://schemas.openxmlformats.org/drawingml/2006/main">
              <a:ext uri="{FF2B5EF4-FFF2-40B4-BE49-F238E27FC236}">
                <a16:creationId xmlns:a16="http://schemas.microsoft.com/office/drawing/2014/main" id="{3F8E9A2D-ACD1-4298-8C16-CE4FBE1560FD}"/>
              </a:ext>
            </a:extLst>
          </p:cNvPr>
          <p:cNvSpPr>
            <a:spLocks xmlns:a="http://schemas.openxmlformats.org/drawingml/2006/main" noGrp="1"/>
          </p:cNvSpPr>
          <p:nvPr/>
        </p:nvSpPr>
        <p:spPr>
          <a:xfrm xmlns:a="http://schemas.openxmlformats.org/drawingml/2006/main">
            <a:off x="552450" y="1962150"/>
            <a:ext cx="76200" cy="1485900"/>
          </a:xfrm>
          <a:prstGeom xmlns:a="http://schemas.openxmlformats.org/drawingml/2006/main" prst="roundRect">
            <a:avLst>
              <a:gd name="adj" fmla="val 50000"/>
            </a:avLst>
          </a:prstGeom>
          <a:solidFill xmlns:a="http://schemas.openxmlformats.org/drawingml/2006/main">
            <a:srgbClr val="C64235"/>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E95B927D-30D3-46FD-B7B0-A583546E31C8}"/>
              </a:ext>
            </a:extLst>
          </p:cNvPr>
          <p:cNvSpPr>
            <a:spLocks xmlns:a="http://schemas.openxmlformats.org/drawingml/2006/main" noGrp="1"/>
          </p:cNvSpPr>
          <p:nvPr/>
        </p:nvSpPr>
        <p:spPr>
          <a:xfrm xmlns:a="http://schemas.openxmlformats.org/drawingml/2006/main">
            <a:off x="819150" y="22288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73B31"/>
                </a:solidFill>
                <a:latin typeface="Arial"/>
                <a:ea typeface="Arial"/>
                <a:cs typeface="Arial"/>
              </a:defRPr>
            </a:pPr>
            <a:r>
              <a:rPr sz="3000" b="1">
                <a:solidFill>
                  <a:srgbClr val="173B31"/>
                </a:solidFill>
                <a:latin typeface="Arial"/>
                <a:ea typeface="Arial"/>
                <a:cs typeface="Arial"/>
              </a:rPr>
              <a:t>3,697</a:t>
            </a:r>
          </a:p>
        </p:txBody>
      </p:sp>
      <p:sp>
        <p:nvSpPr>
          <p:cNvPr id="9" name="Rectangle 8">
            <a:extLst xmlns:a="http://schemas.openxmlformats.org/drawingml/2006/main">
              <a:ext uri="{FF2B5EF4-FFF2-40B4-BE49-F238E27FC236}">
                <a16:creationId xmlns:a16="http://schemas.microsoft.com/office/drawing/2014/main" id="{17BF1DEA-F1E3-4665-85E9-E0FD29D1459A}"/>
              </a:ext>
            </a:extLst>
          </p:cNvPr>
          <p:cNvSpPr>
            <a:spLocks xmlns:a="http://schemas.openxmlformats.org/drawingml/2006/main" noGrp="1"/>
          </p:cNvSpPr>
          <p:nvPr/>
        </p:nvSpPr>
        <p:spPr>
          <a:xfrm xmlns:a="http://schemas.openxmlformats.org/drawingml/2006/main">
            <a:off x="819150" y="2857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66736D"/>
                </a:solidFill>
                <a:latin typeface="Arial"/>
                <a:ea typeface="Arial"/>
                <a:cs typeface="Arial"/>
              </a:defRPr>
            </a:pPr>
            <a:r>
              <a:rPr sz="1200" b="0">
                <a:solidFill>
                  <a:srgbClr val="66736D"/>
                </a:solidFill>
                <a:latin typeface="Arial"/>
                <a:ea typeface="Arial"/>
                <a:cs typeface="Arial"/>
              </a:rPr>
              <a:t>historical venues</a:t>
            </a:r>
          </a:p>
        </p:txBody>
      </p:sp>
      <p:sp>
        <p:nvSpPr>
          <p:cNvPr id="10" name="Rectangle: Rounded Corners 9">
            <a:extLst xmlns:a="http://schemas.openxmlformats.org/drawingml/2006/main">
              <a:ext uri="{FF2B5EF4-FFF2-40B4-BE49-F238E27FC236}">
                <a16:creationId xmlns:a16="http://schemas.microsoft.com/office/drawing/2014/main" id="{24B8B18C-3C91-48BC-9286-0956C0DAC7FC}"/>
              </a:ext>
            </a:extLst>
          </p:cNvPr>
          <p:cNvSpPr>
            <a:spLocks xmlns:a="http://schemas.openxmlformats.org/drawingml/2006/main" noGrp="1"/>
          </p:cNvSpPr>
          <p:nvPr/>
        </p:nvSpPr>
        <p:spPr>
          <a:xfrm xmlns:a="http://schemas.openxmlformats.org/drawingml/2006/main">
            <a:off x="2990850" y="1962150"/>
            <a:ext cx="2266950" cy="1485900"/>
          </a:xfrm>
          <a:prstGeom xmlns:a="http://schemas.openxmlformats.org/drawingml/2006/main" prst="roundRect">
            <a:avLst>
              <a:gd name="adj" fmla="val 5128"/>
            </a:avLst>
          </a:prstGeom>
          <a:solidFill xmlns:a="http://schemas.openxmlformats.org/drawingml/2006/main">
            <a:srgbClr val="FFFDF8"/>
          </a:solidFill>
          <a:ln xmlns:a="http://schemas.openxmlformats.org/drawingml/2006/main" w="0">
            <a:noFill/>
          </a:ln>
        </p:spPr>
      </p:sp>
      <p:sp>
        <p:nvSpPr>
          <p:cNvPr id="11" name="Rectangle: Rounded Corners 10">
            <a:extLst xmlns:a="http://schemas.openxmlformats.org/drawingml/2006/main">
              <a:ext uri="{FF2B5EF4-FFF2-40B4-BE49-F238E27FC236}">
                <a16:creationId xmlns:a16="http://schemas.microsoft.com/office/drawing/2014/main" id="{9D1DF15B-9513-4352-B398-BFC45C67460D}"/>
              </a:ext>
            </a:extLst>
          </p:cNvPr>
          <p:cNvSpPr>
            <a:spLocks xmlns:a="http://schemas.openxmlformats.org/drawingml/2006/main" noGrp="1"/>
          </p:cNvSpPr>
          <p:nvPr/>
        </p:nvSpPr>
        <p:spPr>
          <a:xfrm xmlns:a="http://schemas.openxmlformats.org/drawingml/2006/main">
            <a:off x="2990850" y="1962150"/>
            <a:ext cx="76200" cy="1485900"/>
          </a:xfrm>
          <a:prstGeom xmlns:a="http://schemas.openxmlformats.org/drawingml/2006/main" prst="roundRect">
            <a:avLst>
              <a:gd name="adj" fmla="val 50000"/>
            </a:avLst>
          </a:prstGeom>
          <a:solidFill xmlns:a="http://schemas.openxmlformats.org/drawingml/2006/main">
            <a:srgbClr val="2D7A62"/>
          </a:solidFill>
          <a:ln xmlns:a="http://schemas.openxmlformats.org/drawingml/2006/main" w="0">
            <a:noFill/>
          </a:ln>
        </p:spPr>
      </p:sp>
      <p:sp>
        <p:nvSpPr>
          <p:cNvPr id="12" name="Rectangle 11">
            <a:extLst xmlns:a="http://schemas.openxmlformats.org/drawingml/2006/main">
              <a:ext uri="{FF2B5EF4-FFF2-40B4-BE49-F238E27FC236}">
                <a16:creationId xmlns:a16="http://schemas.microsoft.com/office/drawing/2014/main" id="{C03D4A56-615C-45E3-9456-8092CB115AE3}"/>
              </a:ext>
            </a:extLst>
          </p:cNvPr>
          <p:cNvSpPr>
            <a:spLocks xmlns:a="http://schemas.openxmlformats.org/drawingml/2006/main" noGrp="1"/>
          </p:cNvSpPr>
          <p:nvPr/>
        </p:nvSpPr>
        <p:spPr>
          <a:xfrm xmlns:a="http://schemas.openxmlformats.org/drawingml/2006/main">
            <a:off x="3257550" y="22288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73B31"/>
                </a:solidFill>
                <a:latin typeface="Arial"/>
                <a:ea typeface="Arial"/>
                <a:cs typeface="Arial"/>
              </a:defRPr>
            </a:pPr>
            <a:r>
              <a:rPr sz="3000" b="1">
                <a:solidFill>
                  <a:srgbClr val="173B31"/>
                </a:solidFill>
                <a:latin typeface="Arial"/>
                <a:ea typeface="Arial"/>
                <a:cs typeface="Arial"/>
              </a:rPr>
              <a:t>3,186</a:t>
            </a:r>
          </a:p>
        </p:txBody>
      </p:sp>
      <p:sp>
        <p:nvSpPr>
          <p:cNvPr id="13" name="Rectangle 12">
            <a:extLst xmlns:a="http://schemas.openxmlformats.org/drawingml/2006/main">
              <a:ext uri="{FF2B5EF4-FFF2-40B4-BE49-F238E27FC236}">
                <a16:creationId xmlns:a16="http://schemas.microsoft.com/office/drawing/2014/main" id="{AFE49B50-AECD-4B70-BDBC-9C276795D757}"/>
              </a:ext>
            </a:extLst>
          </p:cNvPr>
          <p:cNvSpPr>
            <a:spLocks xmlns:a="http://schemas.openxmlformats.org/drawingml/2006/main" noGrp="1"/>
          </p:cNvSpPr>
          <p:nvPr/>
        </p:nvSpPr>
        <p:spPr>
          <a:xfrm xmlns:a="http://schemas.openxmlformats.org/drawingml/2006/main">
            <a:off x="3257550" y="2857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66736D"/>
                </a:solidFill>
                <a:latin typeface="Arial"/>
                <a:ea typeface="Arial"/>
                <a:cs typeface="Arial"/>
              </a:defRPr>
            </a:pPr>
            <a:r>
              <a:rPr sz="1200" b="0">
                <a:solidFill>
                  <a:srgbClr val="66736D"/>
                </a:solidFill>
                <a:latin typeface="Arial"/>
                <a:ea typeface="Arial"/>
                <a:cs typeface="Arial"/>
              </a:rPr>
              <a:t>venues with ratings</a:t>
            </a:r>
          </a:p>
        </p:txBody>
      </p:sp>
      <p:sp>
        <p:nvSpPr>
          <p:cNvPr id="14" name="Rectangle: Rounded Corners 13">
            <a:extLst xmlns:a="http://schemas.openxmlformats.org/drawingml/2006/main">
              <a:ext uri="{FF2B5EF4-FFF2-40B4-BE49-F238E27FC236}">
                <a16:creationId xmlns:a16="http://schemas.microsoft.com/office/drawing/2014/main" id="{FB905217-DB07-4848-AD8F-D2B377BADBA9}"/>
              </a:ext>
            </a:extLst>
          </p:cNvPr>
          <p:cNvSpPr>
            <a:spLocks xmlns:a="http://schemas.openxmlformats.org/drawingml/2006/main" noGrp="1"/>
          </p:cNvSpPr>
          <p:nvPr/>
        </p:nvSpPr>
        <p:spPr>
          <a:xfrm xmlns:a="http://schemas.openxmlformats.org/drawingml/2006/main">
            <a:off x="5429250" y="1962150"/>
            <a:ext cx="2266950" cy="1485900"/>
          </a:xfrm>
          <a:prstGeom xmlns:a="http://schemas.openxmlformats.org/drawingml/2006/main" prst="roundRect">
            <a:avLst>
              <a:gd name="adj" fmla="val 5128"/>
            </a:avLst>
          </a:prstGeom>
          <a:solidFill xmlns:a="http://schemas.openxmlformats.org/drawingml/2006/main">
            <a:srgbClr val="FFFDF8"/>
          </a:solidFill>
          <a:ln xmlns:a="http://schemas.openxmlformats.org/drawingml/2006/main" w="0">
            <a:noFill/>
          </a:ln>
        </p:spPr>
      </p:sp>
      <p:sp>
        <p:nvSpPr>
          <p:cNvPr id="15" name="Rectangle: Rounded Corners 14">
            <a:extLst xmlns:a="http://schemas.openxmlformats.org/drawingml/2006/main">
              <a:ext uri="{FF2B5EF4-FFF2-40B4-BE49-F238E27FC236}">
                <a16:creationId xmlns:a16="http://schemas.microsoft.com/office/drawing/2014/main" id="{3406117E-7652-41AB-A293-E88DFCD2A1A3}"/>
              </a:ext>
            </a:extLst>
          </p:cNvPr>
          <p:cNvSpPr>
            <a:spLocks xmlns:a="http://schemas.openxmlformats.org/drawingml/2006/main" noGrp="1"/>
          </p:cNvSpPr>
          <p:nvPr/>
        </p:nvSpPr>
        <p:spPr>
          <a:xfrm xmlns:a="http://schemas.openxmlformats.org/drawingml/2006/main">
            <a:off x="5429250" y="1962150"/>
            <a:ext cx="76200" cy="1485900"/>
          </a:xfrm>
          <a:prstGeom xmlns:a="http://schemas.openxmlformats.org/drawingml/2006/main" prst="roundRect">
            <a:avLst>
              <a:gd name="adj" fmla="val 50000"/>
            </a:avLst>
          </a:prstGeom>
          <a:solidFill xmlns:a="http://schemas.openxmlformats.org/drawingml/2006/main">
            <a:srgbClr val="D89029"/>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5C21DD1E-9737-4248-991D-E5141323106C}"/>
              </a:ext>
            </a:extLst>
          </p:cNvPr>
          <p:cNvSpPr>
            <a:spLocks xmlns:a="http://schemas.openxmlformats.org/drawingml/2006/main" noGrp="1"/>
          </p:cNvSpPr>
          <p:nvPr/>
        </p:nvSpPr>
        <p:spPr>
          <a:xfrm xmlns:a="http://schemas.openxmlformats.org/drawingml/2006/main">
            <a:off x="5695950" y="22288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73B31"/>
                </a:solidFill>
                <a:latin typeface="Arial"/>
                <a:ea typeface="Arial"/>
                <a:cs typeface="Arial"/>
              </a:defRPr>
            </a:pPr>
            <a:r>
              <a:rPr sz="3000" b="1">
                <a:solidFill>
                  <a:srgbClr val="173B31"/>
                </a:solidFill>
                <a:latin typeface="Arial"/>
                <a:ea typeface="Arial"/>
                <a:cs typeface="Arial"/>
              </a:rPr>
              <a:t>511</a:t>
            </a:r>
          </a:p>
        </p:txBody>
      </p:sp>
      <p:sp>
        <p:nvSpPr>
          <p:cNvPr id="17" name="Rectangle 16">
            <a:extLst xmlns:a="http://schemas.openxmlformats.org/drawingml/2006/main">
              <a:ext uri="{FF2B5EF4-FFF2-40B4-BE49-F238E27FC236}">
                <a16:creationId xmlns:a16="http://schemas.microsoft.com/office/drawing/2014/main" id="{650F0706-DE78-4A2B-AA59-163BCEE49902}"/>
              </a:ext>
            </a:extLst>
          </p:cNvPr>
          <p:cNvSpPr>
            <a:spLocks xmlns:a="http://schemas.openxmlformats.org/drawingml/2006/main" noGrp="1"/>
          </p:cNvSpPr>
          <p:nvPr/>
        </p:nvSpPr>
        <p:spPr>
          <a:xfrm xmlns:a="http://schemas.openxmlformats.org/drawingml/2006/main">
            <a:off x="5695950" y="2857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66736D"/>
                </a:solidFill>
                <a:latin typeface="Arial"/>
                <a:ea typeface="Arial"/>
                <a:cs typeface="Arial"/>
              </a:defRPr>
            </a:pPr>
            <a:r>
              <a:rPr sz="1200" b="0">
                <a:solidFill>
                  <a:srgbClr val="66736D"/>
                </a:solidFill>
                <a:latin typeface="Arial"/>
                <a:ea typeface="Arial"/>
                <a:cs typeface="Arial"/>
              </a:rPr>
              <a:t>venues without ratings</a:t>
            </a:r>
          </a:p>
        </p:txBody>
      </p:sp>
      <p:sp>
        <p:nvSpPr>
          <p:cNvPr id="18" name="Rectangle: Rounded Corners 17">
            <a:extLst xmlns:a="http://schemas.openxmlformats.org/drawingml/2006/main">
              <a:ext uri="{FF2B5EF4-FFF2-40B4-BE49-F238E27FC236}">
                <a16:creationId xmlns:a16="http://schemas.microsoft.com/office/drawing/2014/main" id="{6D8AC1EB-BBFF-451B-B5EB-E2D5A7358E80}"/>
              </a:ext>
            </a:extLst>
          </p:cNvPr>
          <p:cNvSpPr>
            <a:spLocks xmlns:a="http://schemas.openxmlformats.org/drawingml/2006/main" noGrp="1"/>
          </p:cNvSpPr>
          <p:nvPr/>
        </p:nvSpPr>
        <p:spPr>
          <a:xfrm xmlns:a="http://schemas.openxmlformats.org/drawingml/2006/main">
            <a:off x="7867650" y="1962150"/>
            <a:ext cx="2266950" cy="1485900"/>
          </a:xfrm>
          <a:prstGeom xmlns:a="http://schemas.openxmlformats.org/drawingml/2006/main" prst="roundRect">
            <a:avLst>
              <a:gd name="adj" fmla="val 5128"/>
            </a:avLst>
          </a:prstGeom>
          <a:solidFill xmlns:a="http://schemas.openxmlformats.org/drawingml/2006/main">
            <a:srgbClr val="FFFDF8"/>
          </a:solidFill>
          <a:ln xmlns:a="http://schemas.openxmlformats.org/drawingml/2006/main" w="0">
            <a:noFill/>
          </a:ln>
        </p:spPr>
      </p:sp>
      <p:sp>
        <p:nvSpPr>
          <p:cNvPr id="19" name="Rectangle: Rounded Corners 18">
            <a:extLst xmlns:a="http://schemas.openxmlformats.org/drawingml/2006/main">
              <a:ext uri="{FF2B5EF4-FFF2-40B4-BE49-F238E27FC236}">
                <a16:creationId xmlns:a16="http://schemas.microsoft.com/office/drawing/2014/main" id="{9C0D515C-87C2-4142-9DCA-AD20A1C2138F}"/>
              </a:ext>
            </a:extLst>
          </p:cNvPr>
          <p:cNvSpPr>
            <a:spLocks xmlns:a="http://schemas.openxmlformats.org/drawingml/2006/main" noGrp="1"/>
          </p:cNvSpPr>
          <p:nvPr/>
        </p:nvSpPr>
        <p:spPr>
          <a:xfrm xmlns:a="http://schemas.openxmlformats.org/drawingml/2006/main">
            <a:off x="7867650" y="1962150"/>
            <a:ext cx="76200" cy="1485900"/>
          </a:xfrm>
          <a:prstGeom xmlns:a="http://schemas.openxmlformats.org/drawingml/2006/main" prst="roundRect">
            <a:avLst>
              <a:gd name="adj" fmla="val 50000"/>
            </a:avLst>
          </a:prstGeom>
          <a:solidFill xmlns:a="http://schemas.openxmlformats.org/drawingml/2006/main">
            <a:srgbClr val="4E79A7"/>
          </a:solidFill>
          <a:ln xmlns:a="http://schemas.openxmlformats.org/drawingml/2006/main" w="0">
            <a:noFill/>
          </a:ln>
        </p:spPr>
      </p:sp>
      <p:sp>
        <p:nvSpPr>
          <p:cNvPr id="20" name="Rectangle 19">
            <a:extLst xmlns:a="http://schemas.openxmlformats.org/drawingml/2006/main">
              <a:ext uri="{FF2B5EF4-FFF2-40B4-BE49-F238E27FC236}">
                <a16:creationId xmlns:a16="http://schemas.microsoft.com/office/drawing/2014/main" id="{83D53ABF-4C32-40AB-BEC4-7009CF00ADBC}"/>
              </a:ext>
            </a:extLst>
          </p:cNvPr>
          <p:cNvSpPr>
            <a:spLocks xmlns:a="http://schemas.openxmlformats.org/drawingml/2006/main" noGrp="1"/>
          </p:cNvSpPr>
          <p:nvPr/>
        </p:nvSpPr>
        <p:spPr>
          <a:xfrm xmlns:a="http://schemas.openxmlformats.org/drawingml/2006/main">
            <a:off x="8134350" y="22288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73B31"/>
                </a:solidFill>
                <a:latin typeface="Arial"/>
                <a:ea typeface="Arial"/>
                <a:cs typeface="Arial"/>
              </a:defRPr>
            </a:pPr>
            <a:r>
              <a:rPr sz="3000" b="1">
                <a:solidFill>
                  <a:srgbClr val="173B31"/>
                </a:solidFill>
                <a:latin typeface="Arial"/>
                <a:ea typeface="Arial"/>
                <a:cs typeface="Arial"/>
              </a:rPr>
              <a:t>89</a:t>
            </a:r>
          </a:p>
        </p:txBody>
      </p:sp>
      <p:sp>
        <p:nvSpPr>
          <p:cNvPr id="21" name="Rectangle 20">
            <a:extLst xmlns:a="http://schemas.openxmlformats.org/drawingml/2006/main">
              <a:ext uri="{FF2B5EF4-FFF2-40B4-BE49-F238E27FC236}">
                <a16:creationId xmlns:a16="http://schemas.microsoft.com/office/drawing/2014/main" id="{3B2446CF-74D9-4A64-A0C9-B0FB36A743D6}"/>
              </a:ext>
            </a:extLst>
          </p:cNvPr>
          <p:cNvSpPr>
            <a:spLocks xmlns:a="http://schemas.openxmlformats.org/drawingml/2006/main" noGrp="1"/>
          </p:cNvSpPr>
          <p:nvPr/>
        </p:nvSpPr>
        <p:spPr>
          <a:xfrm xmlns:a="http://schemas.openxmlformats.org/drawingml/2006/main">
            <a:off x="8134350" y="2857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66736D"/>
                </a:solidFill>
                <a:latin typeface="Arial"/>
                <a:ea typeface="Arial"/>
                <a:cs typeface="Arial"/>
              </a:defRPr>
            </a:pPr>
            <a:r>
              <a:rPr sz="1200" b="0">
                <a:solidFill>
                  <a:srgbClr val="66736D"/>
                </a:solidFill>
                <a:latin typeface="Arial"/>
                <a:ea typeface="Arial"/>
                <a:cs typeface="Arial"/>
              </a:rPr>
              <a:t>activity / service labels</a:t>
            </a:r>
          </a:p>
        </p:txBody>
      </p:sp>
      <p:graphicFrame>
        <p:nvGraphicFramePr>
          <p:cNvPr id="50" name="Chart"/>
          <p:cNvGraphicFramePr/>
          <p:nvPr/>
        </p:nvGraphicFramePr>
        <p:xfrm>
          <a:off xmlns:a="http://schemas.openxmlformats.org/drawingml/2006/main" x="552450" y="3886200"/>
          <a:ext xmlns:a="http://schemas.openxmlformats.org/drawingml/2006/main" cx="6705600" cy="2238375"/>
        </p:xfrm>
        <a:graphic xmlns:a="http://schemas.openxmlformats.org/drawingml/2006/main">
          <a:graphicData uri="http://schemas.openxmlformats.org/drawingml/2006/chart">
            <c:chart xmlns:r="http://schemas.openxmlformats.org/officeDocument/2006/relationships" xmlns:c="http://schemas.openxmlformats.org/drawingml/2006/chart" r:id="Rf0d7c5a247834125"/>
          </a:graphicData>
        </a:graphic>
      </p:graphicFrame>
      <p:sp>
        <p:nvSpPr>
          <p:cNvPr id="23" name="Rectangle 22">
            <a:extLst xmlns:a="http://schemas.openxmlformats.org/drawingml/2006/main">
              <a:ext uri="{FF2B5EF4-FFF2-40B4-BE49-F238E27FC236}">
                <a16:creationId xmlns:a16="http://schemas.microsoft.com/office/drawing/2014/main" id="{48D50B55-9096-4B3A-B719-DA5C482FFF14}"/>
              </a:ext>
            </a:extLst>
          </p:cNvPr>
          <p:cNvSpPr>
            <a:spLocks xmlns:a="http://schemas.openxmlformats.org/drawingml/2006/main" noGrp="1"/>
          </p:cNvSpPr>
          <p:nvPr/>
        </p:nvSpPr>
        <p:spPr>
          <a:xfrm xmlns:a="http://schemas.openxmlformats.org/drawingml/2006/main">
            <a:off x="704850" y="39433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173B31"/>
                </a:solidFill>
                <a:latin typeface="Arial"/>
                <a:ea typeface="Arial"/>
                <a:cs typeface="Arial"/>
              </a:defRPr>
            </a:pPr>
            <a:r>
              <a:rPr sz="1275" b="1">
                <a:solidFill>
                  <a:srgbClr val="173B31"/>
                </a:solidFill>
                <a:latin typeface="Arial"/>
                <a:ea typeface="Arial"/>
                <a:cs typeface="Arial"/>
              </a:rPr>
              <a:t>Regional coverage after exact deduplication</a:t>
            </a:r>
          </a:p>
        </p:txBody>
      </p:sp>
      <p:sp>
        <p:nvSpPr>
          <p:cNvPr id="24" name="Rectangle: Rounded Corners 23">
            <a:extLst xmlns:a="http://schemas.openxmlformats.org/drawingml/2006/main">
              <a:ext uri="{FF2B5EF4-FFF2-40B4-BE49-F238E27FC236}">
                <a16:creationId xmlns:a16="http://schemas.microsoft.com/office/drawing/2014/main" id="{75270765-8CC8-4BFD-9250-7B251C5D6B09}"/>
              </a:ext>
            </a:extLst>
          </p:cNvPr>
          <p:cNvSpPr>
            <a:spLocks xmlns:a="http://schemas.openxmlformats.org/drawingml/2006/main" noGrp="1"/>
          </p:cNvSpPr>
          <p:nvPr/>
        </p:nvSpPr>
        <p:spPr>
          <a:xfrm xmlns:a="http://schemas.openxmlformats.org/drawingml/2006/main">
            <a:off x="7658100" y="3886200"/>
            <a:ext cx="3143250" cy="2238375"/>
          </a:xfrm>
          <a:prstGeom xmlns:a="http://schemas.openxmlformats.org/drawingml/2006/main" prst="roundRect">
            <a:avLst>
              <a:gd name="adj" fmla="val 3404"/>
            </a:avLst>
          </a:prstGeom>
          <a:solidFill xmlns:a="http://schemas.openxmlformats.org/drawingml/2006/main">
            <a:srgbClr val="F5E7CB"/>
          </a:solidFill>
          <a:ln xmlns:a="http://schemas.openxmlformats.org/drawingml/2006/main" w="0">
            <a:noFill/>
          </a:ln>
        </p:spPr>
      </p:sp>
      <p:sp>
        <p:nvSpPr>
          <p:cNvPr id="25" name="Rectangle 24">
            <a:extLst xmlns:a="http://schemas.openxmlformats.org/drawingml/2006/main">
              <a:ext uri="{FF2B5EF4-FFF2-40B4-BE49-F238E27FC236}">
                <a16:creationId xmlns:a16="http://schemas.microsoft.com/office/drawing/2014/main" id="{1B772062-F732-4D4A-A66F-45FA9A1BF116}"/>
              </a:ext>
            </a:extLst>
          </p:cNvPr>
          <p:cNvSpPr>
            <a:spLocks xmlns:a="http://schemas.openxmlformats.org/drawingml/2006/main" noGrp="1"/>
          </p:cNvSpPr>
          <p:nvPr/>
        </p:nvSpPr>
        <p:spPr>
          <a:xfrm xmlns:a="http://schemas.openxmlformats.org/drawingml/2006/main">
            <a:off x="7943850" y="4143375"/>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9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Why we did not manufacture scale</a:t>
            </a:r>
          </a:p>
        </p:txBody>
      </p:sp>
      <p:sp>
        <p:nvSpPr>
          <p:cNvPr id="26" name="Rectangle 25">
            <a:extLst xmlns:a="http://schemas.openxmlformats.org/drawingml/2006/main">
              <a:ext uri="{FF2B5EF4-FFF2-40B4-BE49-F238E27FC236}">
                <a16:creationId xmlns:a16="http://schemas.microsoft.com/office/drawing/2014/main" id="{E3D8C728-937F-42C9-8783-F191566EAD2D}"/>
              </a:ext>
            </a:extLst>
          </p:cNvPr>
          <p:cNvSpPr>
            <a:spLocks xmlns:a="http://schemas.openxmlformats.org/drawingml/2006/main" noGrp="1"/>
          </p:cNvSpPr>
          <p:nvPr/>
        </p:nvSpPr>
        <p:spPr>
          <a:xfrm xmlns:a="http://schemas.openxmlformats.org/drawingml/2006/main">
            <a:off x="7943850" y="4810125"/>
            <a:ext cx="257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Synthetic rows would not repair unknown dates, geographic bias, missing bookings, or absent prices. The historical dataset remains the empirical core.</a:t>
            </a:r>
          </a:p>
        </p:txBody>
      </p:sp>
    </p:spTree>
    <p:extLst>
      <p:ext uri="{BB962C8B-B14F-4D97-AF65-F5344CB8AC3E}">
        <p14:creationId xmlns:p14="http://schemas.microsoft.com/office/powerpoint/2010/main" val="249721190"/>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23E2A1D-47B4-4B20-87EC-FF6F5D4BEA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64235"/>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32C7DC1D-2A60-4BFC-85AB-9041D91489AC}"/>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SYSTEM</a:t>
            </a:r>
          </a:p>
        </p:txBody>
      </p:sp>
      <p:sp>
        <p:nvSpPr>
          <p:cNvPr id="3" name="Rectangle 2">
            <a:extLst xmlns:a="http://schemas.openxmlformats.org/drawingml/2006/main">
              <a:ext uri="{FF2B5EF4-FFF2-40B4-BE49-F238E27FC236}">
                <a16:creationId xmlns:a16="http://schemas.microsoft.com/office/drawing/2014/main" id="{3AD9264C-EE9F-4A9C-AFE2-1C3DC9696623}"/>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One pipeline, five accountability boundaries.</a:t>
            </a:r>
          </a:p>
        </p:txBody>
      </p:sp>
      <p:sp>
        <p:nvSpPr>
          <p:cNvPr id="4" name="Rectangle 3">
            <a:extLst xmlns:a="http://schemas.openxmlformats.org/drawingml/2006/main">
              <a:ext uri="{FF2B5EF4-FFF2-40B4-BE49-F238E27FC236}">
                <a16:creationId xmlns:a16="http://schemas.microsoft.com/office/drawing/2014/main" id="{85EDF7AE-84AE-4D8E-A483-8F25D7FFBE60}"/>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Each layer has a different job and a different trust level.</a:t>
            </a:r>
          </a:p>
        </p:txBody>
      </p:sp>
      <p:sp>
        <p:nvSpPr>
          <p:cNvPr id="5" name="Rectangle 4">
            <a:extLst xmlns:a="http://schemas.openxmlformats.org/drawingml/2006/main">
              <a:ext uri="{FF2B5EF4-FFF2-40B4-BE49-F238E27FC236}">
                <a16:creationId xmlns:a16="http://schemas.microsoft.com/office/drawing/2014/main" id="{4500C8C6-DE79-4837-BAFA-783D5DC4B5A1}"/>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04</a:t>
            </a:r>
          </a:p>
        </p:txBody>
      </p:sp>
      <p:sp>
        <p:nvSpPr>
          <p:cNvPr id="6" name="Rectangle: Rounded Corners 5">
            <a:extLst xmlns:a="http://schemas.openxmlformats.org/drawingml/2006/main">
              <a:ext uri="{FF2B5EF4-FFF2-40B4-BE49-F238E27FC236}">
                <a16:creationId xmlns:a16="http://schemas.microsoft.com/office/drawing/2014/main" id="{ECD928AB-9482-45D4-AF61-8B7BFAA65A66}"/>
              </a:ext>
            </a:extLst>
          </p:cNvPr>
          <p:cNvSpPr>
            <a:spLocks xmlns:a="http://schemas.openxmlformats.org/drawingml/2006/main" noGrp="1"/>
          </p:cNvSpPr>
          <p:nvPr/>
        </p:nvSpPr>
        <p:spPr>
          <a:xfrm xmlns:a="http://schemas.openxmlformats.org/drawingml/2006/main">
            <a:off x="2400300" y="2895600"/>
            <a:ext cx="857250" cy="76200"/>
          </a:xfrm>
          <a:prstGeom xmlns:a="http://schemas.openxmlformats.org/drawingml/2006/main" prst="roundRect">
            <a:avLst>
              <a:gd name="adj" fmla="val 50000"/>
            </a:avLst>
          </a:prstGeom>
          <a:solidFill xmlns:a="http://schemas.openxmlformats.org/drawingml/2006/main">
            <a:srgbClr val="D7D3C9"/>
          </a:solidFill>
          <a:ln xmlns:a="http://schemas.openxmlformats.org/drawingml/2006/main" w="0">
            <a:noFill/>
          </a:ln>
        </p:spPr>
      </p:sp>
      <p:sp>
        <p:nvSpPr>
          <p:cNvPr id="7" name="Rectangle: Rounded Corners 6">
            <a:extLst xmlns:a="http://schemas.openxmlformats.org/drawingml/2006/main">
              <a:ext uri="{FF2B5EF4-FFF2-40B4-BE49-F238E27FC236}">
                <a16:creationId xmlns:a16="http://schemas.microsoft.com/office/drawing/2014/main" id="{786CC8FA-AC84-44B9-A459-A40E0F2BF4A7}"/>
              </a:ext>
            </a:extLst>
          </p:cNvPr>
          <p:cNvSpPr>
            <a:spLocks xmlns:a="http://schemas.openxmlformats.org/drawingml/2006/main" noGrp="1"/>
          </p:cNvSpPr>
          <p:nvPr/>
        </p:nvSpPr>
        <p:spPr>
          <a:xfrm xmlns:a="http://schemas.openxmlformats.org/drawingml/2006/main">
            <a:off x="4667250" y="2895600"/>
            <a:ext cx="857250" cy="76200"/>
          </a:xfrm>
          <a:prstGeom xmlns:a="http://schemas.openxmlformats.org/drawingml/2006/main" prst="roundRect">
            <a:avLst>
              <a:gd name="adj" fmla="val 50000"/>
            </a:avLst>
          </a:prstGeom>
          <a:solidFill xmlns:a="http://schemas.openxmlformats.org/drawingml/2006/main">
            <a:srgbClr val="D7D3C9"/>
          </a:solidFill>
          <a:ln xmlns:a="http://schemas.openxmlformats.org/drawingml/2006/main" w="0">
            <a:noFill/>
          </a:ln>
        </p:spPr>
      </p:sp>
      <p:sp>
        <p:nvSpPr>
          <p:cNvPr id="8" name="Rectangle: Rounded Corners 7">
            <a:extLst xmlns:a="http://schemas.openxmlformats.org/drawingml/2006/main">
              <a:ext uri="{FF2B5EF4-FFF2-40B4-BE49-F238E27FC236}">
                <a16:creationId xmlns:a16="http://schemas.microsoft.com/office/drawing/2014/main" id="{D162AFB1-5D69-469E-A3D2-BFD7C294FAE8}"/>
              </a:ext>
            </a:extLst>
          </p:cNvPr>
          <p:cNvSpPr>
            <a:spLocks xmlns:a="http://schemas.openxmlformats.org/drawingml/2006/main" noGrp="1"/>
          </p:cNvSpPr>
          <p:nvPr/>
        </p:nvSpPr>
        <p:spPr>
          <a:xfrm xmlns:a="http://schemas.openxmlformats.org/drawingml/2006/main">
            <a:off x="6934200" y="2895600"/>
            <a:ext cx="857250" cy="76200"/>
          </a:xfrm>
          <a:prstGeom xmlns:a="http://schemas.openxmlformats.org/drawingml/2006/main" prst="roundRect">
            <a:avLst>
              <a:gd name="adj" fmla="val 50000"/>
            </a:avLst>
          </a:prstGeom>
          <a:solidFill xmlns:a="http://schemas.openxmlformats.org/drawingml/2006/main">
            <a:srgbClr val="D7D3C9"/>
          </a:solidFill>
          <a:ln xmlns:a="http://schemas.openxmlformats.org/drawingml/2006/main" w="0">
            <a:noFill/>
          </a:ln>
        </p:spPr>
      </p:sp>
      <p:sp>
        <p:nvSpPr>
          <p:cNvPr id="9" name="Rectangle: Rounded Corners 8">
            <a:extLst xmlns:a="http://schemas.openxmlformats.org/drawingml/2006/main">
              <a:ext uri="{FF2B5EF4-FFF2-40B4-BE49-F238E27FC236}">
                <a16:creationId xmlns:a16="http://schemas.microsoft.com/office/drawing/2014/main" id="{87C5E363-0CE0-4611-BC59-DCB4C775D906}"/>
              </a:ext>
            </a:extLst>
          </p:cNvPr>
          <p:cNvSpPr>
            <a:spLocks xmlns:a="http://schemas.openxmlformats.org/drawingml/2006/main" noGrp="1"/>
          </p:cNvSpPr>
          <p:nvPr/>
        </p:nvSpPr>
        <p:spPr>
          <a:xfrm xmlns:a="http://schemas.openxmlformats.org/drawingml/2006/main">
            <a:off x="9201150" y="2895600"/>
            <a:ext cx="857250" cy="76200"/>
          </a:xfrm>
          <a:prstGeom xmlns:a="http://schemas.openxmlformats.org/drawingml/2006/main" prst="roundRect">
            <a:avLst>
              <a:gd name="adj" fmla="val 50000"/>
            </a:avLst>
          </a:prstGeom>
          <a:solidFill xmlns:a="http://schemas.openxmlformats.org/drawingml/2006/main">
            <a:srgbClr val="D7D3C9"/>
          </a:solidFill>
          <a:ln xmlns:a="http://schemas.openxmlformats.org/drawingml/2006/main" w="0">
            <a:noFill/>
          </a:ln>
        </p:spPr>
      </p:sp>
      <p:sp>
        <p:nvSpPr>
          <p:cNvPr id="10" name="Rectangle: Rounded Corners 9">
            <a:extLst xmlns:a="http://schemas.openxmlformats.org/drawingml/2006/main">
              <a:ext uri="{FF2B5EF4-FFF2-40B4-BE49-F238E27FC236}">
                <a16:creationId xmlns:a16="http://schemas.microsoft.com/office/drawing/2014/main" id="{762AD61A-C316-4EB5-BB99-83874B67C31D}"/>
              </a:ext>
            </a:extLst>
          </p:cNvPr>
          <p:cNvSpPr>
            <a:spLocks xmlns:a="http://schemas.openxmlformats.org/drawingml/2006/main" noGrp="1"/>
          </p:cNvSpPr>
          <p:nvPr/>
        </p:nvSpPr>
        <p:spPr>
          <a:xfrm xmlns:a="http://schemas.openxmlformats.org/drawingml/2006/main">
            <a:off x="609600" y="2152650"/>
            <a:ext cx="1752600" cy="1885950"/>
          </a:xfrm>
          <a:prstGeom xmlns:a="http://schemas.openxmlformats.org/drawingml/2006/main" prst="roundRect">
            <a:avLst>
              <a:gd name="adj" fmla="val 4348"/>
            </a:avLst>
          </a:prstGeom>
          <a:solidFill xmlns:a="http://schemas.openxmlformats.org/drawingml/2006/main">
            <a:srgbClr val="F1D8D2"/>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C2E31F77-83C2-470D-9BB8-D3B7505E5D50}"/>
              </a:ext>
            </a:extLst>
          </p:cNvPr>
          <p:cNvSpPr>
            <a:spLocks xmlns:a="http://schemas.openxmlformats.org/drawingml/2006/main" noGrp="1"/>
          </p:cNvSpPr>
          <p:nvPr/>
        </p:nvSpPr>
        <p:spPr>
          <a:xfrm xmlns:a="http://schemas.openxmlformats.org/drawingml/2006/main">
            <a:off x="800100" y="23431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01</a:t>
            </a:r>
          </a:p>
        </p:txBody>
      </p:sp>
      <p:sp>
        <p:nvSpPr>
          <p:cNvPr id="12" name="Rectangle 11">
            <a:extLst xmlns:a="http://schemas.openxmlformats.org/drawingml/2006/main">
              <a:ext uri="{FF2B5EF4-FFF2-40B4-BE49-F238E27FC236}">
                <a16:creationId xmlns:a16="http://schemas.microsoft.com/office/drawing/2014/main" id="{5B59D0C8-8F6A-4B6D-BBCB-78287F1D4E40}"/>
              </a:ext>
            </a:extLst>
          </p:cNvPr>
          <p:cNvSpPr>
            <a:spLocks xmlns:a="http://schemas.openxmlformats.org/drawingml/2006/main" noGrp="1"/>
          </p:cNvSpPr>
          <p:nvPr/>
        </p:nvSpPr>
        <p:spPr>
          <a:xfrm xmlns:a="http://schemas.openxmlformats.org/drawingml/2006/main">
            <a:off x="800100" y="274320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66"/>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Raw archive</a:t>
            </a:r>
          </a:p>
        </p:txBody>
      </p:sp>
      <p:sp>
        <p:nvSpPr>
          <p:cNvPr id="13" name="Rectangle 12">
            <a:extLst xmlns:a="http://schemas.openxmlformats.org/drawingml/2006/main">
              <a:ext uri="{FF2B5EF4-FFF2-40B4-BE49-F238E27FC236}">
                <a16:creationId xmlns:a16="http://schemas.microsoft.com/office/drawing/2014/main" id="{4A71C9BB-E4B0-4044-89AE-2FB04FDBC3B2}"/>
              </a:ext>
            </a:extLst>
          </p:cNvPr>
          <p:cNvSpPr>
            <a:spLocks xmlns:a="http://schemas.openxmlformats.org/drawingml/2006/main" noGrp="1"/>
          </p:cNvSpPr>
          <p:nvPr/>
        </p:nvSpPr>
        <p:spPr>
          <a:xfrm xmlns:a="http://schemas.openxmlformats.org/drawingml/2006/main">
            <a:off x="800100" y="32575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37"/>
          </a:bodyPr>
          <a:lstStyle xmlns:a="http://schemas.openxmlformats.org/drawingml/2006/main"/>
          <a:p xmlns:a="http://schemas.openxmlformats.org/drawingml/2006/main">
            <a:pPr>
              <a:buNone/>
              <a:defRPr sz="1125" b="0">
                <a:solidFill>
                  <a:srgbClr val="1D2B27"/>
                </a:solidFill>
                <a:latin typeface="Arial"/>
                <a:ea typeface="Arial"/>
                <a:cs typeface="Arial"/>
              </a:defRPr>
            </a:pPr>
            <a:r>
              <a:rPr sz="1125" b="0">
                <a:solidFill>
                  <a:srgbClr val="1D2B27"/>
                </a:solidFill>
                <a:latin typeface="Arial"/>
                <a:ea typeface="Arial"/>
                <a:cs typeface="Arial"/>
              </a:rPr>
              <a:t>Four regional JSON files remain unchanged.</a:t>
            </a:r>
          </a:p>
        </p:txBody>
      </p:sp>
      <p:sp>
        <p:nvSpPr>
          <p:cNvPr id="14" name="Rectangle: Rounded Corners 13">
            <a:extLst xmlns:a="http://schemas.openxmlformats.org/drawingml/2006/main">
              <a:ext uri="{FF2B5EF4-FFF2-40B4-BE49-F238E27FC236}">
                <a16:creationId xmlns:a16="http://schemas.microsoft.com/office/drawing/2014/main" id="{C418C8A6-00A9-4A0E-B53D-242D39E3D01C}"/>
              </a:ext>
            </a:extLst>
          </p:cNvPr>
          <p:cNvSpPr>
            <a:spLocks xmlns:a="http://schemas.openxmlformats.org/drawingml/2006/main" noGrp="1"/>
          </p:cNvSpPr>
          <p:nvPr/>
        </p:nvSpPr>
        <p:spPr>
          <a:xfrm xmlns:a="http://schemas.openxmlformats.org/drawingml/2006/main">
            <a:off x="2876550" y="2152650"/>
            <a:ext cx="1752600" cy="1885950"/>
          </a:xfrm>
          <a:prstGeom xmlns:a="http://schemas.openxmlformats.org/drawingml/2006/main" prst="roundRect">
            <a:avLst>
              <a:gd name="adj" fmla="val 4348"/>
            </a:avLst>
          </a:prstGeom>
          <a:solidFill xmlns:a="http://schemas.openxmlformats.org/drawingml/2006/main">
            <a:srgbClr val="F5E7CB"/>
          </a:solidFill>
          <a:ln xmlns:a="http://schemas.openxmlformats.org/drawingml/2006/main" w="0">
            <a:noFill/>
          </a:ln>
        </p:spPr>
      </p:sp>
      <p:sp>
        <p:nvSpPr>
          <p:cNvPr id="15" name="Rectangle 14">
            <a:extLst xmlns:a="http://schemas.openxmlformats.org/drawingml/2006/main">
              <a:ext uri="{FF2B5EF4-FFF2-40B4-BE49-F238E27FC236}">
                <a16:creationId xmlns:a16="http://schemas.microsoft.com/office/drawing/2014/main" id="{74F85B72-54D7-4422-8514-81C67BF7AB8B}"/>
              </a:ext>
            </a:extLst>
          </p:cNvPr>
          <p:cNvSpPr>
            <a:spLocks xmlns:a="http://schemas.openxmlformats.org/drawingml/2006/main" noGrp="1"/>
          </p:cNvSpPr>
          <p:nvPr/>
        </p:nvSpPr>
        <p:spPr>
          <a:xfrm xmlns:a="http://schemas.openxmlformats.org/drawingml/2006/main">
            <a:off x="3067050" y="23431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02</a:t>
            </a:r>
          </a:p>
        </p:txBody>
      </p:sp>
      <p:sp>
        <p:nvSpPr>
          <p:cNvPr id="16" name="Rectangle 15">
            <a:extLst xmlns:a="http://schemas.openxmlformats.org/drawingml/2006/main">
              <a:ext uri="{FF2B5EF4-FFF2-40B4-BE49-F238E27FC236}">
                <a16:creationId xmlns:a16="http://schemas.microsoft.com/office/drawing/2014/main" id="{AAE596BD-3A0B-4F36-B07E-1512138F3C89}"/>
              </a:ext>
            </a:extLst>
          </p:cNvPr>
          <p:cNvSpPr>
            <a:spLocks xmlns:a="http://schemas.openxmlformats.org/drawingml/2006/main" noGrp="1"/>
          </p:cNvSpPr>
          <p:nvPr/>
        </p:nvSpPr>
        <p:spPr>
          <a:xfrm xmlns:a="http://schemas.openxmlformats.org/drawingml/2006/main">
            <a:off x="3067050" y="274320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Python ETL</a:t>
            </a:r>
          </a:p>
        </p:txBody>
      </p:sp>
      <p:sp>
        <p:nvSpPr>
          <p:cNvPr id="17" name="Rectangle 16">
            <a:extLst xmlns:a="http://schemas.openxmlformats.org/drawingml/2006/main">
              <a:ext uri="{FF2B5EF4-FFF2-40B4-BE49-F238E27FC236}">
                <a16:creationId xmlns:a16="http://schemas.microsoft.com/office/drawing/2014/main" id="{A93F42CF-087E-4E5E-989B-8C98C5EB2F98}"/>
              </a:ext>
            </a:extLst>
          </p:cNvPr>
          <p:cNvSpPr>
            <a:spLocks xmlns:a="http://schemas.openxmlformats.org/drawingml/2006/main" noGrp="1"/>
          </p:cNvSpPr>
          <p:nvPr/>
        </p:nvSpPr>
        <p:spPr>
          <a:xfrm xmlns:a="http://schemas.openxmlformats.org/drawingml/2006/main">
            <a:off x="3067050" y="32575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37"/>
          </a:bodyPr>
          <a:lstStyle xmlns:a="http://schemas.openxmlformats.org/drawingml/2006/main"/>
          <a:p xmlns:a="http://schemas.openxmlformats.org/drawingml/2006/main">
            <a:pPr>
              <a:buNone/>
              <a:defRPr sz="1125" b="0">
                <a:solidFill>
                  <a:srgbClr val="1D2B27"/>
                </a:solidFill>
                <a:latin typeface="Arial"/>
                <a:ea typeface="Arial"/>
                <a:cs typeface="Arial"/>
              </a:defRPr>
            </a:pPr>
            <a:r>
              <a:rPr sz="1125" b="0">
                <a:solidFill>
                  <a:srgbClr val="1D2B27"/>
                </a:solidFill>
                <a:latin typeface="Arial"/>
                <a:ea typeface="Arial"/>
                <a:cs typeface="Arial"/>
              </a:rPr>
              <a:t>Validation, exact deduplication and provenance.</a:t>
            </a:r>
          </a:p>
        </p:txBody>
      </p:sp>
      <p:sp>
        <p:nvSpPr>
          <p:cNvPr id="18" name="Rectangle: Rounded Corners 17">
            <a:extLst xmlns:a="http://schemas.openxmlformats.org/drawingml/2006/main">
              <a:ext uri="{FF2B5EF4-FFF2-40B4-BE49-F238E27FC236}">
                <a16:creationId xmlns:a16="http://schemas.microsoft.com/office/drawing/2014/main" id="{EF81F6FA-BCA7-4653-A528-99E09C9D308F}"/>
              </a:ext>
            </a:extLst>
          </p:cNvPr>
          <p:cNvSpPr>
            <a:spLocks xmlns:a="http://schemas.openxmlformats.org/drawingml/2006/main" noGrp="1"/>
          </p:cNvSpPr>
          <p:nvPr/>
        </p:nvSpPr>
        <p:spPr>
          <a:xfrm xmlns:a="http://schemas.openxmlformats.org/drawingml/2006/main">
            <a:off x="5143500" y="2152650"/>
            <a:ext cx="1752600" cy="1885950"/>
          </a:xfrm>
          <a:prstGeom xmlns:a="http://schemas.openxmlformats.org/drawingml/2006/main" prst="roundRect">
            <a:avLst>
              <a:gd name="adj" fmla="val 4348"/>
            </a:avLst>
          </a:prstGeom>
          <a:solidFill xmlns:a="http://schemas.openxmlformats.org/drawingml/2006/main">
            <a:srgbClr val="DDECE2"/>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E25575E9-3B7C-4A75-B781-20A006492880}"/>
              </a:ext>
            </a:extLst>
          </p:cNvPr>
          <p:cNvSpPr>
            <a:spLocks xmlns:a="http://schemas.openxmlformats.org/drawingml/2006/main" noGrp="1"/>
          </p:cNvSpPr>
          <p:nvPr/>
        </p:nvSpPr>
        <p:spPr>
          <a:xfrm xmlns:a="http://schemas.openxmlformats.org/drawingml/2006/main">
            <a:off x="5334000" y="23431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03</a:t>
            </a:r>
          </a:p>
        </p:txBody>
      </p:sp>
      <p:sp>
        <p:nvSpPr>
          <p:cNvPr id="20" name="Rectangle 19">
            <a:extLst xmlns:a="http://schemas.openxmlformats.org/drawingml/2006/main">
              <a:ext uri="{FF2B5EF4-FFF2-40B4-BE49-F238E27FC236}">
                <a16:creationId xmlns:a16="http://schemas.microsoft.com/office/drawing/2014/main" id="{65797CBD-B601-4495-9B08-E905DFC724D3}"/>
              </a:ext>
            </a:extLst>
          </p:cNvPr>
          <p:cNvSpPr>
            <a:spLocks xmlns:a="http://schemas.openxmlformats.org/drawingml/2006/main" noGrp="1"/>
          </p:cNvSpPr>
          <p:nvPr/>
        </p:nvSpPr>
        <p:spPr>
          <a:xfrm xmlns:a="http://schemas.openxmlformats.org/drawingml/2006/main">
            <a:off x="5334000" y="274320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Supabase</a:t>
            </a:r>
          </a:p>
        </p:txBody>
      </p:sp>
      <p:sp>
        <p:nvSpPr>
          <p:cNvPr id="21" name="Rectangle 20">
            <a:extLst xmlns:a="http://schemas.openxmlformats.org/drawingml/2006/main">
              <a:ext uri="{FF2B5EF4-FFF2-40B4-BE49-F238E27FC236}">
                <a16:creationId xmlns:a16="http://schemas.microsoft.com/office/drawing/2014/main" id="{872B0F95-952D-473E-A416-D00C4CF33DDC}"/>
              </a:ext>
            </a:extLst>
          </p:cNvPr>
          <p:cNvSpPr>
            <a:spLocks xmlns:a="http://schemas.openxmlformats.org/drawingml/2006/main" noGrp="1"/>
          </p:cNvSpPr>
          <p:nvPr/>
        </p:nvSpPr>
        <p:spPr>
          <a:xfrm xmlns:a="http://schemas.openxmlformats.org/drawingml/2006/main">
            <a:off x="5334000" y="32575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37"/>
          </a:bodyPr>
          <a:lstStyle xmlns:a="http://schemas.openxmlformats.org/drawingml/2006/main"/>
          <a:p xmlns:a="http://schemas.openxmlformats.org/drawingml/2006/main">
            <a:pPr>
              <a:buNone/>
              <a:defRPr sz="1125" b="0">
                <a:solidFill>
                  <a:srgbClr val="1D2B27"/>
                </a:solidFill>
                <a:latin typeface="Arial"/>
                <a:ea typeface="Arial"/>
                <a:cs typeface="Arial"/>
              </a:defRPr>
            </a:pPr>
            <a:r>
              <a:rPr sz="1125" b="0">
                <a:solidFill>
                  <a:srgbClr val="1D2B27"/>
                </a:solidFill>
                <a:latin typeface="Arial"/>
                <a:ea typeface="Arial"/>
                <a:cs typeface="Arial"/>
              </a:rPr>
              <a:t>Normalized PostgreSQL plus row-level security.</a:t>
            </a:r>
          </a:p>
        </p:txBody>
      </p:sp>
      <p:sp>
        <p:nvSpPr>
          <p:cNvPr id="22" name="Rectangle: Rounded Corners 21">
            <a:extLst xmlns:a="http://schemas.openxmlformats.org/drawingml/2006/main">
              <a:ext uri="{FF2B5EF4-FFF2-40B4-BE49-F238E27FC236}">
                <a16:creationId xmlns:a16="http://schemas.microsoft.com/office/drawing/2014/main" id="{1790F27E-1D18-4B9D-84C4-A7F88CA6D9C7}"/>
              </a:ext>
            </a:extLst>
          </p:cNvPr>
          <p:cNvSpPr>
            <a:spLocks xmlns:a="http://schemas.openxmlformats.org/drawingml/2006/main" noGrp="1"/>
          </p:cNvSpPr>
          <p:nvPr/>
        </p:nvSpPr>
        <p:spPr>
          <a:xfrm xmlns:a="http://schemas.openxmlformats.org/drawingml/2006/main">
            <a:off x="7410450" y="2152650"/>
            <a:ext cx="1752600" cy="1885950"/>
          </a:xfrm>
          <a:prstGeom xmlns:a="http://schemas.openxmlformats.org/drawingml/2006/main" prst="roundRect">
            <a:avLst>
              <a:gd name="adj" fmla="val 4348"/>
            </a:avLst>
          </a:prstGeom>
          <a:solidFill xmlns:a="http://schemas.openxmlformats.org/drawingml/2006/main">
            <a:srgbClr val="DFE9F4"/>
          </a:solidFill>
          <a:ln xmlns:a="http://schemas.openxmlformats.org/drawingml/2006/main" w="0">
            <a:noFill/>
          </a:ln>
        </p:spPr>
      </p:sp>
      <p:sp>
        <p:nvSpPr>
          <p:cNvPr id="23" name="Rectangle 22">
            <a:extLst xmlns:a="http://schemas.openxmlformats.org/drawingml/2006/main">
              <a:ext uri="{FF2B5EF4-FFF2-40B4-BE49-F238E27FC236}">
                <a16:creationId xmlns:a16="http://schemas.microsoft.com/office/drawing/2014/main" id="{C7DFE6EF-F3C0-4D80-BD3F-93871CC48895}"/>
              </a:ext>
            </a:extLst>
          </p:cNvPr>
          <p:cNvSpPr>
            <a:spLocks xmlns:a="http://schemas.openxmlformats.org/drawingml/2006/main" noGrp="1"/>
          </p:cNvSpPr>
          <p:nvPr/>
        </p:nvSpPr>
        <p:spPr>
          <a:xfrm xmlns:a="http://schemas.openxmlformats.org/drawingml/2006/main">
            <a:off x="7600950" y="23431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04</a:t>
            </a:r>
          </a:p>
        </p:txBody>
      </p:sp>
      <p:sp>
        <p:nvSpPr>
          <p:cNvPr id="24" name="Rectangle 23">
            <a:extLst xmlns:a="http://schemas.openxmlformats.org/drawingml/2006/main">
              <a:ext uri="{FF2B5EF4-FFF2-40B4-BE49-F238E27FC236}">
                <a16:creationId xmlns:a16="http://schemas.microsoft.com/office/drawing/2014/main" id="{F64D4804-C670-4E33-BC39-631CFFE08AF1}"/>
              </a:ext>
            </a:extLst>
          </p:cNvPr>
          <p:cNvSpPr>
            <a:spLocks xmlns:a="http://schemas.openxmlformats.org/drawingml/2006/main" noGrp="1"/>
          </p:cNvSpPr>
          <p:nvPr/>
        </p:nvSpPr>
        <p:spPr>
          <a:xfrm xmlns:a="http://schemas.openxmlformats.org/drawingml/2006/main">
            <a:off x="7600950" y="274320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SQL + ML</a:t>
            </a:r>
          </a:p>
        </p:txBody>
      </p:sp>
      <p:sp>
        <p:nvSpPr>
          <p:cNvPr id="25" name="Rectangle 24">
            <a:extLst xmlns:a="http://schemas.openxmlformats.org/drawingml/2006/main">
              <a:ext uri="{FF2B5EF4-FFF2-40B4-BE49-F238E27FC236}">
                <a16:creationId xmlns:a16="http://schemas.microsoft.com/office/drawing/2014/main" id="{EB04A974-565E-49D3-8CD2-88E7A8CA86C3}"/>
              </a:ext>
            </a:extLst>
          </p:cNvPr>
          <p:cNvSpPr>
            <a:spLocks xmlns:a="http://schemas.openxmlformats.org/drawingml/2006/main" noGrp="1"/>
          </p:cNvSpPr>
          <p:nvPr/>
        </p:nvSpPr>
        <p:spPr>
          <a:xfrm xmlns:a="http://schemas.openxmlformats.org/drawingml/2006/main">
            <a:off x="7600950" y="32575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37"/>
          </a:bodyPr>
          <a:lstStyle xmlns:a="http://schemas.openxmlformats.org/drawingml/2006/main"/>
          <a:p xmlns:a="http://schemas.openxmlformats.org/drawingml/2006/main">
            <a:pPr>
              <a:buNone/>
              <a:defRPr sz="1125" b="0">
                <a:solidFill>
                  <a:srgbClr val="1D2B27"/>
                </a:solidFill>
                <a:latin typeface="Arial"/>
                <a:ea typeface="Arial"/>
                <a:cs typeface="Arial"/>
              </a:defRPr>
            </a:pPr>
            <a:r>
              <a:rPr sz="1125" b="0">
                <a:solidFill>
                  <a:srgbClr val="1D2B27"/>
                </a:solidFill>
                <a:latin typeface="Arial"/>
                <a:ea typeface="Arial"/>
                <a:cs typeface="Arial"/>
              </a:rPr>
              <a:t>Views, feature store, grouped evaluation.</a:t>
            </a:r>
          </a:p>
        </p:txBody>
      </p:sp>
      <p:sp>
        <p:nvSpPr>
          <p:cNvPr id="26" name="Rectangle: Rounded Corners 25">
            <a:extLst xmlns:a="http://schemas.openxmlformats.org/drawingml/2006/main">
              <a:ext uri="{FF2B5EF4-FFF2-40B4-BE49-F238E27FC236}">
                <a16:creationId xmlns:a16="http://schemas.microsoft.com/office/drawing/2014/main" id="{AA5553B4-FD8B-419C-9737-9E245E3AEF59}"/>
              </a:ext>
            </a:extLst>
          </p:cNvPr>
          <p:cNvSpPr>
            <a:spLocks xmlns:a="http://schemas.openxmlformats.org/drawingml/2006/main" noGrp="1"/>
          </p:cNvSpPr>
          <p:nvPr/>
        </p:nvSpPr>
        <p:spPr>
          <a:xfrm xmlns:a="http://schemas.openxmlformats.org/drawingml/2006/main">
            <a:off x="9677400" y="2152650"/>
            <a:ext cx="1752600" cy="1885950"/>
          </a:xfrm>
          <a:prstGeom xmlns:a="http://schemas.openxmlformats.org/drawingml/2006/main" prst="roundRect">
            <a:avLst>
              <a:gd name="adj" fmla="val 4348"/>
            </a:avLst>
          </a:prstGeom>
          <a:solidFill xmlns:a="http://schemas.openxmlformats.org/drawingml/2006/main">
            <a:srgbClr val="EFE4F5"/>
          </a:solidFill>
          <a:ln xmlns:a="http://schemas.openxmlformats.org/drawingml/2006/main" w="0">
            <a:noFill/>
          </a:ln>
        </p:spPr>
      </p:sp>
      <p:sp>
        <p:nvSpPr>
          <p:cNvPr id="27" name="Rectangle 26">
            <a:extLst xmlns:a="http://schemas.openxmlformats.org/drawingml/2006/main">
              <a:ext uri="{FF2B5EF4-FFF2-40B4-BE49-F238E27FC236}">
                <a16:creationId xmlns:a16="http://schemas.microsoft.com/office/drawing/2014/main" id="{06185954-580C-4F75-B0E7-EE99EA9F6FAC}"/>
              </a:ext>
            </a:extLst>
          </p:cNvPr>
          <p:cNvSpPr>
            <a:spLocks xmlns:a="http://schemas.openxmlformats.org/drawingml/2006/main" noGrp="1"/>
          </p:cNvSpPr>
          <p:nvPr/>
        </p:nvSpPr>
        <p:spPr>
          <a:xfrm xmlns:a="http://schemas.openxmlformats.org/drawingml/2006/main">
            <a:off x="9867900" y="23431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05</a:t>
            </a:r>
          </a:p>
        </p:txBody>
      </p:sp>
      <p:sp>
        <p:nvSpPr>
          <p:cNvPr id="28" name="Rectangle 27">
            <a:extLst xmlns:a="http://schemas.openxmlformats.org/drawingml/2006/main">
              <a:ext uri="{FF2B5EF4-FFF2-40B4-BE49-F238E27FC236}">
                <a16:creationId xmlns:a16="http://schemas.microsoft.com/office/drawing/2014/main" id="{908C73A1-3385-45E8-93B2-C6A024AEAE86}"/>
              </a:ext>
            </a:extLst>
          </p:cNvPr>
          <p:cNvSpPr>
            <a:spLocks xmlns:a="http://schemas.openxmlformats.org/drawingml/2006/main" noGrp="1"/>
          </p:cNvSpPr>
          <p:nvPr/>
        </p:nvSpPr>
        <p:spPr>
          <a:xfrm xmlns:a="http://schemas.openxmlformats.org/drawingml/2006/main">
            <a:off x="9867900" y="2743200"/>
            <a:ext cx="1390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02"/>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Cloudflare UI</a:t>
            </a:r>
          </a:p>
        </p:txBody>
      </p:sp>
      <p:sp>
        <p:nvSpPr>
          <p:cNvPr id="29" name="Rectangle 28">
            <a:extLst xmlns:a="http://schemas.openxmlformats.org/drawingml/2006/main">
              <a:ext uri="{FF2B5EF4-FFF2-40B4-BE49-F238E27FC236}">
                <a16:creationId xmlns:a16="http://schemas.microsoft.com/office/drawing/2014/main" id="{18B7CF75-5793-4ACA-BD3D-17401DA1CAAD}"/>
              </a:ext>
            </a:extLst>
          </p:cNvPr>
          <p:cNvSpPr>
            <a:spLocks xmlns:a="http://schemas.openxmlformats.org/drawingml/2006/main" noGrp="1"/>
          </p:cNvSpPr>
          <p:nvPr/>
        </p:nvSpPr>
        <p:spPr>
          <a:xfrm xmlns:a="http://schemas.openxmlformats.org/drawingml/2006/main">
            <a:off x="9867900" y="32575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83"/>
          </a:bodyPr>
          <a:lstStyle xmlns:a="http://schemas.openxmlformats.org/drawingml/2006/main"/>
          <a:p xmlns:a="http://schemas.openxmlformats.org/drawingml/2006/main">
            <a:pPr>
              <a:buNone/>
              <a:defRPr sz="1125" b="0">
                <a:solidFill>
                  <a:srgbClr val="1D2B27"/>
                </a:solidFill>
                <a:latin typeface="Arial"/>
                <a:ea typeface="Arial"/>
                <a:cs typeface="Arial"/>
              </a:defRPr>
            </a:pPr>
            <a:r>
              <a:rPr sz="1125" b="0">
                <a:solidFill>
                  <a:srgbClr val="1D2B27"/>
                </a:solidFill>
                <a:latin typeface="Arial"/>
                <a:ea typeface="Arial"/>
                <a:cs typeface="Arial"/>
              </a:rPr>
              <a:t>Read-only research pages and moderated forms.</a:t>
            </a:r>
          </a:p>
        </p:txBody>
      </p:sp>
      <p:sp>
        <p:nvSpPr>
          <p:cNvPr id="30" name="Rectangle 29">
            <a:extLst xmlns:a="http://schemas.openxmlformats.org/drawingml/2006/main">
              <a:ext uri="{FF2B5EF4-FFF2-40B4-BE49-F238E27FC236}">
                <a16:creationId xmlns:a16="http://schemas.microsoft.com/office/drawing/2014/main" id="{BC00021C-8766-4DAC-A150-DF89D0ACD67E}"/>
              </a:ext>
            </a:extLst>
          </p:cNvPr>
          <p:cNvSpPr>
            <a:spLocks xmlns:a="http://schemas.openxmlformats.org/drawingml/2006/main" noGrp="1"/>
          </p:cNvSpPr>
          <p:nvPr/>
        </p:nvSpPr>
        <p:spPr>
          <a:xfrm xmlns:a="http://schemas.openxmlformats.org/drawingml/2006/main">
            <a:off x="819150" y="44005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C64235"/>
                </a:solidFill>
                <a:latin typeface="Arial"/>
                <a:ea typeface="Arial"/>
                <a:cs typeface="Arial"/>
              </a:defRPr>
            </a:pPr>
            <a:r>
              <a:rPr sz="1050" b="1">
                <a:solidFill>
                  <a:srgbClr val="C64235"/>
                </a:solidFill>
                <a:latin typeface="Arial"/>
                <a:ea typeface="Arial"/>
                <a:cs typeface="Arial"/>
              </a:rPr>
              <a:t>IMMUTABLE</a:t>
            </a:r>
          </a:p>
        </p:txBody>
      </p:sp>
      <p:sp>
        <p:nvSpPr>
          <p:cNvPr id="31" name="Rectangle 30">
            <a:extLst xmlns:a="http://schemas.openxmlformats.org/drawingml/2006/main">
              <a:ext uri="{FF2B5EF4-FFF2-40B4-BE49-F238E27FC236}">
                <a16:creationId xmlns:a16="http://schemas.microsoft.com/office/drawing/2014/main" id="{12B0EFAB-79DD-4DA8-99F6-2BCA1798038A}"/>
              </a:ext>
            </a:extLst>
          </p:cNvPr>
          <p:cNvSpPr>
            <a:spLocks xmlns:a="http://schemas.openxmlformats.org/drawingml/2006/main" noGrp="1"/>
          </p:cNvSpPr>
          <p:nvPr/>
        </p:nvSpPr>
        <p:spPr>
          <a:xfrm xmlns:a="http://schemas.openxmlformats.org/drawingml/2006/main">
            <a:off x="3086100" y="44005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D89029"/>
                </a:solidFill>
                <a:latin typeface="Arial"/>
                <a:ea typeface="Arial"/>
                <a:cs typeface="Arial"/>
              </a:defRPr>
            </a:pPr>
            <a:r>
              <a:rPr sz="1050" b="1">
                <a:solidFill>
                  <a:srgbClr val="D89029"/>
                </a:solidFill>
                <a:latin typeface="Arial"/>
                <a:ea typeface="Arial"/>
                <a:cs typeface="Arial"/>
              </a:rPr>
              <a:t>REPRODUCIBLE</a:t>
            </a:r>
          </a:p>
        </p:txBody>
      </p:sp>
      <p:sp>
        <p:nvSpPr>
          <p:cNvPr id="32" name="Rectangle 31">
            <a:extLst xmlns:a="http://schemas.openxmlformats.org/drawingml/2006/main">
              <a:ext uri="{FF2B5EF4-FFF2-40B4-BE49-F238E27FC236}">
                <a16:creationId xmlns:a16="http://schemas.microsoft.com/office/drawing/2014/main" id="{695E75BB-8CDE-481F-9AEF-788C7CC6DB16}"/>
              </a:ext>
            </a:extLst>
          </p:cNvPr>
          <p:cNvSpPr>
            <a:spLocks xmlns:a="http://schemas.openxmlformats.org/drawingml/2006/main" noGrp="1"/>
          </p:cNvSpPr>
          <p:nvPr/>
        </p:nvSpPr>
        <p:spPr>
          <a:xfrm xmlns:a="http://schemas.openxmlformats.org/drawingml/2006/main">
            <a:off x="5353050" y="44005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2D7A62"/>
                </a:solidFill>
                <a:latin typeface="Arial"/>
                <a:ea typeface="Arial"/>
                <a:cs typeface="Arial"/>
              </a:defRPr>
            </a:pPr>
            <a:r>
              <a:rPr sz="1050" b="1">
                <a:solidFill>
                  <a:srgbClr val="2D7A62"/>
                </a:solidFill>
                <a:latin typeface="Arial"/>
                <a:ea typeface="Arial"/>
                <a:cs typeface="Arial"/>
              </a:rPr>
              <a:t>CONTROLLED</a:t>
            </a:r>
          </a:p>
        </p:txBody>
      </p:sp>
      <p:sp>
        <p:nvSpPr>
          <p:cNvPr id="33" name="Rectangle 32">
            <a:extLst xmlns:a="http://schemas.openxmlformats.org/drawingml/2006/main">
              <a:ext uri="{FF2B5EF4-FFF2-40B4-BE49-F238E27FC236}">
                <a16:creationId xmlns:a16="http://schemas.microsoft.com/office/drawing/2014/main" id="{86F8C33F-7B3A-483E-BCE7-C0E7B7789DB8}"/>
              </a:ext>
            </a:extLst>
          </p:cNvPr>
          <p:cNvSpPr>
            <a:spLocks xmlns:a="http://schemas.openxmlformats.org/drawingml/2006/main" noGrp="1"/>
          </p:cNvSpPr>
          <p:nvPr/>
        </p:nvSpPr>
        <p:spPr>
          <a:xfrm xmlns:a="http://schemas.openxmlformats.org/drawingml/2006/main">
            <a:off x="7620000" y="44005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4E79A7"/>
                </a:solidFill>
                <a:latin typeface="Arial"/>
                <a:ea typeface="Arial"/>
                <a:cs typeface="Arial"/>
              </a:defRPr>
            </a:pPr>
            <a:r>
              <a:rPr sz="1050" b="1">
                <a:solidFill>
                  <a:srgbClr val="4E79A7"/>
                </a:solidFill>
                <a:latin typeface="Arial"/>
                <a:ea typeface="Arial"/>
                <a:cs typeface="Arial"/>
              </a:rPr>
              <a:t>EVALUATED</a:t>
            </a:r>
          </a:p>
        </p:txBody>
      </p:sp>
      <p:sp>
        <p:nvSpPr>
          <p:cNvPr id="34" name="Rectangle 33">
            <a:extLst xmlns:a="http://schemas.openxmlformats.org/drawingml/2006/main">
              <a:ext uri="{FF2B5EF4-FFF2-40B4-BE49-F238E27FC236}">
                <a16:creationId xmlns:a16="http://schemas.microsoft.com/office/drawing/2014/main" id="{8681FE76-EBD0-4DC0-BCC8-5009432D899C}"/>
              </a:ext>
            </a:extLst>
          </p:cNvPr>
          <p:cNvSpPr>
            <a:spLocks xmlns:a="http://schemas.openxmlformats.org/drawingml/2006/main" noGrp="1"/>
          </p:cNvSpPr>
          <p:nvPr/>
        </p:nvSpPr>
        <p:spPr>
          <a:xfrm xmlns:a="http://schemas.openxmlformats.org/drawingml/2006/main">
            <a:off x="9886950" y="44005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C64235"/>
                </a:solidFill>
                <a:latin typeface="Arial"/>
                <a:ea typeface="Arial"/>
                <a:cs typeface="Arial"/>
              </a:defRPr>
            </a:pPr>
            <a:r>
              <a:rPr sz="1050" b="1">
                <a:solidFill>
                  <a:srgbClr val="C64235"/>
                </a:solidFill>
                <a:latin typeface="Arial"/>
                <a:ea typeface="Arial"/>
                <a:cs typeface="Arial"/>
              </a:rPr>
              <a:t>EXPLAINED</a:t>
            </a:r>
          </a:p>
        </p:txBody>
      </p:sp>
      <p:sp>
        <p:nvSpPr>
          <p:cNvPr id="35" name="Rectangle: Rounded Corners 34">
            <a:extLst xmlns:a="http://schemas.openxmlformats.org/drawingml/2006/main">
              <a:ext uri="{FF2B5EF4-FFF2-40B4-BE49-F238E27FC236}">
                <a16:creationId xmlns:a16="http://schemas.microsoft.com/office/drawing/2014/main" id="{2EC70B41-F741-4FE9-B796-E1E6BB1F7307}"/>
              </a:ext>
            </a:extLst>
          </p:cNvPr>
          <p:cNvSpPr>
            <a:spLocks xmlns:a="http://schemas.openxmlformats.org/drawingml/2006/main" noGrp="1"/>
          </p:cNvSpPr>
          <p:nvPr/>
        </p:nvSpPr>
        <p:spPr>
          <a:xfrm xmlns:a="http://schemas.openxmlformats.org/drawingml/2006/main">
            <a:off x="609600" y="5095875"/>
            <a:ext cx="10820400" cy="742950"/>
          </a:xfrm>
          <a:prstGeom xmlns:a="http://schemas.openxmlformats.org/drawingml/2006/main" prst="roundRect">
            <a:avLst>
              <a:gd name="adj" fmla="val 10256"/>
            </a:avLst>
          </a:prstGeom>
          <a:solidFill xmlns:a="http://schemas.openxmlformats.org/drawingml/2006/main">
            <a:srgbClr val="173B31"/>
          </a:solidFill>
          <a:ln xmlns:a="http://schemas.openxmlformats.org/drawingml/2006/main" w="0">
            <a:noFill/>
          </a:ln>
        </p:spPr>
      </p:sp>
      <p:sp>
        <p:nvSpPr>
          <p:cNvPr id="36" name="Rectangle 35">
            <a:extLst xmlns:a="http://schemas.openxmlformats.org/drawingml/2006/main">
              <a:ext uri="{FF2B5EF4-FFF2-40B4-BE49-F238E27FC236}">
                <a16:creationId xmlns:a16="http://schemas.microsoft.com/office/drawing/2014/main" id="{5DC99D62-F898-4BE2-9FA7-49291D539A53}"/>
              </a:ext>
            </a:extLst>
          </p:cNvPr>
          <p:cNvSpPr>
            <a:spLocks xmlns:a="http://schemas.openxmlformats.org/drawingml/2006/main" noGrp="1"/>
          </p:cNvSpPr>
          <p:nvPr/>
        </p:nvSpPr>
        <p:spPr>
          <a:xfrm xmlns:a="http://schemas.openxmlformats.org/drawingml/2006/main">
            <a:off x="895350" y="52959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Historical KPIs and ML stay isolated; approved submissions join public discovery.</a:t>
            </a:r>
          </a:p>
        </p:txBody>
      </p:sp>
    </p:spTree>
    <p:extLst>
      <p:ext uri="{BB962C8B-B14F-4D97-AF65-F5344CB8AC3E}">
        <p14:creationId xmlns:p14="http://schemas.microsoft.com/office/powerpoint/2010/main" val="1896710300"/>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36" name="Rectangle 35">
            <a:extLst xmlns:a="http://schemas.openxmlformats.org/drawingml/2006/main">
              <a:ext uri="{FF2B5EF4-FFF2-40B4-BE49-F238E27FC236}">
                <a16:creationId xmlns:a16="http://schemas.microsoft.com/office/drawing/2014/main" id="{7D4592C0-2454-4393-B70E-F95196DE4D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62"/>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6B47B766-E78A-4D7A-9E7E-55786FA0F5DA}"/>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DATABASE</a:t>
            </a:r>
          </a:p>
        </p:txBody>
      </p:sp>
      <p:sp>
        <p:nvSpPr>
          <p:cNvPr id="3" name="Rectangle 2">
            <a:extLst xmlns:a="http://schemas.openxmlformats.org/drawingml/2006/main">
              <a:ext uri="{FF2B5EF4-FFF2-40B4-BE49-F238E27FC236}">
                <a16:creationId xmlns:a16="http://schemas.microsoft.com/office/drawing/2014/main" id="{3F2E3A4F-5A09-4649-A017-0A955AF83F75}"/>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normalized model separates identity, ratings and activities.</a:t>
            </a:r>
          </a:p>
        </p:txBody>
      </p:sp>
      <p:sp>
        <p:nvSpPr>
          <p:cNvPr id="4" name="Rectangle 3">
            <a:extLst xmlns:a="http://schemas.openxmlformats.org/drawingml/2006/main">
              <a:ext uri="{FF2B5EF4-FFF2-40B4-BE49-F238E27FC236}">
                <a16:creationId xmlns:a16="http://schemas.microsoft.com/office/drawing/2014/main" id="{399F220A-70FD-4265-B6D8-F4CD35A7209B}"/>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This avoids repeated arrays and lets SQL join only the facts needed for a question.</a:t>
            </a:r>
          </a:p>
        </p:txBody>
      </p:sp>
      <p:sp>
        <p:nvSpPr>
          <p:cNvPr id="5" name="Rectangle 4">
            <a:extLst xmlns:a="http://schemas.openxmlformats.org/drawingml/2006/main">
              <a:ext uri="{FF2B5EF4-FFF2-40B4-BE49-F238E27FC236}">
                <a16:creationId xmlns:a16="http://schemas.microsoft.com/office/drawing/2014/main" id="{2E87DD71-43AC-4281-BEB6-37A21B7343A9}"/>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05</a:t>
            </a:r>
          </a:p>
        </p:txBody>
      </p:sp>
      <p:sp>
        <p:nvSpPr>
          <p:cNvPr id="6" name="Rectangle 5">
            <a:extLst xmlns:a="http://schemas.openxmlformats.org/drawingml/2006/main">
              <a:ext uri="{FF2B5EF4-FFF2-40B4-BE49-F238E27FC236}">
                <a16:creationId xmlns:a16="http://schemas.microsoft.com/office/drawing/2014/main" id="{9249A258-BCF5-4C49-BE25-1A52F33C1577}"/>
              </a:ext>
            </a:extLst>
          </p:cNvPr>
          <p:cNvSpPr>
            <a:spLocks xmlns:a="http://schemas.openxmlformats.org/drawingml/2006/main" noGrp="1"/>
          </p:cNvSpPr>
          <p:nvPr/>
        </p:nvSpPr>
        <p:spPr>
          <a:xfrm xmlns:a="http://schemas.openxmlformats.org/drawingml/2006/main">
            <a:off x="3238500" y="2647950"/>
            <a:ext cx="1143000" cy="571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CC0F45E2-C8CF-47A6-9176-43E8A09F8442}"/>
              </a:ext>
            </a:extLst>
          </p:cNvPr>
          <p:cNvSpPr>
            <a:spLocks xmlns:a="http://schemas.openxmlformats.org/drawingml/2006/main" noGrp="1"/>
          </p:cNvSpPr>
          <p:nvPr/>
        </p:nvSpPr>
        <p:spPr>
          <a:xfrm xmlns:a="http://schemas.openxmlformats.org/drawingml/2006/main">
            <a:off x="3238500" y="3714750"/>
            <a:ext cx="1143000" cy="571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3EC81685-F16B-45A2-8A18-9F8216129C7D}"/>
              </a:ext>
            </a:extLst>
          </p:cNvPr>
          <p:cNvSpPr>
            <a:spLocks xmlns:a="http://schemas.openxmlformats.org/drawingml/2006/main" noGrp="1"/>
          </p:cNvSpPr>
          <p:nvPr/>
        </p:nvSpPr>
        <p:spPr>
          <a:xfrm xmlns:a="http://schemas.openxmlformats.org/drawingml/2006/main">
            <a:off x="7029450" y="2647950"/>
            <a:ext cx="1238250" cy="571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21D1D77C-DB6F-4575-AC5B-16F9F7E8BE33}"/>
              </a:ext>
            </a:extLst>
          </p:cNvPr>
          <p:cNvSpPr>
            <a:spLocks xmlns:a="http://schemas.openxmlformats.org/drawingml/2006/main" noGrp="1"/>
          </p:cNvSpPr>
          <p:nvPr/>
        </p:nvSpPr>
        <p:spPr>
          <a:xfrm xmlns:a="http://schemas.openxmlformats.org/drawingml/2006/main">
            <a:off x="7029450" y="3714750"/>
            <a:ext cx="1238250" cy="571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CAD11D7D-F477-4C47-A248-77562F50DCB9}"/>
              </a:ext>
            </a:extLst>
          </p:cNvPr>
          <p:cNvSpPr>
            <a:spLocks xmlns:a="http://schemas.openxmlformats.org/drawingml/2006/main" noGrp="1"/>
          </p:cNvSpPr>
          <p:nvPr/>
        </p:nvSpPr>
        <p:spPr>
          <a:xfrm xmlns:a="http://schemas.openxmlformats.org/drawingml/2006/main">
            <a:off x="5667375" y="4210050"/>
            <a:ext cx="57150" cy="8572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9473CE42-3C37-4E45-8A40-D3BC0305078E}"/>
              </a:ext>
            </a:extLst>
          </p:cNvPr>
          <p:cNvSpPr>
            <a:spLocks xmlns:a="http://schemas.openxmlformats.org/drawingml/2006/main" noGrp="1"/>
          </p:cNvSpPr>
          <p:nvPr/>
        </p:nvSpPr>
        <p:spPr>
          <a:xfrm xmlns:a="http://schemas.openxmlformats.org/drawingml/2006/main">
            <a:off x="5667375" y="5029200"/>
            <a:ext cx="2971800" cy="5715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12" name="Rectangle: Rounded Corners 11">
            <a:extLst xmlns:a="http://schemas.openxmlformats.org/drawingml/2006/main">
              <a:ext uri="{FF2B5EF4-FFF2-40B4-BE49-F238E27FC236}">
                <a16:creationId xmlns:a16="http://schemas.microsoft.com/office/drawing/2014/main" id="{51B004C3-09C4-41C9-8EFB-BD1A1F98970B}"/>
              </a:ext>
            </a:extLst>
          </p:cNvPr>
          <p:cNvSpPr>
            <a:spLocks xmlns:a="http://schemas.openxmlformats.org/drawingml/2006/main" noGrp="1"/>
          </p:cNvSpPr>
          <p:nvPr/>
        </p:nvSpPr>
        <p:spPr>
          <a:xfrm xmlns:a="http://schemas.openxmlformats.org/drawingml/2006/main">
            <a:off x="4381500" y="2247900"/>
            <a:ext cx="2647950" cy="1028700"/>
          </a:xfrm>
          <a:prstGeom xmlns:a="http://schemas.openxmlformats.org/drawingml/2006/main" prst="roundRect">
            <a:avLst>
              <a:gd name="adj" fmla="val 7407"/>
            </a:avLst>
          </a:prstGeom>
          <a:solidFill xmlns:a="http://schemas.openxmlformats.org/drawingml/2006/main">
            <a:srgbClr val="DDECE2"/>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A4D1441D-9655-48F4-9EEF-75B1D9B16063}"/>
              </a:ext>
            </a:extLst>
          </p:cNvPr>
          <p:cNvSpPr>
            <a:spLocks xmlns:a="http://schemas.openxmlformats.org/drawingml/2006/main" noGrp="1"/>
          </p:cNvSpPr>
          <p:nvPr/>
        </p:nvSpPr>
        <p:spPr>
          <a:xfrm xmlns:a="http://schemas.openxmlformats.org/drawingml/2006/main">
            <a:off x="4552950" y="2381250"/>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venues</a:t>
            </a:r>
          </a:p>
        </p:txBody>
      </p:sp>
      <p:sp>
        <p:nvSpPr>
          <p:cNvPr id="14" name="Rectangle 13">
            <a:extLst xmlns:a="http://schemas.openxmlformats.org/drawingml/2006/main">
              <a:ext uri="{FF2B5EF4-FFF2-40B4-BE49-F238E27FC236}">
                <a16:creationId xmlns:a16="http://schemas.microsoft.com/office/drawing/2014/main" id="{38798195-BE75-4875-AD80-243577731620}"/>
              </a:ext>
            </a:extLst>
          </p:cNvPr>
          <p:cNvSpPr>
            <a:spLocks xmlns:a="http://schemas.openxmlformats.org/drawingml/2006/main" noGrp="1"/>
          </p:cNvSpPr>
          <p:nvPr/>
        </p:nvSpPr>
        <p:spPr>
          <a:xfrm xmlns:a="http://schemas.openxmlformats.org/drawingml/2006/main">
            <a:off x="4552950" y="2724150"/>
            <a:ext cx="2305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venue_id  •  FK region</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name  •  coordinates  •  provenance</a:t>
            </a:r>
          </a:p>
        </p:txBody>
      </p:sp>
      <p:sp>
        <p:nvSpPr>
          <p:cNvPr id="15" name="Rectangle: Rounded Corners 14">
            <a:extLst xmlns:a="http://schemas.openxmlformats.org/drawingml/2006/main">
              <a:ext uri="{FF2B5EF4-FFF2-40B4-BE49-F238E27FC236}">
                <a16:creationId xmlns:a16="http://schemas.microsoft.com/office/drawing/2014/main" id="{B721C968-57FA-4724-90E9-3CDE07C461D2}"/>
              </a:ext>
            </a:extLst>
          </p:cNvPr>
          <p:cNvSpPr>
            <a:spLocks xmlns:a="http://schemas.openxmlformats.org/drawingml/2006/main" noGrp="1"/>
          </p:cNvSpPr>
          <p:nvPr/>
        </p:nvSpPr>
        <p:spPr>
          <a:xfrm xmlns:a="http://schemas.openxmlformats.org/drawingml/2006/main">
            <a:off x="876300" y="2247900"/>
            <a:ext cx="2362200" cy="1028700"/>
          </a:xfrm>
          <a:prstGeom xmlns:a="http://schemas.openxmlformats.org/drawingml/2006/main" prst="roundRect">
            <a:avLst>
              <a:gd name="adj" fmla="val 7407"/>
            </a:avLst>
          </a:prstGeom>
          <a:solidFill xmlns:a="http://schemas.openxmlformats.org/drawingml/2006/main">
            <a:srgbClr val="F5E7CB"/>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B4DDD86E-CC49-4ACD-9631-EA754F5A87C9}"/>
              </a:ext>
            </a:extLst>
          </p:cNvPr>
          <p:cNvSpPr>
            <a:spLocks xmlns:a="http://schemas.openxmlformats.org/drawingml/2006/main" noGrp="1"/>
          </p:cNvSpPr>
          <p:nvPr/>
        </p:nvSpPr>
        <p:spPr>
          <a:xfrm xmlns:a="http://schemas.openxmlformats.org/drawingml/2006/main">
            <a:off x="1047750" y="2381250"/>
            <a:ext cx="201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source_regions</a:t>
            </a:r>
          </a:p>
        </p:txBody>
      </p:sp>
      <p:sp>
        <p:nvSpPr>
          <p:cNvPr id="17" name="Rectangle 16">
            <a:extLst xmlns:a="http://schemas.openxmlformats.org/drawingml/2006/main">
              <a:ext uri="{FF2B5EF4-FFF2-40B4-BE49-F238E27FC236}">
                <a16:creationId xmlns:a16="http://schemas.microsoft.com/office/drawing/2014/main" id="{C3810006-ACDD-44B5-BE01-C96FE58262CF}"/>
              </a:ext>
            </a:extLst>
          </p:cNvPr>
          <p:cNvSpPr>
            <a:spLocks xmlns:a="http://schemas.openxmlformats.org/drawingml/2006/main" noGrp="1"/>
          </p:cNvSpPr>
          <p:nvPr/>
        </p:nvSpPr>
        <p:spPr>
          <a:xfrm xmlns:a="http://schemas.openxmlformats.org/drawingml/2006/main">
            <a:off x="1047750" y="2724150"/>
            <a:ext cx="2019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region</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display_name</a:t>
            </a:r>
          </a:p>
        </p:txBody>
      </p:sp>
      <p:sp>
        <p:nvSpPr>
          <p:cNvPr id="18" name="Rectangle: Rounded Corners 17">
            <a:extLst xmlns:a="http://schemas.openxmlformats.org/drawingml/2006/main">
              <a:ext uri="{FF2B5EF4-FFF2-40B4-BE49-F238E27FC236}">
                <a16:creationId xmlns:a16="http://schemas.microsoft.com/office/drawing/2014/main" id="{4159AECA-1841-45A0-AF9A-EBDF5E738C6B}"/>
              </a:ext>
            </a:extLst>
          </p:cNvPr>
          <p:cNvSpPr>
            <a:spLocks xmlns:a="http://schemas.openxmlformats.org/drawingml/2006/main" noGrp="1"/>
          </p:cNvSpPr>
          <p:nvPr/>
        </p:nvSpPr>
        <p:spPr>
          <a:xfrm xmlns:a="http://schemas.openxmlformats.org/drawingml/2006/main">
            <a:off x="876300" y="3314700"/>
            <a:ext cx="2362200" cy="1028700"/>
          </a:xfrm>
          <a:prstGeom xmlns:a="http://schemas.openxmlformats.org/drawingml/2006/main" prst="roundRect">
            <a:avLst>
              <a:gd name="adj" fmla="val 7407"/>
            </a:avLst>
          </a:prstGeom>
          <a:solidFill xmlns:a="http://schemas.openxmlformats.org/drawingml/2006/main">
            <a:srgbClr val="F1D8D2"/>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72128514-C2EB-4130-80B1-42CD6C900900}"/>
              </a:ext>
            </a:extLst>
          </p:cNvPr>
          <p:cNvSpPr>
            <a:spLocks xmlns:a="http://schemas.openxmlformats.org/drawingml/2006/main" noGrp="1"/>
          </p:cNvSpPr>
          <p:nvPr/>
        </p:nvSpPr>
        <p:spPr>
          <a:xfrm xmlns:a="http://schemas.openxmlformats.org/drawingml/2006/main">
            <a:off x="1047750" y="3448050"/>
            <a:ext cx="201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venue_ratings</a:t>
            </a:r>
          </a:p>
        </p:txBody>
      </p:sp>
      <p:sp>
        <p:nvSpPr>
          <p:cNvPr id="20" name="Rectangle 19">
            <a:extLst xmlns:a="http://schemas.openxmlformats.org/drawingml/2006/main">
              <a:ext uri="{FF2B5EF4-FFF2-40B4-BE49-F238E27FC236}">
                <a16:creationId xmlns:a16="http://schemas.microsoft.com/office/drawing/2014/main" id="{C2EA1D59-62BB-45C5-AE1E-EB014F2DFBFE}"/>
              </a:ext>
            </a:extLst>
          </p:cNvPr>
          <p:cNvSpPr>
            <a:spLocks xmlns:a="http://schemas.openxmlformats.org/drawingml/2006/main" noGrp="1"/>
          </p:cNvSpPr>
          <p:nvPr/>
        </p:nvSpPr>
        <p:spPr>
          <a:xfrm xmlns:a="http://schemas.openxmlformats.org/drawingml/2006/main">
            <a:off x="1047750" y="3790950"/>
            <a:ext cx="2019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PK/FK venue_id</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avg_rating  •  rating_count</a:t>
            </a:r>
          </a:p>
        </p:txBody>
      </p:sp>
      <p:sp>
        <p:nvSpPr>
          <p:cNvPr id="21" name="Rectangle: Rounded Corners 20">
            <a:extLst xmlns:a="http://schemas.openxmlformats.org/drawingml/2006/main">
              <a:ext uri="{FF2B5EF4-FFF2-40B4-BE49-F238E27FC236}">
                <a16:creationId xmlns:a16="http://schemas.microsoft.com/office/drawing/2014/main" id="{231F6154-84C9-4ABD-8DA4-BDE4CD56EA71}"/>
              </a:ext>
            </a:extLst>
          </p:cNvPr>
          <p:cNvSpPr>
            <a:spLocks xmlns:a="http://schemas.openxmlformats.org/drawingml/2006/main" noGrp="1"/>
          </p:cNvSpPr>
          <p:nvPr/>
        </p:nvSpPr>
        <p:spPr>
          <a:xfrm xmlns:a="http://schemas.openxmlformats.org/drawingml/2006/main">
            <a:off x="8267700" y="2247900"/>
            <a:ext cx="2476500" cy="1028700"/>
          </a:xfrm>
          <a:prstGeom xmlns:a="http://schemas.openxmlformats.org/drawingml/2006/main" prst="roundRect">
            <a:avLst>
              <a:gd name="adj" fmla="val 7407"/>
            </a:avLst>
          </a:prstGeom>
          <a:solidFill xmlns:a="http://schemas.openxmlformats.org/drawingml/2006/main">
            <a:srgbClr val="DFE9F4"/>
          </a:solidFill>
          <a:ln xmlns:a="http://schemas.openxmlformats.org/drawingml/2006/main" w="0">
            <a:noFill/>
          </a:ln>
        </p:spPr>
      </p:sp>
      <p:sp>
        <p:nvSpPr>
          <p:cNvPr id="22" name="Rectangle 21">
            <a:extLst xmlns:a="http://schemas.openxmlformats.org/drawingml/2006/main">
              <a:ext uri="{FF2B5EF4-FFF2-40B4-BE49-F238E27FC236}">
                <a16:creationId xmlns:a16="http://schemas.microsoft.com/office/drawing/2014/main" id="{E94E80F6-61F7-47E6-AF58-50CA2C7346FD}"/>
              </a:ext>
            </a:extLst>
          </p:cNvPr>
          <p:cNvSpPr>
            <a:spLocks xmlns:a="http://schemas.openxmlformats.org/drawingml/2006/main" noGrp="1"/>
          </p:cNvSpPr>
          <p:nvPr/>
        </p:nvSpPr>
        <p:spPr>
          <a:xfrm xmlns:a="http://schemas.openxmlformats.org/drawingml/2006/main">
            <a:off x="8439150" y="23812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venue_activities</a:t>
            </a:r>
          </a:p>
        </p:txBody>
      </p:sp>
      <p:sp>
        <p:nvSpPr>
          <p:cNvPr id="23" name="Rectangle 22">
            <a:extLst xmlns:a="http://schemas.openxmlformats.org/drawingml/2006/main">
              <a:ext uri="{FF2B5EF4-FFF2-40B4-BE49-F238E27FC236}">
                <a16:creationId xmlns:a16="http://schemas.microsoft.com/office/drawing/2014/main" id="{41BBA099-B0E1-4FDB-849D-272152DDE8A8}"/>
              </a:ext>
            </a:extLst>
          </p:cNvPr>
          <p:cNvSpPr>
            <a:spLocks xmlns:a="http://schemas.openxmlformats.org/drawingml/2006/main" noGrp="1"/>
          </p:cNvSpPr>
          <p:nvPr/>
        </p:nvSpPr>
        <p:spPr>
          <a:xfrm xmlns:a="http://schemas.openxmlformats.org/drawingml/2006/main">
            <a:off x="8439150" y="27241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venue_id + label</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bridge table</a:t>
            </a:r>
          </a:p>
        </p:txBody>
      </p:sp>
      <p:sp>
        <p:nvSpPr>
          <p:cNvPr id="24" name="Rectangle: Rounded Corners 23">
            <a:extLst xmlns:a="http://schemas.openxmlformats.org/drawingml/2006/main">
              <a:ext uri="{FF2B5EF4-FFF2-40B4-BE49-F238E27FC236}">
                <a16:creationId xmlns:a16="http://schemas.microsoft.com/office/drawing/2014/main" id="{EAC26F92-E25D-4B79-80E2-F23C3D1F7F7B}"/>
              </a:ext>
            </a:extLst>
          </p:cNvPr>
          <p:cNvSpPr>
            <a:spLocks xmlns:a="http://schemas.openxmlformats.org/drawingml/2006/main" noGrp="1"/>
          </p:cNvSpPr>
          <p:nvPr/>
        </p:nvSpPr>
        <p:spPr>
          <a:xfrm xmlns:a="http://schemas.openxmlformats.org/drawingml/2006/main">
            <a:off x="8267700" y="3314700"/>
            <a:ext cx="2476500" cy="1028700"/>
          </a:xfrm>
          <a:prstGeom xmlns:a="http://schemas.openxmlformats.org/drawingml/2006/main" prst="roundRect">
            <a:avLst>
              <a:gd name="adj" fmla="val 7407"/>
            </a:avLst>
          </a:prstGeom>
          <a:solidFill xmlns:a="http://schemas.openxmlformats.org/drawingml/2006/main">
            <a:srgbClr val="EFE4F5"/>
          </a:solidFill>
          <a:ln xmlns:a="http://schemas.openxmlformats.org/drawingml/2006/main" w="0">
            <a:noFill/>
          </a:ln>
        </p:spPr>
      </p:sp>
      <p:sp>
        <p:nvSpPr>
          <p:cNvPr id="25" name="Rectangle 24">
            <a:extLst xmlns:a="http://schemas.openxmlformats.org/drawingml/2006/main">
              <a:ext uri="{FF2B5EF4-FFF2-40B4-BE49-F238E27FC236}">
                <a16:creationId xmlns:a16="http://schemas.microsoft.com/office/drawing/2014/main" id="{8D1227C6-B66F-41DE-8CAC-049C6D10BA66}"/>
              </a:ext>
            </a:extLst>
          </p:cNvPr>
          <p:cNvSpPr>
            <a:spLocks xmlns:a="http://schemas.openxmlformats.org/drawingml/2006/main" noGrp="1"/>
          </p:cNvSpPr>
          <p:nvPr/>
        </p:nvSpPr>
        <p:spPr>
          <a:xfrm xmlns:a="http://schemas.openxmlformats.org/drawingml/2006/main">
            <a:off x="8439150" y="344805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activity_labels</a:t>
            </a:r>
          </a:p>
        </p:txBody>
      </p:sp>
      <p:sp>
        <p:nvSpPr>
          <p:cNvPr id="26" name="Rectangle 25">
            <a:extLst xmlns:a="http://schemas.openxmlformats.org/drawingml/2006/main">
              <a:ext uri="{FF2B5EF4-FFF2-40B4-BE49-F238E27FC236}">
                <a16:creationId xmlns:a16="http://schemas.microsoft.com/office/drawing/2014/main" id="{E45C2DC4-590E-4413-B829-9C4EFB210D63}"/>
              </a:ext>
            </a:extLst>
          </p:cNvPr>
          <p:cNvSpPr>
            <a:spLocks xmlns:a="http://schemas.openxmlformats.org/drawingml/2006/main" noGrp="1"/>
          </p:cNvSpPr>
          <p:nvPr/>
        </p:nvSpPr>
        <p:spPr>
          <a:xfrm xmlns:a="http://schemas.openxmlformats.org/drawingml/2006/main">
            <a:off x="8439150" y="37909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label</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taxonomy_status</a:t>
            </a:r>
          </a:p>
        </p:txBody>
      </p:sp>
      <p:sp>
        <p:nvSpPr>
          <p:cNvPr id="27" name="Rectangle: Rounded Corners 26">
            <a:extLst xmlns:a="http://schemas.openxmlformats.org/drawingml/2006/main">
              <a:ext uri="{FF2B5EF4-FFF2-40B4-BE49-F238E27FC236}">
                <a16:creationId xmlns:a16="http://schemas.microsoft.com/office/drawing/2014/main" id="{D780F09E-D75C-4BF9-A99B-AC79319CE7F8}"/>
              </a:ext>
            </a:extLst>
          </p:cNvPr>
          <p:cNvSpPr>
            <a:spLocks xmlns:a="http://schemas.openxmlformats.org/drawingml/2006/main" noGrp="1"/>
          </p:cNvSpPr>
          <p:nvPr/>
        </p:nvSpPr>
        <p:spPr>
          <a:xfrm xmlns:a="http://schemas.openxmlformats.org/drawingml/2006/main">
            <a:off x="4381500" y="5219700"/>
            <a:ext cx="2647950" cy="1028700"/>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0">
            <a:noFill/>
          </a:ln>
        </p:spPr>
      </p:sp>
      <p:sp>
        <p:nvSpPr>
          <p:cNvPr id="28" name="Rectangle 27">
            <a:extLst xmlns:a="http://schemas.openxmlformats.org/drawingml/2006/main">
              <a:ext uri="{FF2B5EF4-FFF2-40B4-BE49-F238E27FC236}">
                <a16:creationId xmlns:a16="http://schemas.microsoft.com/office/drawing/2014/main" id="{D21BEEFD-3755-4FC2-A332-C8C37F3C48A2}"/>
              </a:ext>
            </a:extLst>
          </p:cNvPr>
          <p:cNvSpPr>
            <a:spLocks xmlns:a="http://schemas.openxmlformats.org/drawingml/2006/main" noGrp="1"/>
          </p:cNvSpPr>
          <p:nvPr/>
        </p:nvSpPr>
        <p:spPr>
          <a:xfrm xmlns:a="http://schemas.openxmlformats.org/drawingml/2006/main">
            <a:off x="4552950" y="5353050"/>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predictions</a:t>
            </a:r>
          </a:p>
        </p:txBody>
      </p:sp>
      <p:sp>
        <p:nvSpPr>
          <p:cNvPr id="29" name="Rectangle 28">
            <a:extLst xmlns:a="http://schemas.openxmlformats.org/drawingml/2006/main">
              <a:ext uri="{FF2B5EF4-FFF2-40B4-BE49-F238E27FC236}">
                <a16:creationId xmlns:a16="http://schemas.microsoft.com/office/drawing/2014/main" id="{5691D948-BDE1-4225-97EF-D8E94EAAED71}"/>
              </a:ext>
            </a:extLst>
          </p:cNvPr>
          <p:cNvSpPr>
            <a:spLocks xmlns:a="http://schemas.openxmlformats.org/drawingml/2006/main" noGrp="1"/>
          </p:cNvSpPr>
          <p:nvPr/>
        </p:nvSpPr>
        <p:spPr>
          <a:xfrm xmlns:a="http://schemas.openxmlformats.org/drawingml/2006/main">
            <a:off x="4552950" y="5695950"/>
            <a:ext cx="2305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run_id + venue_id</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predicted_rating  •  split</a:t>
            </a:r>
          </a:p>
        </p:txBody>
      </p:sp>
      <p:sp>
        <p:nvSpPr>
          <p:cNvPr id="30" name="Rectangle: Rounded Corners 29">
            <a:extLst xmlns:a="http://schemas.openxmlformats.org/drawingml/2006/main">
              <a:ext uri="{FF2B5EF4-FFF2-40B4-BE49-F238E27FC236}">
                <a16:creationId xmlns:a16="http://schemas.microsoft.com/office/drawing/2014/main" id="{D8C0A1C9-AEA7-4247-8E63-1BE42A15C599}"/>
              </a:ext>
            </a:extLst>
          </p:cNvPr>
          <p:cNvSpPr>
            <a:spLocks xmlns:a="http://schemas.openxmlformats.org/drawingml/2006/main" noGrp="1"/>
          </p:cNvSpPr>
          <p:nvPr/>
        </p:nvSpPr>
        <p:spPr>
          <a:xfrm xmlns:a="http://schemas.openxmlformats.org/drawingml/2006/main">
            <a:off x="8648700" y="4762500"/>
            <a:ext cx="2190750" cy="1028700"/>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0">
            <a:noFill/>
          </a:ln>
        </p:spPr>
      </p:sp>
      <p:sp>
        <p:nvSpPr>
          <p:cNvPr id="31" name="Rectangle 30">
            <a:extLst xmlns:a="http://schemas.openxmlformats.org/drawingml/2006/main">
              <a:ext uri="{FF2B5EF4-FFF2-40B4-BE49-F238E27FC236}">
                <a16:creationId xmlns:a16="http://schemas.microsoft.com/office/drawing/2014/main" id="{619C54DF-3026-49D6-9E25-A64323AD9303}"/>
              </a:ext>
            </a:extLst>
          </p:cNvPr>
          <p:cNvSpPr>
            <a:spLocks xmlns:a="http://schemas.openxmlformats.org/drawingml/2006/main" noGrp="1"/>
          </p:cNvSpPr>
          <p:nvPr/>
        </p:nvSpPr>
        <p:spPr>
          <a:xfrm xmlns:a="http://schemas.openxmlformats.org/drawingml/2006/main">
            <a:off x="8820150" y="4895850"/>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73B31"/>
                </a:solidFill>
                <a:latin typeface="Arial"/>
                <a:ea typeface="Arial"/>
                <a:cs typeface="Arial"/>
              </a:defRPr>
            </a:pPr>
            <a:r>
              <a:rPr sz="1425" b="1">
                <a:solidFill>
                  <a:srgbClr val="173B31"/>
                </a:solidFill>
                <a:latin typeface="Arial"/>
                <a:ea typeface="Arial"/>
                <a:cs typeface="Arial"/>
              </a:rPr>
              <a:t>model_runs</a:t>
            </a:r>
          </a:p>
        </p:txBody>
      </p:sp>
      <p:sp>
        <p:nvSpPr>
          <p:cNvPr id="32" name="Rectangle 31">
            <a:extLst xmlns:a="http://schemas.openxmlformats.org/drawingml/2006/main">
              <a:ext uri="{FF2B5EF4-FFF2-40B4-BE49-F238E27FC236}">
                <a16:creationId xmlns:a16="http://schemas.microsoft.com/office/drawing/2014/main" id="{E020F862-BB7C-45C6-A40E-530633E5E3D5}"/>
              </a:ext>
            </a:extLst>
          </p:cNvPr>
          <p:cNvSpPr>
            <a:spLocks xmlns:a="http://schemas.openxmlformats.org/drawingml/2006/main" noGrp="1"/>
          </p:cNvSpPr>
          <p:nvPr/>
        </p:nvSpPr>
        <p:spPr>
          <a:xfrm xmlns:a="http://schemas.openxmlformats.org/drawingml/2006/main">
            <a:off x="8820150" y="5238750"/>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PK run_id</a:t>
            </a:r>
          </a:p>
          <a:p xmlns:a="http://schemas.openxmlformats.org/drawingml/2006/main">
            <a:pPr>
              <a:buNone/>
              <a:defRPr sz="1050" b="0">
                <a:solidFill>
                  <a:srgbClr val="1D2B27"/>
                </a:solidFill>
                <a:latin typeface="Arial"/>
                <a:ea typeface="Arial"/>
                <a:cs typeface="Arial"/>
              </a:defRPr>
            </a:pPr>
            <a:r>
              <a:rPr sz="1050" b="0">
                <a:solidFill>
                  <a:srgbClr val="1D2B27"/>
                </a:solidFill>
                <a:latin typeface="Arial"/>
                <a:ea typeface="Arial"/>
                <a:cs typeface="Arial"/>
              </a:rPr>
              <a:t>metrics  •  parameters</a:t>
            </a:r>
          </a:p>
        </p:txBody>
      </p:sp>
      <p:sp>
        <p:nvSpPr>
          <p:cNvPr id="33" name="Rectangle: Rounded Corners 32">
            <a:extLst xmlns:a="http://schemas.openxmlformats.org/drawingml/2006/main">
              <a:ext uri="{FF2B5EF4-FFF2-40B4-BE49-F238E27FC236}">
                <a16:creationId xmlns:a16="http://schemas.microsoft.com/office/drawing/2014/main" id="{5E161487-4E81-45FE-A057-961B29B33A38}"/>
              </a:ext>
            </a:extLst>
          </p:cNvPr>
          <p:cNvSpPr>
            <a:spLocks xmlns:a="http://schemas.openxmlformats.org/drawingml/2006/main" noGrp="1"/>
          </p:cNvSpPr>
          <p:nvPr/>
        </p:nvSpPr>
        <p:spPr>
          <a:xfrm xmlns:a="http://schemas.openxmlformats.org/drawingml/2006/main">
            <a:off x="742950" y="5257800"/>
            <a:ext cx="2667000" cy="342900"/>
          </a:xfrm>
          <a:prstGeom xmlns:a="http://schemas.openxmlformats.org/drawingml/2006/main" prst="roundRect">
            <a:avLst>
              <a:gd name="adj" fmla="val 22222"/>
            </a:avLst>
          </a:prstGeom>
          <a:solidFill xmlns:a="http://schemas.openxmlformats.org/drawingml/2006/main">
            <a:srgbClr val="173B31"/>
          </a:solidFill>
          <a:ln xmlns:a="http://schemas.openxmlformats.org/drawingml/2006/main" w="0">
            <a:noFill/>
          </a:ln>
        </p:spPr>
      </p:sp>
      <p:sp>
        <p:nvSpPr>
          <p:cNvPr id="34" name="Rectangle 33">
            <a:extLst xmlns:a="http://schemas.openxmlformats.org/drawingml/2006/main">
              <a:ext uri="{FF2B5EF4-FFF2-40B4-BE49-F238E27FC236}">
                <a16:creationId xmlns:a16="http://schemas.microsoft.com/office/drawing/2014/main" id="{0223B657-E79B-45C8-8FC3-C309A52C9736}"/>
              </a:ext>
            </a:extLst>
          </p:cNvPr>
          <p:cNvSpPr>
            <a:spLocks xmlns:a="http://schemas.openxmlformats.org/drawingml/2006/main" noGrp="1"/>
          </p:cNvSpPr>
          <p:nvPr/>
        </p:nvSpPr>
        <p:spPr>
          <a:xfrm xmlns:a="http://schemas.openxmlformats.org/drawingml/2006/main">
            <a:off x="876300" y="5324475"/>
            <a:ext cx="2400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FFFFFF"/>
                </a:solidFill>
                <a:latin typeface="Arial"/>
                <a:ea typeface="Arial"/>
                <a:cs typeface="Arial"/>
              </a:defRPr>
            </a:pPr>
            <a:r>
              <a:rPr sz="1125" b="1">
                <a:solidFill>
                  <a:srgbClr val="FFFFFF"/>
                </a:solidFill>
                <a:latin typeface="Arial"/>
                <a:ea typeface="Arial"/>
                <a:cs typeface="Arial"/>
              </a:rPr>
              <a:t>separate community path</a:t>
            </a:r>
          </a:p>
        </p:txBody>
      </p:sp>
      <p:sp>
        <p:nvSpPr>
          <p:cNvPr id="35" name="Rectangle 34">
            <a:extLst xmlns:a="http://schemas.openxmlformats.org/drawingml/2006/main">
              <a:ext uri="{FF2B5EF4-FFF2-40B4-BE49-F238E27FC236}">
                <a16:creationId xmlns:a16="http://schemas.microsoft.com/office/drawing/2014/main" id="{A6B0DB1C-9036-464C-A06C-4C409F324728}"/>
              </a:ext>
            </a:extLst>
          </p:cNvPr>
          <p:cNvSpPr>
            <a:spLocks xmlns:a="http://schemas.openxmlformats.org/drawingml/2006/main" noGrp="1"/>
          </p:cNvSpPr>
          <p:nvPr/>
        </p:nvSpPr>
        <p:spPr>
          <a:xfrm xmlns:a="http://schemas.openxmlformats.org/drawingml/2006/main">
            <a:off x="742950" y="5695950"/>
            <a:ext cx="306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1">
                <a:solidFill>
                  <a:srgbClr val="66736D"/>
                </a:solidFill>
                <a:latin typeface="Arial"/>
                <a:ea typeface="Arial"/>
                <a:cs typeface="Arial"/>
              </a:defRPr>
            </a:pPr>
            <a:r>
              <a:rPr sz="1200" b="1">
                <a:solidFill>
                  <a:srgbClr val="66736D"/>
                </a:solidFill>
                <a:latin typeface="Arial"/>
                <a:ea typeface="Arial"/>
                <a:cs typeface="Arial"/>
              </a:rPr>
              <a:t>submitted_venues + correction reports</a:t>
            </a:r>
          </a:p>
        </p:txBody>
      </p:sp>
    </p:spTree>
    <p:extLst>
      <p:ext uri="{BB962C8B-B14F-4D97-AF65-F5344CB8AC3E}">
        <p14:creationId xmlns:p14="http://schemas.microsoft.com/office/powerpoint/2010/main" val="1710094131"/>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7C2D439A-B576-47ED-8C53-3934AE1D373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029"/>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6445523F-7668-4E32-9BA6-BC52BE8DAE0B}"/>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DATABASE</a:t>
            </a:r>
          </a:p>
        </p:txBody>
      </p:sp>
      <p:sp>
        <p:nvSpPr>
          <p:cNvPr id="3" name="Rectangle 2">
            <a:extLst xmlns:a="http://schemas.openxmlformats.org/drawingml/2006/main">
              <a:ext uri="{FF2B5EF4-FFF2-40B4-BE49-F238E27FC236}">
                <a16:creationId xmlns:a16="http://schemas.microsoft.com/office/drawing/2014/main" id="{D6F34097-86F1-4BF2-B01B-465639A70A51}"/>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Implemented Supabase schema and relationships.</a:t>
            </a:r>
          </a:p>
        </p:txBody>
      </p:sp>
      <p:sp>
        <p:nvSpPr>
          <p:cNvPr id="4" name="Rectangle 3">
            <a:extLst xmlns:a="http://schemas.openxmlformats.org/drawingml/2006/main">
              <a:ext uri="{FF2B5EF4-FFF2-40B4-BE49-F238E27FC236}">
                <a16:creationId xmlns:a16="http://schemas.microsoft.com/office/drawing/2014/main" id="{05BE2400-ACE2-40FA-ACB7-2EA522226DBB}"/>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Twelve public tables preserve historical evidence, model lineage, team work and moderated community data.</a:t>
            </a:r>
          </a:p>
        </p:txBody>
      </p:sp>
      <p:sp>
        <p:nvSpPr>
          <p:cNvPr id="5" name="Rectangle 4">
            <a:extLst xmlns:a="http://schemas.openxmlformats.org/drawingml/2006/main">
              <a:ext uri="{FF2B5EF4-FFF2-40B4-BE49-F238E27FC236}">
                <a16:creationId xmlns:a16="http://schemas.microsoft.com/office/drawing/2014/main" id="{2A77B5DA-466B-4AC0-A0C4-0F09F1F87CE2}"/>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06</a:t>
            </a:r>
          </a:p>
        </p:txBody>
      </p:sp>
      <p:sp>
        <p:nvSpPr>
          <p:cNvPr id="6" name="Rectangle: Rounded Corners 5">
            <a:extLst xmlns:a="http://schemas.openxmlformats.org/drawingml/2006/main">
              <a:ext uri="{FF2B5EF4-FFF2-40B4-BE49-F238E27FC236}">
                <a16:creationId xmlns:a16="http://schemas.microsoft.com/office/drawing/2014/main" id="{CDC11E57-5AE5-46C1-A572-00C0F8325783}"/>
              </a:ext>
            </a:extLst>
          </p:cNvPr>
          <p:cNvSpPr>
            <a:spLocks xmlns:a="http://schemas.openxmlformats.org/drawingml/2006/main" noGrp="1"/>
          </p:cNvSpPr>
          <p:nvPr/>
        </p:nvSpPr>
        <p:spPr>
          <a:xfrm xmlns:a="http://schemas.openxmlformats.org/drawingml/2006/main">
            <a:off x="514350" y="1847850"/>
            <a:ext cx="6248400" cy="4343400"/>
          </a:xfrm>
          <a:prstGeom xmlns:a="http://schemas.openxmlformats.org/drawingml/2006/main" prst="roundRect">
            <a:avLst>
              <a:gd name="adj" fmla="val 1754"/>
            </a:avLst>
          </a:prstGeom>
          <a:solidFill xmlns:a="http://schemas.openxmlformats.org/drawingml/2006/main">
            <a:srgbClr val="FFFFFF"/>
          </a:solidFill>
          <a:ln xmlns:a="http://schemas.openxmlformats.org/drawingml/2006/main" w="9525">
            <a:solidFill>
              <a:srgbClr val="D7D3C9"/>
            </a:solidFill>
          </a:ln>
        </p:spPr>
      </p:sp>
      <p:pic>
        <p:nvPicPr>
          <p:cNvPr id="31" name="Picture 28"/>
          <p:cNvPicPr>
            <a:picLocks xmlns:a="http://schemas.openxmlformats.org/drawingml/2006/main" noChangeAspect="1"/>
          </p:cNvPicPr>
          <p:nvPr/>
        </p:nvPicPr>
        <p:blipFill>
          <a:blip xmlns:r="http://schemas.openxmlformats.org/officeDocument/2006/relationships" xmlns:a="http://schemas.openxmlformats.org/drawingml/2006/main" r:embed="R97e63b5e56d744d4"/>
          <a:srcRect xmlns:a="http://schemas.openxmlformats.org/drawingml/2006/main" l="0" t="0" r="0" b="0"/>
          <a:stretch xmlns:a="http://schemas.openxmlformats.org/drawingml/2006/main"/>
        </p:blipFill>
        <p:spPr>
          <a:xfrm xmlns:a="http://schemas.openxmlformats.org/drawingml/2006/main">
            <a:off x="647700" y="1952625"/>
            <a:ext cx="5981700" cy="411480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863A965B-443F-40A2-91B0-D867379076D7}"/>
              </a:ext>
            </a:extLst>
          </p:cNvPr>
          <p:cNvSpPr>
            <a:spLocks xmlns:a="http://schemas.openxmlformats.org/drawingml/2006/main" noGrp="1"/>
          </p:cNvSpPr>
          <p:nvPr/>
        </p:nvSpPr>
        <p:spPr>
          <a:xfrm xmlns:a="http://schemas.openxmlformats.org/drawingml/2006/main">
            <a:off x="7200900" y="20383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How to read the schema</a:t>
            </a:r>
          </a:p>
        </p:txBody>
      </p:sp>
      <p:sp>
        <p:nvSpPr>
          <p:cNvPr id="9" name="Oval 8">
            <a:extLst xmlns:a="http://schemas.openxmlformats.org/drawingml/2006/main">
              <a:ext uri="{FF2B5EF4-FFF2-40B4-BE49-F238E27FC236}">
                <a16:creationId xmlns:a16="http://schemas.microsoft.com/office/drawing/2014/main" id="{26B9459F-7AFC-4D9C-8889-9620FA373592}"/>
              </a:ext>
            </a:extLst>
          </p:cNvPr>
          <p:cNvSpPr>
            <a:spLocks xmlns:a="http://schemas.openxmlformats.org/drawingml/2006/main" noGrp="1"/>
          </p:cNvSpPr>
          <p:nvPr/>
        </p:nvSpPr>
        <p:spPr>
          <a:xfrm xmlns:a="http://schemas.openxmlformats.org/drawingml/2006/main">
            <a:off x="7219950" y="2628900"/>
            <a:ext cx="209550" cy="2095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E9965010-AFB7-4840-9D31-09A40FBDB6C1}"/>
              </a:ext>
            </a:extLst>
          </p:cNvPr>
          <p:cNvSpPr>
            <a:spLocks xmlns:a="http://schemas.openxmlformats.org/drawingml/2006/main" noGrp="1"/>
          </p:cNvSpPr>
          <p:nvPr/>
        </p:nvSpPr>
        <p:spPr>
          <a:xfrm xmlns:a="http://schemas.openxmlformats.org/drawingml/2006/main">
            <a:off x="7600950" y="25908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buNone/>
              <a:defRPr sz="1350" b="1">
                <a:solidFill>
                  <a:srgbClr val="173B31"/>
                </a:solidFill>
                <a:latin typeface="Arial"/>
                <a:ea typeface="Arial"/>
                <a:cs typeface="Arial"/>
              </a:defRPr>
            </a:pPr>
            <a:r>
              <a:rPr sz="1350" b="1">
                <a:solidFill>
                  <a:srgbClr val="173B31"/>
                </a:solidFill>
                <a:latin typeface="Arial"/>
                <a:ea typeface="Arial"/>
                <a:cs typeface="Arial"/>
              </a:rPr>
              <a:t>Historical core</a:t>
            </a:r>
          </a:p>
        </p:txBody>
      </p:sp>
      <p:sp>
        <p:nvSpPr>
          <p:cNvPr id="11" name="Rectangle 10">
            <a:extLst xmlns:a="http://schemas.openxmlformats.org/drawingml/2006/main">
              <a:ext uri="{FF2B5EF4-FFF2-40B4-BE49-F238E27FC236}">
                <a16:creationId xmlns:a16="http://schemas.microsoft.com/office/drawing/2014/main" id="{1BF24AD5-757F-495E-879B-AEB81AF4D79E}"/>
              </a:ext>
            </a:extLst>
          </p:cNvPr>
          <p:cNvSpPr>
            <a:spLocks xmlns:a="http://schemas.openxmlformats.org/drawingml/2006/main" noGrp="1"/>
          </p:cNvSpPr>
          <p:nvPr/>
        </p:nvSpPr>
        <p:spPr>
          <a:xfrm xmlns:a="http://schemas.openxmlformats.org/drawingml/2006/main">
            <a:off x="7600950" y="28670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66736D"/>
                </a:solidFill>
                <a:latin typeface="Arial"/>
                <a:ea typeface="Arial"/>
                <a:cs typeface="Arial"/>
              </a:defRPr>
            </a:pPr>
            <a:r>
              <a:rPr sz="1125" b="0">
                <a:solidFill>
                  <a:srgbClr val="66736D"/>
                </a:solidFill>
                <a:latin typeface="Arial"/>
                <a:ea typeface="Arial"/>
                <a:cs typeface="Arial"/>
              </a:rPr>
              <a:t>venues, ratings, regions and activities</a:t>
            </a:r>
          </a:p>
        </p:txBody>
      </p:sp>
      <p:sp>
        <p:nvSpPr>
          <p:cNvPr id="12" name="Oval 11">
            <a:extLst xmlns:a="http://schemas.openxmlformats.org/drawingml/2006/main">
              <a:ext uri="{FF2B5EF4-FFF2-40B4-BE49-F238E27FC236}">
                <a16:creationId xmlns:a16="http://schemas.microsoft.com/office/drawing/2014/main" id="{AA27BCB9-1D15-41AC-915F-03E499961140}"/>
              </a:ext>
            </a:extLst>
          </p:cNvPr>
          <p:cNvSpPr>
            <a:spLocks xmlns:a="http://schemas.openxmlformats.org/drawingml/2006/main" noGrp="1"/>
          </p:cNvSpPr>
          <p:nvPr/>
        </p:nvSpPr>
        <p:spPr>
          <a:xfrm xmlns:a="http://schemas.openxmlformats.org/drawingml/2006/main">
            <a:off x="7219950" y="3429000"/>
            <a:ext cx="209550" cy="209550"/>
          </a:xfrm>
          <a:prstGeom xmlns:a="http://schemas.openxmlformats.org/drawingml/2006/main" prst="ellipse">
            <a:avLst/>
          </a:prstGeom>
          <a:solidFill xmlns:a="http://schemas.openxmlformats.org/drawingml/2006/main">
            <a:srgbClr val="D89029"/>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4697B05D-7737-4495-A32D-FD934184F4BC}"/>
              </a:ext>
            </a:extLst>
          </p:cNvPr>
          <p:cNvSpPr>
            <a:spLocks xmlns:a="http://schemas.openxmlformats.org/drawingml/2006/main" noGrp="1"/>
          </p:cNvSpPr>
          <p:nvPr/>
        </p:nvSpPr>
        <p:spPr>
          <a:xfrm xmlns:a="http://schemas.openxmlformats.org/drawingml/2006/main">
            <a:off x="7600950" y="33909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buNone/>
              <a:defRPr sz="1350" b="1">
                <a:solidFill>
                  <a:srgbClr val="173B31"/>
                </a:solidFill>
                <a:latin typeface="Arial"/>
                <a:ea typeface="Arial"/>
                <a:cs typeface="Arial"/>
              </a:defRPr>
            </a:pPr>
            <a:r>
              <a:rPr sz="1350" b="1">
                <a:solidFill>
                  <a:srgbClr val="173B31"/>
                </a:solidFill>
                <a:latin typeface="Arial"/>
                <a:ea typeface="Arial"/>
                <a:cs typeface="Arial"/>
              </a:rPr>
              <a:t>Model lineage</a:t>
            </a:r>
          </a:p>
        </p:txBody>
      </p:sp>
      <p:sp>
        <p:nvSpPr>
          <p:cNvPr id="14" name="Rectangle 13">
            <a:extLst xmlns:a="http://schemas.openxmlformats.org/drawingml/2006/main">
              <a:ext uri="{FF2B5EF4-FFF2-40B4-BE49-F238E27FC236}">
                <a16:creationId xmlns:a16="http://schemas.microsoft.com/office/drawing/2014/main" id="{63823C43-1D83-4AC3-9916-8596011A2980}"/>
              </a:ext>
            </a:extLst>
          </p:cNvPr>
          <p:cNvSpPr>
            <a:spLocks xmlns:a="http://schemas.openxmlformats.org/drawingml/2006/main" noGrp="1"/>
          </p:cNvSpPr>
          <p:nvPr/>
        </p:nvSpPr>
        <p:spPr>
          <a:xfrm xmlns:a="http://schemas.openxmlformats.org/drawingml/2006/main">
            <a:off x="7600950" y="36671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66736D"/>
                </a:solidFill>
                <a:latin typeface="Arial"/>
                <a:ea typeface="Arial"/>
                <a:cs typeface="Arial"/>
              </a:defRPr>
            </a:pPr>
            <a:r>
              <a:rPr sz="1125" b="0">
                <a:solidFill>
                  <a:srgbClr val="66736D"/>
                </a:solidFill>
                <a:latin typeface="Arial"/>
                <a:ea typeface="Arial"/>
                <a:cs typeface="Arial"/>
              </a:rPr>
              <a:t>model_runs and predictions</a:t>
            </a:r>
          </a:p>
        </p:txBody>
      </p:sp>
      <p:sp>
        <p:nvSpPr>
          <p:cNvPr id="15" name="Oval 14">
            <a:extLst xmlns:a="http://schemas.openxmlformats.org/drawingml/2006/main">
              <a:ext uri="{FF2B5EF4-FFF2-40B4-BE49-F238E27FC236}">
                <a16:creationId xmlns:a16="http://schemas.microsoft.com/office/drawing/2014/main" id="{22C87332-B027-472F-8EBE-F7AE0ABC3AD1}"/>
              </a:ext>
            </a:extLst>
          </p:cNvPr>
          <p:cNvSpPr>
            <a:spLocks xmlns:a="http://schemas.openxmlformats.org/drawingml/2006/main" noGrp="1"/>
          </p:cNvSpPr>
          <p:nvPr/>
        </p:nvSpPr>
        <p:spPr>
          <a:xfrm xmlns:a="http://schemas.openxmlformats.org/drawingml/2006/main">
            <a:off x="7219950" y="4229100"/>
            <a:ext cx="209550" cy="2095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FB1467EA-EB9F-4E88-BEFA-83941ED6207F}"/>
              </a:ext>
            </a:extLst>
          </p:cNvPr>
          <p:cNvSpPr>
            <a:spLocks xmlns:a="http://schemas.openxmlformats.org/drawingml/2006/main" noGrp="1"/>
          </p:cNvSpPr>
          <p:nvPr/>
        </p:nvSpPr>
        <p:spPr>
          <a:xfrm xmlns:a="http://schemas.openxmlformats.org/drawingml/2006/main">
            <a:off x="7600950" y="41910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buNone/>
              <a:defRPr sz="1350" b="1">
                <a:solidFill>
                  <a:srgbClr val="173B31"/>
                </a:solidFill>
                <a:latin typeface="Arial"/>
                <a:ea typeface="Arial"/>
                <a:cs typeface="Arial"/>
              </a:defRPr>
            </a:pPr>
            <a:r>
              <a:rPr sz="1350" b="1">
                <a:solidFill>
                  <a:srgbClr val="173B31"/>
                </a:solidFill>
                <a:latin typeface="Arial"/>
                <a:ea typeface="Arial"/>
                <a:cs typeface="Arial"/>
              </a:rPr>
              <a:t>Team workspace</a:t>
            </a:r>
          </a:p>
        </p:txBody>
      </p:sp>
      <p:sp>
        <p:nvSpPr>
          <p:cNvPr id="17" name="Rectangle 16">
            <a:extLst xmlns:a="http://schemas.openxmlformats.org/drawingml/2006/main">
              <a:ext uri="{FF2B5EF4-FFF2-40B4-BE49-F238E27FC236}">
                <a16:creationId xmlns:a16="http://schemas.microsoft.com/office/drawing/2014/main" id="{AF269286-841A-4C8F-8E9E-5F80171A10DE}"/>
              </a:ext>
            </a:extLst>
          </p:cNvPr>
          <p:cNvSpPr>
            <a:spLocks xmlns:a="http://schemas.openxmlformats.org/drawingml/2006/main" noGrp="1"/>
          </p:cNvSpPr>
          <p:nvPr/>
        </p:nvSpPr>
        <p:spPr>
          <a:xfrm xmlns:a="http://schemas.openxmlformats.org/drawingml/2006/main">
            <a:off x="7600950" y="44672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66736D"/>
                </a:solidFill>
                <a:latin typeface="Arial"/>
                <a:ea typeface="Arial"/>
                <a:cs typeface="Arial"/>
              </a:defRPr>
            </a:pPr>
            <a:r>
              <a:rPr sz="1125" b="0">
                <a:solidFill>
                  <a:srgbClr val="66736D"/>
                </a:solidFill>
                <a:latin typeface="Arial"/>
                <a:ea typeface="Arial"/>
                <a:cs typeface="Arial"/>
              </a:rPr>
              <a:t>workspace_records and audit trail</a:t>
            </a:r>
          </a:p>
        </p:txBody>
      </p:sp>
      <p:sp>
        <p:nvSpPr>
          <p:cNvPr id="18" name="Oval 17">
            <a:extLst xmlns:a="http://schemas.openxmlformats.org/drawingml/2006/main">
              <a:ext uri="{FF2B5EF4-FFF2-40B4-BE49-F238E27FC236}">
                <a16:creationId xmlns:a16="http://schemas.microsoft.com/office/drawing/2014/main" id="{676BE828-13C6-4EED-821A-EAEB9F65516F}"/>
              </a:ext>
            </a:extLst>
          </p:cNvPr>
          <p:cNvSpPr>
            <a:spLocks xmlns:a="http://schemas.openxmlformats.org/drawingml/2006/main" noGrp="1"/>
          </p:cNvSpPr>
          <p:nvPr/>
        </p:nvSpPr>
        <p:spPr>
          <a:xfrm xmlns:a="http://schemas.openxmlformats.org/drawingml/2006/main">
            <a:off x="7219950" y="5029200"/>
            <a:ext cx="209550" cy="209550"/>
          </a:xfrm>
          <a:prstGeom xmlns:a="http://schemas.openxmlformats.org/drawingml/2006/main" prst="ellipse">
            <a:avLst/>
          </a:prstGeom>
          <a:solidFill xmlns:a="http://schemas.openxmlformats.org/drawingml/2006/main">
            <a:srgbClr val="4E79A7"/>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0F43AFA2-1EFC-4E1B-9770-BBC8EC66187A}"/>
              </a:ext>
            </a:extLst>
          </p:cNvPr>
          <p:cNvSpPr>
            <a:spLocks xmlns:a="http://schemas.openxmlformats.org/drawingml/2006/main" noGrp="1"/>
          </p:cNvSpPr>
          <p:nvPr/>
        </p:nvSpPr>
        <p:spPr>
          <a:xfrm xmlns:a="http://schemas.openxmlformats.org/drawingml/2006/main">
            <a:off x="7600950" y="4991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buNone/>
              <a:defRPr sz="1350" b="1">
                <a:solidFill>
                  <a:srgbClr val="173B31"/>
                </a:solidFill>
                <a:latin typeface="Arial"/>
                <a:ea typeface="Arial"/>
                <a:cs typeface="Arial"/>
              </a:defRPr>
            </a:pPr>
            <a:r>
              <a:rPr sz="1350" b="1">
                <a:solidFill>
                  <a:srgbClr val="173B31"/>
                </a:solidFill>
                <a:latin typeface="Arial"/>
                <a:ea typeface="Arial"/>
                <a:cs typeface="Arial"/>
              </a:rPr>
              <a:t>Community path</a:t>
            </a:r>
          </a:p>
        </p:txBody>
      </p:sp>
      <p:sp>
        <p:nvSpPr>
          <p:cNvPr id="20" name="Rectangle 19">
            <a:extLst xmlns:a="http://schemas.openxmlformats.org/drawingml/2006/main">
              <a:ext uri="{FF2B5EF4-FFF2-40B4-BE49-F238E27FC236}">
                <a16:creationId xmlns:a16="http://schemas.microsoft.com/office/drawing/2014/main" id="{87E8351D-30E6-4877-87CE-F7CFD94A9D72}"/>
              </a:ext>
            </a:extLst>
          </p:cNvPr>
          <p:cNvSpPr>
            <a:spLocks xmlns:a="http://schemas.openxmlformats.org/drawingml/2006/main" noGrp="1"/>
          </p:cNvSpPr>
          <p:nvPr/>
        </p:nvSpPr>
        <p:spPr>
          <a:xfrm xmlns:a="http://schemas.openxmlformats.org/drawingml/2006/main">
            <a:off x="7600950" y="52673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66736D"/>
                </a:solidFill>
                <a:latin typeface="Arial"/>
                <a:ea typeface="Arial"/>
                <a:cs typeface="Arial"/>
              </a:defRPr>
            </a:pPr>
            <a:r>
              <a:rPr sz="1125" b="0">
                <a:solidFill>
                  <a:srgbClr val="66736D"/>
                </a:solidFill>
                <a:latin typeface="Arial"/>
                <a:ea typeface="Arial"/>
                <a:cs typeface="Arial"/>
              </a:rPr>
              <a:t>submitted venues and correction reports</a:t>
            </a:r>
          </a:p>
        </p:txBody>
      </p:sp>
      <p:sp>
        <p:nvSpPr>
          <p:cNvPr id="21" name="Rectangle: Rounded Corners 20">
            <a:extLst xmlns:a="http://schemas.openxmlformats.org/drawingml/2006/main">
              <a:ext uri="{FF2B5EF4-FFF2-40B4-BE49-F238E27FC236}">
                <a16:creationId xmlns:a16="http://schemas.microsoft.com/office/drawing/2014/main" id="{F1CA5B2E-325F-4134-9224-E660A177D503}"/>
              </a:ext>
            </a:extLst>
          </p:cNvPr>
          <p:cNvSpPr>
            <a:spLocks xmlns:a="http://schemas.openxmlformats.org/drawingml/2006/main" noGrp="1"/>
          </p:cNvSpPr>
          <p:nvPr/>
        </p:nvSpPr>
        <p:spPr>
          <a:xfrm xmlns:a="http://schemas.openxmlformats.org/drawingml/2006/main">
            <a:off x="7200900" y="5715000"/>
            <a:ext cx="3733800" cy="457200"/>
          </a:xfrm>
          <a:prstGeom xmlns:a="http://schemas.openxmlformats.org/drawingml/2006/main" prst="roundRect">
            <a:avLst>
              <a:gd name="adj" fmla="val 16667"/>
            </a:avLst>
          </a:prstGeom>
          <a:solidFill xmlns:a="http://schemas.openxmlformats.org/drawingml/2006/main">
            <a:srgbClr val="173B31"/>
          </a:solidFill>
          <a:ln xmlns:a="http://schemas.openxmlformats.org/drawingml/2006/main" w="0">
            <a:noFill/>
          </a:ln>
        </p:spPr>
      </p:sp>
      <p:sp>
        <p:nvSpPr>
          <p:cNvPr id="22" name="Rectangle 21">
            <a:extLst xmlns:a="http://schemas.openxmlformats.org/drawingml/2006/main">
              <a:ext uri="{FF2B5EF4-FFF2-40B4-BE49-F238E27FC236}">
                <a16:creationId xmlns:a16="http://schemas.microsoft.com/office/drawing/2014/main" id="{B956F966-B256-47FB-87FA-0D3E6CD7800A}"/>
              </a:ext>
            </a:extLst>
          </p:cNvPr>
          <p:cNvSpPr>
            <a:spLocks xmlns:a="http://schemas.openxmlformats.org/drawingml/2006/main" noGrp="1"/>
          </p:cNvSpPr>
          <p:nvPr/>
        </p:nvSpPr>
        <p:spPr>
          <a:xfrm xmlns:a="http://schemas.openxmlformats.org/drawingml/2006/main">
            <a:off x="7410450" y="5829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957"/>
          </a:bodyPr>
          <a:lstStyle xmlns:a="http://schemas.openxmlformats.org/drawingml/2006/main"/>
          <a:p xmlns:a="http://schemas.openxmlformats.org/drawingml/2006/main">
            <a:pPr>
              <a:buNone/>
              <a:defRPr sz="1125" b="1">
                <a:solidFill>
                  <a:srgbClr val="FFFFFF"/>
                </a:solidFill>
                <a:latin typeface="Arial"/>
                <a:ea typeface="Arial"/>
                <a:cs typeface="Arial"/>
              </a:defRPr>
            </a:pPr>
            <a:r>
              <a:rPr sz="1125" b="1">
                <a:solidFill>
                  <a:srgbClr val="FFFFFF"/>
                </a:solidFill>
                <a:latin typeface="Arial"/>
                <a:ea typeface="Arial"/>
                <a:cs typeface="Arial"/>
              </a:rPr>
              <a:t>Approved claims join discovery views, never historical ML.</a:t>
            </a:r>
          </a:p>
        </p:txBody>
      </p:sp>
    </p:spTree>
    <p:extLst>
      <p:ext uri="{BB962C8B-B14F-4D97-AF65-F5344CB8AC3E}">
        <p14:creationId xmlns:p14="http://schemas.microsoft.com/office/powerpoint/2010/main" val="964893274"/>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76409EB-DB91-4A28-91C8-05C92D46E0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64235"/>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A42203D6-8A14-4BFD-93A6-62657E2225EB}"/>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PIPELINE</a:t>
            </a:r>
          </a:p>
        </p:txBody>
      </p:sp>
      <p:sp>
        <p:nvSpPr>
          <p:cNvPr id="3" name="Rectangle 2">
            <a:extLst xmlns:a="http://schemas.openxmlformats.org/drawingml/2006/main">
              <a:ext uri="{FF2B5EF4-FFF2-40B4-BE49-F238E27FC236}">
                <a16:creationId xmlns:a16="http://schemas.microsoft.com/office/drawing/2014/main" id="{FF0B6609-AF36-4152-BA45-9BD352A8A454}"/>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ETL turns untrusted files into reproducible evidence.</a:t>
            </a:r>
          </a:p>
        </p:txBody>
      </p:sp>
      <p:sp>
        <p:nvSpPr>
          <p:cNvPr id="4" name="Rectangle 3">
            <a:extLst xmlns:a="http://schemas.openxmlformats.org/drawingml/2006/main">
              <a:ext uri="{FF2B5EF4-FFF2-40B4-BE49-F238E27FC236}">
                <a16:creationId xmlns:a16="http://schemas.microsoft.com/office/drawing/2014/main" id="{F8319ADE-9EC2-40E6-912E-A9CCF4C9B93B}"/>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Raw files never change; every downstream record keeps its source.</a:t>
            </a:r>
          </a:p>
        </p:txBody>
      </p:sp>
      <p:sp>
        <p:nvSpPr>
          <p:cNvPr id="5" name="Rectangle 4">
            <a:extLst xmlns:a="http://schemas.openxmlformats.org/drawingml/2006/main">
              <a:ext uri="{FF2B5EF4-FFF2-40B4-BE49-F238E27FC236}">
                <a16:creationId xmlns:a16="http://schemas.microsoft.com/office/drawing/2014/main" id="{36864AEB-6D91-42C4-B4F4-949D69F672E5}"/>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07</a:t>
            </a:r>
          </a:p>
        </p:txBody>
      </p:sp>
      <p:sp>
        <p:nvSpPr>
          <p:cNvPr id="6" name="Oval 5">
            <a:extLst xmlns:a="http://schemas.openxmlformats.org/drawingml/2006/main">
              <a:ext uri="{FF2B5EF4-FFF2-40B4-BE49-F238E27FC236}">
                <a16:creationId xmlns:a16="http://schemas.microsoft.com/office/drawing/2014/main" id="{A97D0B5A-0749-496D-8A07-DD9E3557EA27}"/>
              </a:ext>
            </a:extLst>
          </p:cNvPr>
          <p:cNvSpPr>
            <a:spLocks xmlns:a="http://schemas.openxmlformats.org/drawingml/2006/main" noGrp="1"/>
          </p:cNvSpPr>
          <p:nvPr/>
        </p:nvSpPr>
        <p:spPr>
          <a:xfrm xmlns:a="http://schemas.openxmlformats.org/drawingml/2006/main">
            <a:off x="685800" y="1981200"/>
            <a:ext cx="419100" cy="419100"/>
          </a:xfrm>
          <a:prstGeom xmlns:a="http://schemas.openxmlformats.org/drawingml/2006/main" prst="ellipse">
            <a:avLst/>
          </a:prstGeom>
          <a:solidFill xmlns:a="http://schemas.openxmlformats.org/drawingml/2006/main">
            <a:srgbClr val="173B31"/>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964BA8A7-B28A-48B7-8689-954A2F5C7B48}"/>
              </a:ext>
            </a:extLst>
          </p:cNvPr>
          <p:cNvSpPr>
            <a:spLocks xmlns:a="http://schemas.openxmlformats.org/drawingml/2006/main" noGrp="1"/>
          </p:cNvSpPr>
          <p:nvPr/>
        </p:nvSpPr>
        <p:spPr>
          <a:xfrm xmlns:a="http://schemas.openxmlformats.org/drawingml/2006/main">
            <a:off x="800100" y="2028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8" name="Rectangle: Rounded Corners 7">
            <a:extLst xmlns:a="http://schemas.openxmlformats.org/drawingml/2006/main">
              <a:ext uri="{FF2B5EF4-FFF2-40B4-BE49-F238E27FC236}">
                <a16:creationId xmlns:a16="http://schemas.microsoft.com/office/drawing/2014/main" id="{FBB969E9-DDC9-4011-85B7-23CF54F3C8B2}"/>
              </a:ext>
            </a:extLst>
          </p:cNvPr>
          <p:cNvSpPr>
            <a:spLocks xmlns:a="http://schemas.openxmlformats.org/drawingml/2006/main" noGrp="1"/>
          </p:cNvSpPr>
          <p:nvPr/>
        </p:nvSpPr>
        <p:spPr>
          <a:xfrm xmlns:a="http://schemas.openxmlformats.org/drawingml/2006/main">
            <a:off x="1257300" y="1943100"/>
            <a:ext cx="9525000" cy="647700"/>
          </a:xfrm>
          <a:prstGeom xmlns:a="http://schemas.openxmlformats.org/drawingml/2006/main" prst="roundRect">
            <a:avLst>
              <a:gd name="adj" fmla="val 11765"/>
            </a:avLst>
          </a:prstGeom>
          <a:solidFill xmlns:a="http://schemas.openxmlformats.org/drawingml/2006/main">
            <a:srgbClr val="F1D8D2"/>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6D64D859-9EA7-4F1E-884F-2763DB7A61EA}"/>
              </a:ext>
            </a:extLst>
          </p:cNvPr>
          <p:cNvSpPr>
            <a:spLocks xmlns:a="http://schemas.openxmlformats.org/drawingml/2006/main" noGrp="1"/>
          </p:cNvSpPr>
          <p:nvPr/>
        </p:nvSpPr>
        <p:spPr>
          <a:xfrm xmlns:a="http://schemas.openxmlformats.org/drawingml/2006/main">
            <a:off x="1504950" y="20859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Archive</a:t>
            </a:r>
          </a:p>
        </p:txBody>
      </p:sp>
      <p:sp>
        <p:nvSpPr>
          <p:cNvPr id="10" name="Rectangle 9">
            <a:extLst xmlns:a="http://schemas.openxmlformats.org/drawingml/2006/main">
              <a:ext uri="{FF2B5EF4-FFF2-40B4-BE49-F238E27FC236}">
                <a16:creationId xmlns:a16="http://schemas.microsoft.com/office/drawing/2014/main" id="{B9F97D4C-6315-4D4E-8E3D-B5766EF3FB90}"/>
              </a:ext>
            </a:extLst>
          </p:cNvPr>
          <p:cNvSpPr>
            <a:spLocks xmlns:a="http://schemas.openxmlformats.org/drawingml/2006/main" noGrp="1"/>
          </p:cNvSpPr>
          <p:nvPr/>
        </p:nvSpPr>
        <p:spPr>
          <a:xfrm xmlns:a="http://schemas.openxmlformats.org/drawingml/2006/main">
            <a:off x="3238500" y="2095500"/>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Hash each source file and preserve it unchanged.</a:t>
            </a:r>
          </a:p>
        </p:txBody>
      </p:sp>
      <p:sp>
        <p:nvSpPr>
          <p:cNvPr id="11" name="Oval 10">
            <a:extLst xmlns:a="http://schemas.openxmlformats.org/drawingml/2006/main">
              <a:ext uri="{FF2B5EF4-FFF2-40B4-BE49-F238E27FC236}">
                <a16:creationId xmlns:a16="http://schemas.microsoft.com/office/drawing/2014/main" id="{31CE504F-EF62-4A2E-93D0-61527F6AC876}"/>
              </a:ext>
            </a:extLst>
          </p:cNvPr>
          <p:cNvSpPr>
            <a:spLocks xmlns:a="http://schemas.openxmlformats.org/drawingml/2006/main" noGrp="1"/>
          </p:cNvSpPr>
          <p:nvPr/>
        </p:nvSpPr>
        <p:spPr>
          <a:xfrm xmlns:a="http://schemas.openxmlformats.org/drawingml/2006/main">
            <a:off x="685800" y="2781300"/>
            <a:ext cx="419100" cy="419100"/>
          </a:xfrm>
          <a:prstGeom xmlns:a="http://schemas.openxmlformats.org/drawingml/2006/main" prst="ellipse">
            <a:avLst/>
          </a:prstGeom>
          <a:solidFill xmlns:a="http://schemas.openxmlformats.org/drawingml/2006/main">
            <a:srgbClr val="173B31"/>
          </a:solidFill>
          <a:ln xmlns:a="http://schemas.openxmlformats.org/drawingml/2006/main" w="0">
            <a:noFill/>
          </a:ln>
        </p:spPr>
      </p:sp>
      <p:sp>
        <p:nvSpPr>
          <p:cNvPr id="12" name="Rectangle 11">
            <a:extLst xmlns:a="http://schemas.openxmlformats.org/drawingml/2006/main">
              <a:ext uri="{FF2B5EF4-FFF2-40B4-BE49-F238E27FC236}">
                <a16:creationId xmlns:a16="http://schemas.microsoft.com/office/drawing/2014/main" id="{827183BE-03C0-40E7-ACED-889D71DEF531}"/>
              </a:ext>
            </a:extLst>
          </p:cNvPr>
          <p:cNvSpPr>
            <a:spLocks xmlns:a="http://schemas.openxmlformats.org/drawingml/2006/main" noGrp="1"/>
          </p:cNvSpPr>
          <p:nvPr/>
        </p:nvSpPr>
        <p:spPr>
          <a:xfrm xmlns:a="http://schemas.openxmlformats.org/drawingml/2006/main">
            <a:off x="800100" y="28289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13" name="Rectangle: Rounded Corners 12">
            <a:extLst xmlns:a="http://schemas.openxmlformats.org/drawingml/2006/main">
              <a:ext uri="{FF2B5EF4-FFF2-40B4-BE49-F238E27FC236}">
                <a16:creationId xmlns:a16="http://schemas.microsoft.com/office/drawing/2014/main" id="{0839990B-F56A-438F-98B0-026CE3518A85}"/>
              </a:ext>
            </a:extLst>
          </p:cNvPr>
          <p:cNvSpPr>
            <a:spLocks xmlns:a="http://schemas.openxmlformats.org/drawingml/2006/main" noGrp="1"/>
          </p:cNvSpPr>
          <p:nvPr/>
        </p:nvSpPr>
        <p:spPr>
          <a:xfrm xmlns:a="http://schemas.openxmlformats.org/drawingml/2006/main">
            <a:off x="1257300" y="2743200"/>
            <a:ext cx="9525000" cy="647700"/>
          </a:xfrm>
          <a:prstGeom xmlns:a="http://schemas.openxmlformats.org/drawingml/2006/main" prst="roundRect">
            <a:avLst>
              <a:gd name="adj" fmla="val 11765"/>
            </a:avLst>
          </a:prstGeom>
          <a:solidFill xmlns:a="http://schemas.openxmlformats.org/drawingml/2006/main">
            <a:srgbClr val="F5E7CB"/>
          </a:solidFill>
          <a:ln xmlns:a="http://schemas.openxmlformats.org/drawingml/2006/main" w="0">
            <a:noFill/>
          </a:ln>
        </p:spPr>
      </p:sp>
      <p:sp>
        <p:nvSpPr>
          <p:cNvPr id="14" name="Rectangle 13">
            <a:extLst xmlns:a="http://schemas.openxmlformats.org/drawingml/2006/main">
              <a:ext uri="{FF2B5EF4-FFF2-40B4-BE49-F238E27FC236}">
                <a16:creationId xmlns:a16="http://schemas.microsoft.com/office/drawing/2014/main" id="{769AD427-661F-457D-B01E-065747AECD9E}"/>
              </a:ext>
            </a:extLst>
          </p:cNvPr>
          <p:cNvSpPr>
            <a:spLocks xmlns:a="http://schemas.openxmlformats.org/drawingml/2006/main" noGrp="1"/>
          </p:cNvSpPr>
          <p:nvPr/>
        </p:nvSpPr>
        <p:spPr>
          <a:xfrm xmlns:a="http://schemas.openxmlformats.org/drawingml/2006/main">
            <a:off x="1504950" y="28860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Profile</a:t>
            </a:r>
          </a:p>
        </p:txBody>
      </p:sp>
      <p:sp>
        <p:nvSpPr>
          <p:cNvPr id="15" name="Rectangle 14">
            <a:extLst xmlns:a="http://schemas.openxmlformats.org/drawingml/2006/main">
              <a:ext uri="{FF2B5EF4-FFF2-40B4-BE49-F238E27FC236}">
                <a16:creationId xmlns:a16="http://schemas.microsoft.com/office/drawing/2014/main" id="{2B4B12D5-6859-4630-B1AF-30C0AD9E475B}"/>
              </a:ext>
            </a:extLst>
          </p:cNvPr>
          <p:cNvSpPr>
            <a:spLocks xmlns:a="http://schemas.openxmlformats.org/drawingml/2006/main" noGrp="1"/>
          </p:cNvSpPr>
          <p:nvPr/>
        </p:nvSpPr>
        <p:spPr>
          <a:xfrm xmlns:a="http://schemas.openxmlformats.org/drawingml/2006/main">
            <a:off x="3238500" y="2895600"/>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Count rows, columns, nulls, duplicates, regions and labels.</a:t>
            </a:r>
          </a:p>
        </p:txBody>
      </p:sp>
      <p:sp>
        <p:nvSpPr>
          <p:cNvPr id="16" name="Oval 15">
            <a:extLst xmlns:a="http://schemas.openxmlformats.org/drawingml/2006/main">
              <a:ext uri="{FF2B5EF4-FFF2-40B4-BE49-F238E27FC236}">
                <a16:creationId xmlns:a16="http://schemas.microsoft.com/office/drawing/2014/main" id="{18D6A4E1-2F11-4935-B591-3EF01F7E5B4A}"/>
              </a:ext>
            </a:extLst>
          </p:cNvPr>
          <p:cNvSpPr>
            <a:spLocks xmlns:a="http://schemas.openxmlformats.org/drawingml/2006/main" noGrp="1"/>
          </p:cNvSpPr>
          <p:nvPr/>
        </p:nvSpPr>
        <p:spPr>
          <a:xfrm xmlns:a="http://schemas.openxmlformats.org/drawingml/2006/main">
            <a:off x="685800" y="3581400"/>
            <a:ext cx="419100" cy="419100"/>
          </a:xfrm>
          <a:prstGeom xmlns:a="http://schemas.openxmlformats.org/drawingml/2006/main" prst="ellipse">
            <a:avLst/>
          </a:prstGeom>
          <a:solidFill xmlns:a="http://schemas.openxmlformats.org/drawingml/2006/main">
            <a:srgbClr val="173B31"/>
          </a:solidFill>
          <a:ln xmlns:a="http://schemas.openxmlformats.org/drawingml/2006/main" w="0">
            <a:noFill/>
          </a:ln>
        </p:spPr>
      </p:sp>
      <p:sp>
        <p:nvSpPr>
          <p:cNvPr id="17" name="Rectangle 16">
            <a:extLst xmlns:a="http://schemas.openxmlformats.org/drawingml/2006/main">
              <a:ext uri="{FF2B5EF4-FFF2-40B4-BE49-F238E27FC236}">
                <a16:creationId xmlns:a16="http://schemas.microsoft.com/office/drawing/2014/main" id="{E58D1BED-9E8C-4737-B6F2-1AF970AD5C96}"/>
              </a:ext>
            </a:extLst>
          </p:cNvPr>
          <p:cNvSpPr>
            <a:spLocks xmlns:a="http://schemas.openxmlformats.org/drawingml/2006/main" noGrp="1"/>
          </p:cNvSpPr>
          <p:nvPr/>
        </p:nvSpPr>
        <p:spPr>
          <a:xfrm xmlns:a="http://schemas.openxmlformats.org/drawingml/2006/main">
            <a:off x="800100" y="36290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18" name="Rectangle: Rounded Corners 17">
            <a:extLst xmlns:a="http://schemas.openxmlformats.org/drawingml/2006/main">
              <a:ext uri="{FF2B5EF4-FFF2-40B4-BE49-F238E27FC236}">
                <a16:creationId xmlns:a16="http://schemas.microsoft.com/office/drawing/2014/main" id="{B72E99ED-1DB5-4EEC-8478-533FFA3FBE56}"/>
              </a:ext>
            </a:extLst>
          </p:cNvPr>
          <p:cNvSpPr>
            <a:spLocks xmlns:a="http://schemas.openxmlformats.org/drawingml/2006/main" noGrp="1"/>
          </p:cNvSpPr>
          <p:nvPr/>
        </p:nvSpPr>
        <p:spPr>
          <a:xfrm xmlns:a="http://schemas.openxmlformats.org/drawingml/2006/main">
            <a:off x="1257300" y="3543300"/>
            <a:ext cx="9525000" cy="647700"/>
          </a:xfrm>
          <a:prstGeom xmlns:a="http://schemas.openxmlformats.org/drawingml/2006/main" prst="roundRect">
            <a:avLst>
              <a:gd name="adj" fmla="val 11765"/>
            </a:avLst>
          </a:prstGeom>
          <a:solidFill xmlns:a="http://schemas.openxmlformats.org/drawingml/2006/main">
            <a:srgbClr val="DDECE2"/>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905BFE58-6955-4C99-B96A-ADD673731F87}"/>
              </a:ext>
            </a:extLst>
          </p:cNvPr>
          <p:cNvSpPr>
            <a:spLocks xmlns:a="http://schemas.openxmlformats.org/drawingml/2006/main" noGrp="1"/>
          </p:cNvSpPr>
          <p:nvPr/>
        </p:nvSpPr>
        <p:spPr>
          <a:xfrm xmlns:a="http://schemas.openxmlformats.org/drawingml/2006/main">
            <a:off x="1504950" y="36861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Clean</a:t>
            </a:r>
          </a:p>
        </p:txBody>
      </p:sp>
      <p:sp>
        <p:nvSpPr>
          <p:cNvPr id="20" name="Rectangle 19">
            <a:extLst xmlns:a="http://schemas.openxmlformats.org/drawingml/2006/main">
              <a:ext uri="{FF2B5EF4-FFF2-40B4-BE49-F238E27FC236}">
                <a16:creationId xmlns:a16="http://schemas.microsoft.com/office/drawing/2014/main" id="{235E4A87-0A38-48F2-BD75-A1400F37A1AF}"/>
              </a:ext>
            </a:extLst>
          </p:cNvPr>
          <p:cNvSpPr>
            <a:spLocks xmlns:a="http://schemas.openxmlformats.org/drawingml/2006/main" noGrp="1"/>
          </p:cNvSpPr>
          <p:nvPr/>
        </p:nvSpPr>
        <p:spPr>
          <a:xfrm xmlns:a="http://schemas.openxmlformats.org/drawingml/2006/main">
            <a:off x="3238500" y="3695700"/>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Normalize types and exact duplicates without inventing values.</a:t>
            </a:r>
          </a:p>
        </p:txBody>
      </p:sp>
      <p:sp>
        <p:nvSpPr>
          <p:cNvPr id="21" name="Oval 20">
            <a:extLst xmlns:a="http://schemas.openxmlformats.org/drawingml/2006/main">
              <a:ext uri="{FF2B5EF4-FFF2-40B4-BE49-F238E27FC236}">
                <a16:creationId xmlns:a16="http://schemas.microsoft.com/office/drawing/2014/main" id="{036C1C82-1A8A-4618-AD27-1AC1CE7E6989}"/>
              </a:ext>
            </a:extLst>
          </p:cNvPr>
          <p:cNvSpPr>
            <a:spLocks xmlns:a="http://schemas.openxmlformats.org/drawingml/2006/main" noGrp="1"/>
          </p:cNvSpPr>
          <p:nvPr/>
        </p:nvSpPr>
        <p:spPr>
          <a:xfrm xmlns:a="http://schemas.openxmlformats.org/drawingml/2006/main">
            <a:off x="685800" y="4381500"/>
            <a:ext cx="419100" cy="419100"/>
          </a:xfrm>
          <a:prstGeom xmlns:a="http://schemas.openxmlformats.org/drawingml/2006/main" prst="ellipse">
            <a:avLst/>
          </a:prstGeom>
          <a:solidFill xmlns:a="http://schemas.openxmlformats.org/drawingml/2006/main">
            <a:srgbClr val="173B31"/>
          </a:solidFill>
          <a:ln xmlns:a="http://schemas.openxmlformats.org/drawingml/2006/main" w="0">
            <a:noFill/>
          </a:ln>
        </p:spPr>
      </p:sp>
      <p:sp>
        <p:nvSpPr>
          <p:cNvPr id="22" name="Rectangle 21">
            <a:extLst xmlns:a="http://schemas.openxmlformats.org/drawingml/2006/main">
              <a:ext uri="{FF2B5EF4-FFF2-40B4-BE49-F238E27FC236}">
                <a16:creationId xmlns:a16="http://schemas.microsoft.com/office/drawing/2014/main" id="{F47F3AFE-4F29-4E41-9E2B-6B3E85161E8D}"/>
              </a:ext>
            </a:extLst>
          </p:cNvPr>
          <p:cNvSpPr>
            <a:spLocks xmlns:a="http://schemas.openxmlformats.org/drawingml/2006/main" noGrp="1"/>
          </p:cNvSpPr>
          <p:nvPr/>
        </p:nvSpPr>
        <p:spPr>
          <a:xfrm xmlns:a="http://schemas.openxmlformats.org/drawingml/2006/main">
            <a:off x="800100" y="44291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23" name="Rectangle: Rounded Corners 22">
            <a:extLst xmlns:a="http://schemas.openxmlformats.org/drawingml/2006/main">
              <a:ext uri="{FF2B5EF4-FFF2-40B4-BE49-F238E27FC236}">
                <a16:creationId xmlns:a16="http://schemas.microsoft.com/office/drawing/2014/main" id="{82958A69-65FE-4A26-A7DC-D56F49D27FB0}"/>
              </a:ext>
            </a:extLst>
          </p:cNvPr>
          <p:cNvSpPr>
            <a:spLocks xmlns:a="http://schemas.openxmlformats.org/drawingml/2006/main" noGrp="1"/>
          </p:cNvSpPr>
          <p:nvPr/>
        </p:nvSpPr>
        <p:spPr>
          <a:xfrm xmlns:a="http://schemas.openxmlformats.org/drawingml/2006/main">
            <a:off x="1257300" y="4343400"/>
            <a:ext cx="9525000" cy="647700"/>
          </a:xfrm>
          <a:prstGeom xmlns:a="http://schemas.openxmlformats.org/drawingml/2006/main" prst="roundRect">
            <a:avLst>
              <a:gd name="adj" fmla="val 11765"/>
            </a:avLst>
          </a:prstGeom>
          <a:solidFill xmlns:a="http://schemas.openxmlformats.org/drawingml/2006/main">
            <a:srgbClr val="DFE9F4"/>
          </a:solidFill>
          <a:ln xmlns:a="http://schemas.openxmlformats.org/drawingml/2006/main" w="0">
            <a:noFill/>
          </a:ln>
        </p:spPr>
      </p:sp>
      <p:sp>
        <p:nvSpPr>
          <p:cNvPr id="24" name="Rectangle 23">
            <a:extLst xmlns:a="http://schemas.openxmlformats.org/drawingml/2006/main">
              <a:ext uri="{FF2B5EF4-FFF2-40B4-BE49-F238E27FC236}">
                <a16:creationId xmlns:a16="http://schemas.microsoft.com/office/drawing/2014/main" id="{FA40F1CF-6E4E-495B-B700-9568694CA721}"/>
              </a:ext>
            </a:extLst>
          </p:cNvPr>
          <p:cNvSpPr>
            <a:spLocks xmlns:a="http://schemas.openxmlformats.org/drawingml/2006/main" noGrp="1"/>
          </p:cNvSpPr>
          <p:nvPr/>
        </p:nvSpPr>
        <p:spPr>
          <a:xfrm xmlns:a="http://schemas.openxmlformats.org/drawingml/2006/main">
            <a:off x="1504950" y="44862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Load</a:t>
            </a:r>
          </a:p>
        </p:txBody>
      </p:sp>
      <p:sp>
        <p:nvSpPr>
          <p:cNvPr id="25" name="Rectangle 24">
            <a:extLst xmlns:a="http://schemas.openxmlformats.org/drawingml/2006/main">
              <a:ext uri="{FF2B5EF4-FFF2-40B4-BE49-F238E27FC236}">
                <a16:creationId xmlns:a16="http://schemas.microsoft.com/office/drawing/2014/main" id="{1403AEE7-589B-4B8F-A2B3-52E8438599FE}"/>
              </a:ext>
            </a:extLst>
          </p:cNvPr>
          <p:cNvSpPr>
            <a:spLocks xmlns:a="http://schemas.openxmlformats.org/drawingml/2006/main" noGrp="1"/>
          </p:cNvSpPr>
          <p:nvPr/>
        </p:nvSpPr>
        <p:spPr>
          <a:xfrm xmlns:a="http://schemas.openxmlformats.org/drawingml/2006/main">
            <a:off x="3238500" y="4495800"/>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Write constrained relational tables inside one transaction.</a:t>
            </a:r>
          </a:p>
        </p:txBody>
      </p:sp>
      <p:sp>
        <p:nvSpPr>
          <p:cNvPr id="26" name="Oval 25">
            <a:extLst xmlns:a="http://schemas.openxmlformats.org/drawingml/2006/main">
              <a:ext uri="{FF2B5EF4-FFF2-40B4-BE49-F238E27FC236}">
                <a16:creationId xmlns:a16="http://schemas.microsoft.com/office/drawing/2014/main" id="{E5661865-4AE4-4235-9FC3-12325248F926}"/>
              </a:ext>
            </a:extLst>
          </p:cNvPr>
          <p:cNvSpPr>
            <a:spLocks xmlns:a="http://schemas.openxmlformats.org/drawingml/2006/main" noGrp="1"/>
          </p:cNvSpPr>
          <p:nvPr/>
        </p:nvSpPr>
        <p:spPr>
          <a:xfrm xmlns:a="http://schemas.openxmlformats.org/drawingml/2006/main">
            <a:off x="685800" y="5181600"/>
            <a:ext cx="419100" cy="419100"/>
          </a:xfrm>
          <a:prstGeom xmlns:a="http://schemas.openxmlformats.org/drawingml/2006/main" prst="ellipse">
            <a:avLst/>
          </a:prstGeom>
          <a:solidFill xmlns:a="http://schemas.openxmlformats.org/drawingml/2006/main">
            <a:srgbClr val="173B31"/>
          </a:solidFill>
          <a:ln xmlns:a="http://schemas.openxmlformats.org/drawingml/2006/main" w="0">
            <a:noFill/>
          </a:ln>
        </p:spPr>
      </p:sp>
      <p:sp>
        <p:nvSpPr>
          <p:cNvPr id="27" name="Rectangle 26">
            <a:extLst xmlns:a="http://schemas.openxmlformats.org/drawingml/2006/main">
              <a:ext uri="{FF2B5EF4-FFF2-40B4-BE49-F238E27FC236}">
                <a16:creationId xmlns:a16="http://schemas.microsoft.com/office/drawing/2014/main" id="{097A3C02-F86A-4741-A25F-FF8099236F57}"/>
              </a:ext>
            </a:extLst>
          </p:cNvPr>
          <p:cNvSpPr>
            <a:spLocks xmlns:a="http://schemas.openxmlformats.org/drawingml/2006/main" noGrp="1"/>
          </p:cNvSpPr>
          <p:nvPr/>
        </p:nvSpPr>
        <p:spPr>
          <a:xfrm xmlns:a="http://schemas.openxmlformats.org/drawingml/2006/main">
            <a:off x="800100" y="52292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75" b="1">
                <a:solidFill>
                  <a:srgbClr val="FFFFFF"/>
                </a:solidFill>
                <a:latin typeface="Arial"/>
                <a:ea typeface="Arial"/>
                <a:cs typeface="Arial"/>
              </a:defRPr>
            </a:pPr>
            <a:r>
              <a:rPr sz="975" b="1">
                <a:solidFill>
                  <a:srgbClr val="FFFFFF"/>
                </a:solidFill>
                <a:latin typeface="Arial"/>
                <a:ea typeface="Arial"/>
                <a:cs typeface="Arial"/>
              </a:rPr>
              <a:t>5</a:t>
            </a:r>
          </a:p>
        </p:txBody>
      </p:sp>
      <p:sp>
        <p:nvSpPr>
          <p:cNvPr id="28" name="Rectangle: Rounded Corners 27">
            <a:extLst xmlns:a="http://schemas.openxmlformats.org/drawingml/2006/main">
              <a:ext uri="{FF2B5EF4-FFF2-40B4-BE49-F238E27FC236}">
                <a16:creationId xmlns:a16="http://schemas.microsoft.com/office/drawing/2014/main" id="{07C7F7CC-EF5C-43B9-83C2-157893FB78CC}"/>
              </a:ext>
            </a:extLst>
          </p:cNvPr>
          <p:cNvSpPr>
            <a:spLocks xmlns:a="http://schemas.openxmlformats.org/drawingml/2006/main" noGrp="1"/>
          </p:cNvSpPr>
          <p:nvPr/>
        </p:nvSpPr>
        <p:spPr>
          <a:xfrm xmlns:a="http://schemas.openxmlformats.org/drawingml/2006/main">
            <a:off x="1257300" y="5143500"/>
            <a:ext cx="9525000" cy="647700"/>
          </a:xfrm>
          <a:prstGeom xmlns:a="http://schemas.openxmlformats.org/drawingml/2006/main" prst="roundRect">
            <a:avLst>
              <a:gd name="adj" fmla="val 11765"/>
            </a:avLst>
          </a:prstGeom>
          <a:solidFill xmlns:a="http://schemas.openxmlformats.org/drawingml/2006/main">
            <a:srgbClr val="EFE4F5"/>
          </a:solidFill>
          <a:ln xmlns:a="http://schemas.openxmlformats.org/drawingml/2006/main" w="0">
            <a:noFill/>
          </a:ln>
        </p:spPr>
      </p:sp>
      <p:sp>
        <p:nvSpPr>
          <p:cNvPr id="29" name="Rectangle 28">
            <a:extLst xmlns:a="http://schemas.openxmlformats.org/drawingml/2006/main">
              <a:ext uri="{FF2B5EF4-FFF2-40B4-BE49-F238E27FC236}">
                <a16:creationId xmlns:a16="http://schemas.microsoft.com/office/drawing/2014/main" id="{5BC29F8D-9BED-46EE-A2CE-14DCE28EC41E}"/>
              </a:ext>
            </a:extLst>
          </p:cNvPr>
          <p:cNvSpPr>
            <a:spLocks xmlns:a="http://schemas.openxmlformats.org/drawingml/2006/main" noGrp="1"/>
          </p:cNvSpPr>
          <p:nvPr/>
        </p:nvSpPr>
        <p:spPr>
          <a:xfrm xmlns:a="http://schemas.openxmlformats.org/drawingml/2006/main">
            <a:off x="1504950" y="52863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Verify</a:t>
            </a:r>
          </a:p>
        </p:txBody>
      </p:sp>
      <p:sp>
        <p:nvSpPr>
          <p:cNvPr id="30" name="Rectangle 29">
            <a:extLst xmlns:a="http://schemas.openxmlformats.org/drawingml/2006/main">
              <a:ext uri="{FF2B5EF4-FFF2-40B4-BE49-F238E27FC236}">
                <a16:creationId xmlns:a16="http://schemas.microsoft.com/office/drawing/2014/main" id="{A181C085-7613-4622-8A63-0F4A70916BAC}"/>
              </a:ext>
            </a:extLst>
          </p:cNvPr>
          <p:cNvSpPr>
            <a:spLocks xmlns:a="http://schemas.openxmlformats.org/drawingml/2006/main" noGrp="1"/>
          </p:cNvSpPr>
          <p:nvPr/>
        </p:nvSpPr>
        <p:spPr>
          <a:xfrm xmlns:a="http://schemas.openxmlformats.org/drawingml/2006/main">
            <a:off x="3238500" y="5295900"/>
            <a:ext cx="716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Compare database counts with the quality report and archive hash.</a:t>
            </a:r>
          </a:p>
        </p:txBody>
      </p:sp>
      <p:sp>
        <p:nvSpPr>
          <p:cNvPr id="31" name="Rectangle 30">
            <a:extLst xmlns:a="http://schemas.openxmlformats.org/drawingml/2006/main">
              <a:ext uri="{FF2B5EF4-FFF2-40B4-BE49-F238E27FC236}">
                <a16:creationId xmlns:a16="http://schemas.microsoft.com/office/drawing/2014/main" id="{53F50B41-CDA3-4E8A-B744-76B03971C040}"/>
              </a:ext>
            </a:extLst>
          </p:cNvPr>
          <p:cNvSpPr>
            <a:spLocks xmlns:a="http://schemas.openxmlformats.org/drawingml/2006/main" noGrp="1"/>
          </p:cNvSpPr>
          <p:nvPr/>
        </p:nvSpPr>
        <p:spPr>
          <a:xfrm xmlns:a="http://schemas.openxmlformats.org/drawingml/2006/main">
            <a:off x="1257300" y="6019800"/>
            <a:ext cx="9391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350" b="1">
                <a:solidFill>
                  <a:srgbClr val="C64235"/>
                </a:solidFill>
                <a:latin typeface="Arial"/>
                <a:ea typeface="Arial"/>
                <a:cs typeface="Arial"/>
              </a:defRPr>
            </a:pPr>
            <a:r>
              <a:rPr sz="1350" b="1">
                <a:solidFill>
                  <a:srgbClr val="C64235"/>
                </a:solidFill>
                <a:latin typeface="Arial"/>
                <a:ea typeface="Arial"/>
                <a:cs typeface="Arial"/>
              </a:rPr>
              <a:t>No silent imputation. No synthetic rows. No raw HTML in public features.</a:t>
            </a:r>
          </a:p>
        </p:txBody>
      </p:sp>
    </p:spTree>
    <p:extLst>
      <p:ext uri="{BB962C8B-B14F-4D97-AF65-F5344CB8AC3E}">
        <p14:creationId xmlns:p14="http://schemas.microsoft.com/office/powerpoint/2010/main" val="1965878097"/>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AEC370F6-9DAE-42ED-AE61-215ED8FE829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62"/>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0D8CA3C3-CD8E-4301-B1E7-936BFBC3A00A}"/>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ANALYSIS</a:t>
            </a:r>
          </a:p>
        </p:txBody>
      </p:sp>
      <p:sp>
        <p:nvSpPr>
          <p:cNvPr id="3" name="Rectangle 2">
            <a:extLst xmlns:a="http://schemas.openxmlformats.org/drawingml/2006/main">
              <a:ext uri="{FF2B5EF4-FFF2-40B4-BE49-F238E27FC236}">
                <a16:creationId xmlns:a16="http://schemas.microsoft.com/office/drawing/2014/main" id="{6A05F5CF-BF4D-4EE1-A001-55716D6727F4}"/>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SQL is the analytical backbone.</a:t>
            </a:r>
          </a:p>
        </p:txBody>
      </p:sp>
      <p:sp>
        <p:nvSpPr>
          <p:cNvPr id="4" name="Rectangle 3">
            <a:extLst xmlns:a="http://schemas.openxmlformats.org/drawingml/2006/main">
              <a:ext uri="{FF2B5EF4-FFF2-40B4-BE49-F238E27FC236}">
                <a16:creationId xmlns:a16="http://schemas.microsoft.com/office/drawing/2014/main" id="{FA510544-85E7-4182-9394-4374056D67AB}"/>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Reusable views answer the same questions that appear in the dashboard.</a:t>
            </a:r>
          </a:p>
        </p:txBody>
      </p:sp>
      <p:sp>
        <p:nvSpPr>
          <p:cNvPr id="5" name="Rectangle 4">
            <a:extLst xmlns:a="http://schemas.openxmlformats.org/drawingml/2006/main">
              <a:ext uri="{FF2B5EF4-FFF2-40B4-BE49-F238E27FC236}">
                <a16:creationId xmlns:a16="http://schemas.microsoft.com/office/drawing/2014/main" id="{1C90081D-3B18-423B-AA69-B64E9B82007C}"/>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08</a:t>
            </a:r>
          </a:p>
        </p:txBody>
      </p:sp>
      <p:pic>
        <p:nvPicPr>
          <p:cNvPr id="29" name="Picture 26"/>
          <p:cNvPicPr>
            <a:picLocks xmlns:a="http://schemas.openxmlformats.org/drawingml/2006/main" noChangeAspect="1"/>
          </p:cNvPicPr>
          <p:nvPr/>
        </p:nvPicPr>
        <p:blipFill>
          <a:blip xmlns:r="http://schemas.openxmlformats.org/officeDocument/2006/relationships" xmlns:a="http://schemas.openxmlformats.org/drawingml/2006/main" r:embed="R95ca054b64844033"/>
          <a:srcRect xmlns:a="http://schemas.openxmlformats.org/drawingml/2006/main" l="0" t="5288" r="0" b="5288"/>
          <a:stretch xmlns:a="http://schemas.openxmlformats.org/drawingml/2006/main">
            <a:fillRect l="0" t="0" r="0" b="0"/>
          </a:stretch>
        </p:blipFill>
        <p:spPr>
          <a:xfrm xmlns:a="http://schemas.openxmlformats.org/drawingml/2006/main">
            <a:off x="552450" y="1924050"/>
            <a:ext cx="6667500" cy="4095750"/>
          </a:xfrm>
          <a:prstGeom xmlns:a="http://schemas.openxmlformats.org/drawingml/2006/main" prst="roundRect">
            <a:avLst>
              <a:gd name="adj" fmla="val 2791"/>
            </a:avLst>
          </a:prstGeom>
        </p:spPr>
      </p:pic>
      <p:sp>
        <p:nvSpPr>
          <p:cNvPr id="7" name="Rectangle 6">
            <a:extLst xmlns:a="http://schemas.openxmlformats.org/drawingml/2006/main">
              <a:ext uri="{FF2B5EF4-FFF2-40B4-BE49-F238E27FC236}">
                <a16:creationId xmlns:a16="http://schemas.microsoft.com/office/drawing/2014/main" id="{BF495480-0FD0-4E72-967A-DDD53813050C}"/>
              </a:ext>
            </a:extLst>
          </p:cNvPr>
          <p:cNvSpPr>
            <a:spLocks xmlns:a="http://schemas.openxmlformats.org/drawingml/2006/main" noGrp="1"/>
          </p:cNvSpPr>
          <p:nvPr/>
        </p:nvSpPr>
        <p:spPr>
          <a:xfrm xmlns:a="http://schemas.openxmlformats.org/drawingml/2006/main">
            <a:off x="7677150" y="20574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173B31"/>
                </a:solidFill>
                <a:latin typeface="Arial"/>
                <a:ea typeface="Arial"/>
                <a:cs typeface="Arial"/>
              </a:defRPr>
            </a:pPr>
            <a:r>
              <a:rPr sz="1650" b="1">
                <a:solidFill>
                  <a:srgbClr val="173B31"/>
                </a:solidFill>
                <a:latin typeface="Arial"/>
                <a:ea typeface="Arial"/>
                <a:cs typeface="Arial"/>
              </a:rPr>
              <a:t>Questions answered</a:t>
            </a:r>
          </a:p>
        </p:txBody>
      </p:sp>
      <p:sp>
        <p:nvSpPr>
          <p:cNvPr id="8" name="Oval 7">
            <a:extLst xmlns:a="http://schemas.openxmlformats.org/drawingml/2006/main">
              <a:ext uri="{FF2B5EF4-FFF2-40B4-BE49-F238E27FC236}">
                <a16:creationId xmlns:a16="http://schemas.microsoft.com/office/drawing/2014/main" id="{BD5BACAB-0BBB-4839-96E3-CB2A5C4A82D3}"/>
              </a:ext>
            </a:extLst>
          </p:cNvPr>
          <p:cNvSpPr>
            <a:spLocks xmlns:a="http://schemas.openxmlformats.org/drawingml/2006/main" noGrp="1"/>
          </p:cNvSpPr>
          <p:nvPr/>
        </p:nvSpPr>
        <p:spPr>
          <a:xfrm xmlns:a="http://schemas.openxmlformats.org/drawingml/2006/main">
            <a:off x="7677150" y="2571750"/>
            <a:ext cx="247650" cy="2476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1AB74FF0-8DAA-4B69-A656-FC5ADDA365B7}"/>
              </a:ext>
            </a:extLst>
          </p:cNvPr>
          <p:cNvSpPr>
            <a:spLocks xmlns:a="http://schemas.openxmlformats.org/drawingml/2006/main" noGrp="1"/>
          </p:cNvSpPr>
          <p:nvPr/>
        </p:nvSpPr>
        <p:spPr>
          <a:xfrm xmlns:a="http://schemas.openxmlformats.org/drawingml/2006/main">
            <a:off x="7762875" y="2619375"/>
            <a:ext cx="114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a:solidFill>
                  <a:srgbClr val="FFFFFF"/>
                </a:solidFill>
                <a:latin typeface="Arial"/>
                <a:ea typeface="Arial"/>
                <a:cs typeface="Arial"/>
              </a:defRPr>
            </a:pPr>
            <a:r>
              <a:rPr sz="825" b="1">
                <a:solidFill>
                  <a:srgbClr val="FFFFFF"/>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38E7AA06-EC42-44E5-94CD-7D8940F0B0F8}"/>
              </a:ext>
            </a:extLst>
          </p:cNvPr>
          <p:cNvSpPr>
            <a:spLocks xmlns:a="http://schemas.openxmlformats.org/drawingml/2006/main" noGrp="1"/>
          </p:cNvSpPr>
          <p:nvPr/>
        </p:nvSpPr>
        <p:spPr>
          <a:xfrm xmlns:a="http://schemas.openxmlformats.org/drawingml/2006/main">
            <a:off x="8077200" y="255270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1">
                <a:solidFill>
                  <a:srgbClr val="1D2B27"/>
                </a:solidFill>
                <a:latin typeface="Arial"/>
                <a:ea typeface="Arial"/>
                <a:cs typeface="Arial"/>
              </a:defRPr>
            </a:pPr>
            <a:r>
              <a:rPr sz="1275" b="1">
                <a:solidFill>
                  <a:srgbClr val="1D2B27"/>
                </a:solidFill>
                <a:latin typeface="Arial"/>
                <a:ea typeface="Arial"/>
                <a:cs typeface="Arial"/>
              </a:rPr>
              <a:t>How many venues remain after exact deduplication?</a:t>
            </a:r>
          </a:p>
        </p:txBody>
      </p:sp>
      <p:sp>
        <p:nvSpPr>
          <p:cNvPr id="11" name="Oval 10">
            <a:extLst xmlns:a="http://schemas.openxmlformats.org/drawingml/2006/main">
              <a:ext uri="{FF2B5EF4-FFF2-40B4-BE49-F238E27FC236}">
                <a16:creationId xmlns:a16="http://schemas.microsoft.com/office/drawing/2014/main" id="{4D833BB4-3B05-43BD-A8DC-01BBFF9DF89B}"/>
              </a:ext>
            </a:extLst>
          </p:cNvPr>
          <p:cNvSpPr>
            <a:spLocks xmlns:a="http://schemas.openxmlformats.org/drawingml/2006/main" noGrp="1"/>
          </p:cNvSpPr>
          <p:nvPr/>
        </p:nvSpPr>
        <p:spPr>
          <a:xfrm xmlns:a="http://schemas.openxmlformats.org/drawingml/2006/main">
            <a:off x="7677150" y="3314700"/>
            <a:ext cx="247650" cy="2476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12" name="Rectangle 11">
            <a:extLst xmlns:a="http://schemas.openxmlformats.org/drawingml/2006/main">
              <a:ext uri="{FF2B5EF4-FFF2-40B4-BE49-F238E27FC236}">
                <a16:creationId xmlns:a16="http://schemas.microsoft.com/office/drawing/2014/main" id="{7F1C9E3C-506A-4938-AA1C-17A0EF683121}"/>
              </a:ext>
            </a:extLst>
          </p:cNvPr>
          <p:cNvSpPr>
            <a:spLocks xmlns:a="http://schemas.openxmlformats.org/drawingml/2006/main" noGrp="1"/>
          </p:cNvSpPr>
          <p:nvPr/>
        </p:nvSpPr>
        <p:spPr>
          <a:xfrm xmlns:a="http://schemas.openxmlformats.org/drawingml/2006/main">
            <a:off x="7762875" y="3362325"/>
            <a:ext cx="114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a:solidFill>
                  <a:srgbClr val="FFFFFF"/>
                </a:solidFill>
                <a:latin typeface="Arial"/>
                <a:ea typeface="Arial"/>
                <a:cs typeface="Arial"/>
              </a:defRPr>
            </a:pPr>
            <a:r>
              <a:rPr sz="825" b="1">
                <a:solidFill>
                  <a:srgbClr val="FFFFFF"/>
                </a:solidFill>
                <a:latin typeface="Arial"/>
                <a:ea typeface="Arial"/>
                <a:cs typeface="Arial"/>
              </a:rPr>
              <a:t>2</a:t>
            </a:r>
          </a:p>
        </p:txBody>
      </p:sp>
      <p:sp>
        <p:nvSpPr>
          <p:cNvPr id="13" name="Rectangle 12">
            <a:extLst xmlns:a="http://schemas.openxmlformats.org/drawingml/2006/main">
              <a:ext uri="{FF2B5EF4-FFF2-40B4-BE49-F238E27FC236}">
                <a16:creationId xmlns:a16="http://schemas.microsoft.com/office/drawing/2014/main" id="{7FF511EA-D5C6-4F92-8E90-9746619DCC59}"/>
              </a:ext>
            </a:extLst>
          </p:cNvPr>
          <p:cNvSpPr>
            <a:spLocks xmlns:a="http://schemas.openxmlformats.org/drawingml/2006/main" noGrp="1"/>
          </p:cNvSpPr>
          <p:nvPr/>
        </p:nvSpPr>
        <p:spPr>
          <a:xfrm xmlns:a="http://schemas.openxmlformats.org/drawingml/2006/main">
            <a:off x="8077200" y="329565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Which regions have the greatest unrated share?</a:t>
            </a:r>
          </a:p>
        </p:txBody>
      </p:sp>
      <p:sp>
        <p:nvSpPr>
          <p:cNvPr id="14" name="Oval 13">
            <a:extLst xmlns:a="http://schemas.openxmlformats.org/drawingml/2006/main">
              <a:ext uri="{FF2B5EF4-FFF2-40B4-BE49-F238E27FC236}">
                <a16:creationId xmlns:a16="http://schemas.microsoft.com/office/drawing/2014/main" id="{41595540-A547-4590-A2BB-88274DD2B851}"/>
              </a:ext>
            </a:extLst>
          </p:cNvPr>
          <p:cNvSpPr>
            <a:spLocks xmlns:a="http://schemas.openxmlformats.org/drawingml/2006/main" noGrp="1"/>
          </p:cNvSpPr>
          <p:nvPr/>
        </p:nvSpPr>
        <p:spPr>
          <a:xfrm xmlns:a="http://schemas.openxmlformats.org/drawingml/2006/main">
            <a:off x="7677150" y="4057650"/>
            <a:ext cx="247650" cy="247650"/>
          </a:xfrm>
          <a:prstGeom xmlns:a="http://schemas.openxmlformats.org/drawingml/2006/main" prst="ellipse">
            <a:avLst/>
          </a:prstGeom>
          <a:solidFill xmlns:a="http://schemas.openxmlformats.org/drawingml/2006/main">
            <a:srgbClr val="D89029"/>
          </a:solidFill>
          <a:ln xmlns:a="http://schemas.openxmlformats.org/drawingml/2006/main" w="0">
            <a:noFill/>
          </a:ln>
        </p:spPr>
      </p:sp>
      <p:sp>
        <p:nvSpPr>
          <p:cNvPr id="15" name="Rectangle 14">
            <a:extLst xmlns:a="http://schemas.openxmlformats.org/drawingml/2006/main">
              <a:ext uri="{FF2B5EF4-FFF2-40B4-BE49-F238E27FC236}">
                <a16:creationId xmlns:a16="http://schemas.microsoft.com/office/drawing/2014/main" id="{AF578B1A-F5C3-497D-8CB0-B7666731DBCB}"/>
              </a:ext>
            </a:extLst>
          </p:cNvPr>
          <p:cNvSpPr>
            <a:spLocks xmlns:a="http://schemas.openxmlformats.org/drawingml/2006/main" noGrp="1"/>
          </p:cNvSpPr>
          <p:nvPr/>
        </p:nvSpPr>
        <p:spPr>
          <a:xfrm xmlns:a="http://schemas.openxmlformats.org/drawingml/2006/main">
            <a:off x="7762875" y="4105275"/>
            <a:ext cx="114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a:solidFill>
                  <a:srgbClr val="FFFFFF"/>
                </a:solidFill>
                <a:latin typeface="Arial"/>
                <a:ea typeface="Arial"/>
                <a:cs typeface="Arial"/>
              </a:defRPr>
            </a:pPr>
            <a:r>
              <a:rPr sz="825" b="1">
                <a:solidFill>
                  <a:srgbClr val="FFFFFF"/>
                </a:solidFill>
                <a:latin typeface="Arial"/>
                <a:ea typeface="Arial"/>
                <a:cs typeface="Arial"/>
              </a:rPr>
              <a:t>3</a:t>
            </a:r>
          </a:p>
        </p:txBody>
      </p:sp>
      <p:sp>
        <p:nvSpPr>
          <p:cNvPr id="16" name="Rectangle 15">
            <a:extLst xmlns:a="http://schemas.openxmlformats.org/drawingml/2006/main">
              <a:ext uri="{FF2B5EF4-FFF2-40B4-BE49-F238E27FC236}">
                <a16:creationId xmlns:a16="http://schemas.microsoft.com/office/drawing/2014/main" id="{6C0E5CC8-FDB7-469A-82F8-54C8B6F20037}"/>
              </a:ext>
            </a:extLst>
          </p:cNvPr>
          <p:cNvSpPr>
            <a:spLocks xmlns:a="http://schemas.openxmlformats.org/drawingml/2006/main" noGrp="1"/>
          </p:cNvSpPr>
          <p:nvPr/>
        </p:nvSpPr>
        <p:spPr>
          <a:xfrm xmlns:a="http://schemas.openxmlformats.org/drawingml/2006/main">
            <a:off x="8077200" y="403860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Which activities are most commonly recorded?</a:t>
            </a:r>
          </a:p>
        </p:txBody>
      </p:sp>
      <p:sp>
        <p:nvSpPr>
          <p:cNvPr id="17" name="Oval 16">
            <a:extLst xmlns:a="http://schemas.openxmlformats.org/drawingml/2006/main">
              <a:ext uri="{FF2B5EF4-FFF2-40B4-BE49-F238E27FC236}">
                <a16:creationId xmlns:a16="http://schemas.microsoft.com/office/drawing/2014/main" id="{1DD10A35-CAF0-4F57-B32D-EC112ADCD7D3}"/>
              </a:ext>
            </a:extLst>
          </p:cNvPr>
          <p:cNvSpPr>
            <a:spLocks xmlns:a="http://schemas.openxmlformats.org/drawingml/2006/main" noGrp="1"/>
          </p:cNvSpPr>
          <p:nvPr/>
        </p:nvSpPr>
        <p:spPr>
          <a:xfrm xmlns:a="http://schemas.openxmlformats.org/drawingml/2006/main">
            <a:off x="7677150" y="4800600"/>
            <a:ext cx="247650" cy="247650"/>
          </a:xfrm>
          <a:prstGeom xmlns:a="http://schemas.openxmlformats.org/drawingml/2006/main" prst="ellipse">
            <a:avLst/>
          </a:prstGeom>
          <a:solidFill xmlns:a="http://schemas.openxmlformats.org/drawingml/2006/main">
            <a:srgbClr val="4E79A7"/>
          </a:solidFill>
          <a:ln xmlns:a="http://schemas.openxmlformats.org/drawingml/2006/main" w="0">
            <a:noFill/>
          </a:ln>
        </p:spPr>
      </p:sp>
      <p:sp>
        <p:nvSpPr>
          <p:cNvPr id="18" name="Rectangle 17">
            <a:extLst xmlns:a="http://schemas.openxmlformats.org/drawingml/2006/main">
              <a:ext uri="{FF2B5EF4-FFF2-40B4-BE49-F238E27FC236}">
                <a16:creationId xmlns:a16="http://schemas.microsoft.com/office/drawing/2014/main" id="{D8594CC8-B25C-4332-A68C-A474BF54B5B1}"/>
              </a:ext>
            </a:extLst>
          </p:cNvPr>
          <p:cNvSpPr>
            <a:spLocks xmlns:a="http://schemas.openxmlformats.org/drawingml/2006/main" noGrp="1"/>
          </p:cNvSpPr>
          <p:nvPr/>
        </p:nvSpPr>
        <p:spPr>
          <a:xfrm xmlns:a="http://schemas.openxmlformats.org/drawingml/2006/main">
            <a:off x="7762875" y="4848225"/>
            <a:ext cx="114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a:solidFill>
                  <a:srgbClr val="FFFFFF"/>
                </a:solidFill>
                <a:latin typeface="Arial"/>
                <a:ea typeface="Arial"/>
                <a:cs typeface="Arial"/>
              </a:defRPr>
            </a:pPr>
            <a:r>
              <a:rPr sz="825" b="1">
                <a:solidFill>
                  <a:srgbClr val="FFFFFF"/>
                </a:solidFill>
                <a:latin typeface="Arial"/>
                <a:ea typeface="Arial"/>
                <a:cs typeface="Arial"/>
              </a:rPr>
              <a:t>4</a:t>
            </a:r>
          </a:p>
        </p:txBody>
      </p:sp>
      <p:sp>
        <p:nvSpPr>
          <p:cNvPr id="19" name="Rectangle 18">
            <a:extLst xmlns:a="http://schemas.openxmlformats.org/drawingml/2006/main">
              <a:ext uri="{FF2B5EF4-FFF2-40B4-BE49-F238E27FC236}">
                <a16:creationId xmlns:a16="http://schemas.microsoft.com/office/drawing/2014/main" id="{FE85F68E-E3DD-45BF-9CC4-10EE519124C0}"/>
              </a:ext>
            </a:extLst>
          </p:cNvPr>
          <p:cNvSpPr>
            <a:spLocks xmlns:a="http://schemas.openxmlformats.org/drawingml/2006/main" noGrp="1"/>
          </p:cNvSpPr>
          <p:nvPr/>
        </p:nvSpPr>
        <p:spPr>
          <a:xfrm xmlns:a="http://schemas.openxmlformats.org/drawingml/2006/main">
            <a:off x="8077200" y="478155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1D2B27"/>
                </a:solidFill>
                <a:latin typeface="Arial"/>
                <a:ea typeface="Arial"/>
                <a:cs typeface="Arial"/>
              </a:defRPr>
            </a:pPr>
            <a:r>
              <a:rPr sz="1275" b="0">
                <a:solidFill>
                  <a:srgbClr val="1D2B27"/>
                </a:solidFill>
                <a:latin typeface="Arial"/>
                <a:ea typeface="Arial"/>
                <a:cs typeface="Arial"/>
              </a:rPr>
              <a:t>How are ratings distributed across the snapshot?</a:t>
            </a:r>
          </a:p>
        </p:txBody>
      </p:sp>
      <p:sp>
        <p:nvSpPr>
          <p:cNvPr id="20" name="Rectangle: Rounded Corners 19">
            <a:extLst xmlns:a="http://schemas.openxmlformats.org/drawingml/2006/main">
              <a:ext uri="{FF2B5EF4-FFF2-40B4-BE49-F238E27FC236}">
                <a16:creationId xmlns:a16="http://schemas.microsoft.com/office/drawing/2014/main" id="{9FE2D4D5-A4D4-4C8F-B76D-CD2FD25D92F2}"/>
              </a:ext>
            </a:extLst>
          </p:cNvPr>
          <p:cNvSpPr>
            <a:spLocks xmlns:a="http://schemas.openxmlformats.org/drawingml/2006/main" noGrp="1"/>
          </p:cNvSpPr>
          <p:nvPr/>
        </p:nvSpPr>
        <p:spPr>
          <a:xfrm xmlns:a="http://schemas.openxmlformats.org/drawingml/2006/main">
            <a:off x="7677150" y="5572125"/>
            <a:ext cx="3257550" cy="447675"/>
          </a:xfrm>
          <a:prstGeom xmlns:a="http://schemas.openxmlformats.org/drawingml/2006/main" prst="roundRect">
            <a:avLst>
              <a:gd name="adj" fmla="val 17021"/>
            </a:avLst>
          </a:prstGeom>
          <a:solidFill xmlns:a="http://schemas.openxmlformats.org/drawingml/2006/main">
            <a:srgbClr val="173B31"/>
          </a:solidFill>
          <a:ln xmlns:a="http://schemas.openxmlformats.org/drawingml/2006/main" w="0">
            <a:noFill/>
          </a:ln>
        </p:spPr>
      </p:sp>
      <p:sp>
        <p:nvSpPr>
          <p:cNvPr id="21" name="Rectangle 20">
            <a:extLst xmlns:a="http://schemas.openxmlformats.org/drawingml/2006/main">
              <a:ext uri="{FF2B5EF4-FFF2-40B4-BE49-F238E27FC236}">
                <a16:creationId xmlns:a16="http://schemas.microsoft.com/office/drawing/2014/main" id="{83170A7A-760F-4F79-8166-00A1B2BDBC83}"/>
              </a:ext>
            </a:extLst>
          </p:cNvPr>
          <p:cNvSpPr>
            <a:spLocks xmlns:a="http://schemas.openxmlformats.org/drawingml/2006/main" noGrp="1"/>
          </p:cNvSpPr>
          <p:nvPr/>
        </p:nvSpPr>
        <p:spPr>
          <a:xfrm xmlns:a="http://schemas.openxmlformats.org/drawingml/2006/main">
            <a:off x="7886700" y="567690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1">
                <a:solidFill>
                  <a:srgbClr val="FFFFFF"/>
                </a:solidFill>
                <a:latin typeface="Arial"/>
                <a:ea typeface="Arial"/>
                <a:cs typeface="Arial"/>
              </a:defRPr>
            </a:pPr>
            <a:r>
              <a:rPr sz="1200" b="1">
                <a:solidFill>
                  <a:srgbClr val="FFFFFF"/>
                </a:solidFill>
                <a:latin typeface="Arial"/>
                <a:ea typeface="Arial"/>
                <a:cs typeface="Arial"/>
              </a:rPr>
              <a:t>Every KPI is queried from Supabase.</a:t>
            </a:r>
          </a:p>
        </p:txBody>
      </p:sp>
    </p:spTree>
    <p:extLst>
      <p:ext uri="{BB962C8B-B14F-4D97-AF65-F5344CB8AC3E}">
        <p14:creationId xmlns:p14="http://schemas.microsoft.com/office/powerpoint/2010/main" val="1260270862"/>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35" name="Rectangle 34">
            <a:extLst xmlns:a="http://schemas.openxmlformats.org/drawingml/2006/main">
              <a:ext uri="{FF2B5EF4-FFF2-40B4-BE49-F238E27FC236}">
                <a16:creationId xmlns:a16="http://schemas.microsoft.com/office/drawing/2014/main" id="{F0FB97E7-B306-477B-B93F-6B9D3B9157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029"/>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70299F7A-D145-4216-BD64-906EA00062B4}"/>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MACHINE LEARNING</a:t>
            </a:r>
          </a:p>
        </p:txBody>
      </p:sp>
      <p:sp>
        <p:nvSpPr>
          <p:cNvPr id="3" name="Rectangle 2">
            <a:extLst xmlns:a="http://schemas.openxmlformats.org/drawingml/2006/main">
              <a:ext uri="{FF2B5EF4-FFF2-40B4-BE49-F238E27FC236}">
                <a16:creationId xmlns:a16="http://schemas.microsoft.com/office/drawing/2014/main" id="{DD17BFC3-0A08-467E-8F2A-3FB036959FD8}"/>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most important modelling work was preventing leakage.</a:t>
            </a:r>
          </a:p>
        </p:txBody>
      </p:sp>
      <p:sp>
        <p:nvSpPr>
          <p:cNvPr id="4" name="Rectangle 3">
            <a:extLst xmlns:a="http://schemas.openxmlformats.org/drawingml/2006/main">
              <a:ext uri="{FF2B5EF4-FFF2-40B4-BE49-F238E27FC236}">
                <a16:creationId xmlns:a16="http://schemas.microsoft.com/office/drawing/2014/main" id="{D48F6F71-D607-4A8E-A4A4-2CEF34061667}"/>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The target is avgRating; target copies and identity fields are not features.</a:t>
            </a:r>
          </a:p>
        </p:txBody>
      </p:sp>
      <p:sp>
        <p:nvSpPr>
          <p:cNvPr id="5" name="Rectangle 4">
            <a:extLst xmlns:a="http://schemas.openxmlformats.org/drawingml/2006/main">
              <a:ext uri="{FF2B5EF4-FFF2-40B4-BE49-F238E27FC236}">
                <a16:creationId xmlns:a16="http://schemas.microsoft.com/office/drawing/2014/main" id="{9A2609B3-963D-455D-B0DE-C7B29A10A36F}"/>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09</a:t>
            </a:r>
          </a:p>
        </p:txBody>
      </p:sp>
      <p:sp>
        <p:nvSpPr>
          <p:cNvPr id="6" name="Rectangle: Rounded Corners 5">
            <a:extLst xmlns:a="http://schemas.openxmlformats.org/drawingml/2006/main">
              <a:ext uri="{FF2B5EF4-FFF2-40B4-BE49-F238E27FC236}">
                <a16:creationId xmlns:a16="http://schemas.microsoft.com/office/drawing/2014/main" id="{E36FA947-EC58-46AF-8E59-1E82085E943A}"/>
              </a:ext>
            </a:extLst>
          </p:cNvPr>
          <p:cNvSpPr>
            <a:spLocks xmlns:a="http://schemas.openxmlformats.org/drawingml/2006/main" noGrp="1"/>
          </p:cNvSpPr>
          <p:nvPr/>
        </p:nvSpPr>
        <p:spPr>
          <a:xfrm xmlns:a="http://schemas.openxmlformats.org/drawingml/2006/main">
            <a:off x="628650" y="2038350"/>
            <a:ext cx="4857750" cy="3333750"/>
          </a:xfrm>
          <a:prstGeom xmlns:a="http://schemas.openxmlformats.org/drawingml/2006/main" prst="roundRect">
            <a:avLst>
              <a:gd name="adj" fmla="val 2286"/>
            </a:avLst>
          </a:prstGeom>
          <a:solidFill xmlns:a="http://schemas.openxmlformats.org/drawingml/2006/main">
            <a:srgbClr val="DDECE2"/>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19FD8CA5-E092-4151-9B77-3A7C0DCAA6E3}"/>
              </a:ext>
            </a:extLst>
          </p:cNvPr>
          <p:cNvSpPr>
            <a:spLocks xmlns:a="http://schemas.openxmlformats.org/drawingml/2006/main" noGrp="1"/>
          </p:cNvSpPr>
          <p:nvPr/>
        </p:nvSpPr>
        <p:spPr>
          <a:xfrm xmlns:a="http://schemas.openxmlformats.org/drawingml/2006/main">
            <a:off x="914400" y="23241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Allowed features</a:t>
            </a:r>
          </a:p>
        </p:txBody>
      </p:sp>
      <p:sp>
        <p:nvSpPr>
          <p:cNvPr id="8" name="Oval 7">
            <a:extLst xmlns:a="http://schemas.openxmlformats.org/drawingml/2006/main">
              <a:ext uri="{FF2B5EF4-FFF2-40B4-BE49-F238E27FC236}">
                <a16:creationId xmlns:a16="http://schemas.microsoft.com/office/drawing/2014/main" id="{23FCA72E-105F-4AF9-BA74-55E85180AFF4}"/>
              </a:ext>
            </a:extLst>
          </p:cNvPr>
          <p:cNvSpPr>
            <a:spLocks xmlns:a="http://schemas.openxmlformats.org/drawingml/2006/main" noGrp="1"/>
          </p:cNvSpPr>
          <p:nvPr/>
        </p:nvSpPr>
        <p:spPr>
          <a:xfrm xmlns:a="http://schemas.openxmlformats.org/drawingml/2006/main">
            <a:off x="933450" y="2962275"/>
            <a:ext cx="171450" cy="1714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9" name="Rectangle 8">
            <a:extLst xmlns:a="http://schemas.openxmlformats.org/drawingml/2006/main">
              <a:ext uri="{FF2B5EF4-FFF2-40B4-BE49-F238E27FC236}">
                <a16:creationId xmlns:a16="http://schemas.microsoft.com/office/drawing/2014/main" id="{CA5809AF-BE91-496E-906F-1536395622F2}"/>
              </a:ext>
            </a:extLst>
          </p:cNvPr>
          <p:cNvSpPr>
            <a:spLocks xmlns:a="http://schemas.openxmlformats.org/drawingml/2006/main" noGrp="1"/>
          </p:cNvSpPr>
          <p:nvPr/>
        </p:nvSpPr>
        <p:spPr>
          <a:xfrm xmlns:a="http://schemas.openxmlformats.org/drawingml/2006/main">
            <a:off x="962025" y="29622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900" b="1">
                <a:solidFill>
                  <a:srgbClr val="FFFFFF"/>
                </a:solidFill>
                <a:latin typeface="Arial"/>
                <a:ea typeface="Arial"/>
                <a:cs typeface="Arial"/>
              </a:defRPr>
            </a:pPr>
            <a:r>
              <a:rPr sz="900" b="1">
                <a:solidFill>
                  <a:srgbClr val="FFFFFF"/>
                </a:solidFill>
                <a:latin typeface="Arial"/>
                <a:ea typeface="Arial"/>
                <a:cs typeface="Arial"/>
              </a:rPr>
              <a:t>✓</a:t>
            </a:r>
          </a:p>
        </p:txBody>
      </p:sp>
      <p:sp>
        <p:nvSpPr>
          <p:cNvPr id="10" name="Rectangle 9">
            <a:extLst xmlns:a="http://schemas.openxmlformats.org/drawingml/2006/main">
              <a:ext uri="{FF2B5EF4-FFF2-40B4-BE49-F238E27FC236}">
                <a16:creationId xmlns:a16="http://schemas.microsoft.com/office/drawing/2014/main" id="{DF72FF2B-15F0-4F53-BEB7-87FE1A94A513}"/>
              </a:ext>
            </a:extLst>
          </p:cNvPr>
          <p:cNvSpPr>
            <a:spLocks xmlns:a="http://schemas.openxmlformats.org/drawingml/2006/main" noGrp="1"/>
          </p:cNvSpPr>
          <p:nvPr/>
        </p:nvSpPr>
        <p:spPr>
          <a:xfrm xmlns:a="http://schemas.openxmlformats.org/drawingml/2006/main">
            <a:off x="1257300" y="29146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source region</a:t>
            </a:r>
          </a:p>
        </p:txBody>
      </p:sp>
      <p:sp>
        <p:nvSpPr>
          <p:cNvPr id="11" name="Oval 10">
            <a:extLst xmlns:a="http://schemas.openxmlformats.org/drawingml/2006/main">
              <a:ext uri="{FF2B5EF4-FFF2-40B4-BE49-F238E27FC236}">
                <a16:creationId xmlns:a16="http://schemas.microsoft.com/office/drawing/2014/main" id="{B5A2E6DB-0F75-485D-821F-8190B0E73262}"/>
              </a:ext>
            </a:extLst>
          </p:cNvPr>
          <p:cNvSpPr>
            <a:spLocks xmlns:a="http://schemas.openxmlformats.org/drawingml/2006/main" noGrp="1"/>
          </p:cNvSpPr>
          <p:nvPr/>
        </p:nvSpPr>
        <p:spPr>
          <a:xfrm xmlns:a="http://schemas.openxmlformats.org/drawingml/2006/main">
            <a:off x="933450" y="3476625"/>
            <a:ext cx="171450" cy="1714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12" name="Rectangle 11">
            <a:extLst xmlns:a="http://schemas.openxmlformats.org/drawingml/2006/main">
              <a:ext uri="{FF2B5EF4-FFF2-40B4-BE49-F238E27FC236}">
                <a16:creationId xmlns:a16="http://schemas.microsoft.com/office/drawing/2014/main" id="{BFA367B2-A420-463B-B8C9-E34CAD1E25E0}"/>
              </a:ext>
            </a:extLst>
          </p:cNvPr>
          <p:cNvSpPr>
            <a:spLocks xmlns:a="http://schemas.openxmlformats.org/drawingml/2006/main" noGrp="1"/>
          </p:cNvSpPr>
          <p:nvPr/>
        </p:nvSpPr>
        <p:spPr>
          <a:xfrm xmlns:a="http://schemas.openxmlformats.org/drawingml/2006/main">
            <a:off x="962025" y="347662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900" b="1">
                <a:solidFill>
                  <a:srgbClr val="FFFFFF"/>
                </a:solidFill>
                <a:latin typeface="Arial"/>
                <a:ea typeface="Arial"/>
                <a:cs typeface="Arial"/>
              </a:defRPr>
            </a:pPr>
            <a:r>
              <a:rPr sz="900" b="1">
                <a:solidFill>
                  <a:srgbClr val="FFFFFF"/>
                </a:solidFill>
                <a:latin typeface="Arial"/>
                <a:ea typeface="Arial"/>
                <a:cs typeface="Arial"/>
              </a:rPr>
              <a:t>✓</a:t>
            </a:r>
          </a:p>
        </p:txBody>
      </p:sp>
      <p:sp>
        <p:nvSpPr>
          <p:cNvPr id="13" name="Rectangle 12">
            <a:extLst xmlns:a="http://schemas.openxmlformats.org/drawingml/2006/main">
              <a:ext uri="{FF2B5EF4-FFF2-40B4-BE49-F238E27FC236}">
                <a16:creationId xmlns:a16="http://schemas.microsoft.com/office/drawing/2014/main" id="{81BBEC59-A36D-4D4B-BDDB-60D52442B882}"/>
              </a:ext>
            </a:extLst>
          </p:cNvPr>
          <p:cNvSpPr>
            <a:spLocks xmlns:a="http://schemas.openxmlformats.org/drawingml/2006/main" noGrp="1"/>
          </p:cNvSpPr>
          <p:nvPr/>
        </p:nvSpPr>
        <p:spPr>
          <a:xfrm xmlns:a="http://schemas.openxmlformats.org/drawingml/2006/main">
            <a:off x="1257300" y="3429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latitude / longitude</a:t>
            </a:r>
          </a:p>
        </p:txBody>
      </p:sp>
      <p:sp>
        <p:nvSpPr>
          <p:cNvPr id="14" name="Oval 13">
            <a:extLst xmlns:a="http://schemas.openxmlformats.org/drawingml/2006/main">
              <a:ext uri="{FF2B5EF4-FFF2-40B4-BE49-F238E27FC236}">
                <a16:creationId xmlns:a16="http://schemas.microsoft.com/office/drawing/2014/main" id="{940A1378-2C30-4E05-9686-FA44374858BE}"/>
              </a:ext>
            </a:extLst>
          </p:cNvPr>
          <p:cNvSpPr>
            <a:spLocks xmlns:a="http://schemas.openxmlformats.org/drawingml/2006/main" noGrp="1"/>
          </p:cNvSpPr>
          <p:nvPr/>
        </p:nvSpPr>
        <p:spPr>
          <a:xfrm xmlns:a="http://schemas.openxmlformats.org/drawingml/2006/main">
            <a:off x="933450" y="3990975"/>
            <a:ext cx="171450" cy="1714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15" name="Rectangle 14">
            <a:extLst xmlns:a="http://schemas.openxmlformats.org/drawingml/2006/main">
              <a:ext uri="{FF2B5EF4-FFF2-40B4-BE49-F238E27FC236}">
                <a16:creationId xmlns:a16="http://schemas.microsoft.com/office/drawing/2014/main" id="{C3887F28-5D82-48D6-A343-29C9EB3DF5BC}"/>
              </a:ext>
            </a:extLst>
          </p:cNvPr>
          <p:cNvSpPr>
            <a:spLocks xmlns:a="http://schemas.openxmlformats.org/drawingml/2006/main" noGrp="1"/>
          </p:cNvSpPr>
          <p:nvPr/>
        </p:nvSpPr>
        <p:spPr>
          <a:xfrm xmlns:a="http://schemas.openxmlformats.org/drawingml/2006/main">
            <a:off x="962025" y="399097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900" b="1">
                <a:solidFill>
                  <a:srgbClr val="FFFFFF"/>
                </a:solidFill>
                <a:latin typeface="Arial"/>
                <a:ea typeface="Arial"/>
                <a:cs typeface="Arial"/>
              </a:defRPr>
            </a:pPr>
            <a:r>
              <a:rPr sz="900" b="1">
                <a:solidFill>
                  <a:srgbClr val="FFFFFF"/>
                </a:solidFill>
                <a:latin typeface="Arial"/>
                <a:ea typeface="Arial"/>
                <a:cs typeface="Arial"/>
              </a:rPr>
              <a:t>✓</a:t>
            </a:r>
          </a:p>
        </p:txBody>
      </p:sp>
      <p:sp>
        <p:nvSpPr>
          <p:cNvPr id="16" name="Rectangle 15">
            <a:extLst xmlns:a="http://schemas.openxmlformats.org/drawingml/2006/main">
              <a:ext uri="{FF2B5EF4-FFF2-40B4-BE49-F238E27FC236}">
                <a16:creationId xmlns:a16="http://schemas.microsoft.com/office/drawing/2014/main" id="{221A1702-A02C-4751-A434-B11B1EFC1FE8}"/>
              </a:ext>
            </a:extLst>
          </p:cNvPr>
          <p:cNvSpPr>
            <a:spLocks xmlns:a="http://schemas.openxmlformats.org/drawingml/2006/main" noGrp="1"/>
          </p:cNvSpPr>
          <p:nvPr/>
        </p:nvSpPr>
        <p:spPr>
          <a:xfrm xmlns:a="http://schemas.openxmlformats.org/drawingml/2006/main">
            <a:off x="1257300" y="39433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multi-hot activity indicators</a:t>
            </a:r>
          </a:p>
        </p:txBody>
      </p:sp>
      <p:sp>
        <p:nvSpPr>
          <p:cNvPr id="17" name="Oval 16">
            <a:extLst xmlns:a="http://schemas.openxmlformats.org/drawingml/2006/main">
              <a:ext uri="{FF2B5EF4-FFF2-40B4-BE49-F238E27FC236}">
                <a16:creationId xmlns:a16="http://schemas.microsoft.com/office/drawing/2014/main" id="{C919B2CD-0AA2-4A37-BE09-81EF7C93CC6A}"/>
              </a:ext>
            </a:extLst>
          </p:cNvPr>
          <p:cNvSpPr>
            <a:spLocks xmlns:a="http://schemas.openxmlformats.org/drawingml/2006/main" noGrp="1"/>
          </p:cNvSpPr>
          <p:nvPr/>
        </p:nvSpPr>
        <p:spPr>
          <a:xfrm xmlns:a="http://schemas.openxmlformats.org/drawingml/2006/main">
            <a:off x="933450" y="4505325"/>
            <a:ext cx="171450" cy="17145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18" name="Rectangle 17">
            <a:extLst xmlns:a="http://schemas.openxmlformats.org/drawingml/2006/main">
              <a:ext uri="{FF2B5EF4-FFF2-40B4-BE49-F238E27FC236}">
                <a16:creationId xmlns:a16="http://schemas.microsoft.com/office/drawing/2014/main" id="{17EE78DB-D91B-4A8B-9D2B-E8CD57AF2B3A}"/>
              </a:ext>
            </a:extLst>
          </p:cNvPr>
          <p:cNvSpPr>
            <a:spLocks xmlns:a="http://schemas.openxmlformats.org/drawingml/2006/main" noGrp="1"/>
          </p:cNvSpPr>
          <p:nvPr/>
        </p:nvSpPr>
        <p:spPr>
          <a:xfrm xmlns:a="http://schemas.openxmlformats.org/drawingml/2006/main">
            <a:off x="962025" y="4505325"/>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900" b="1">
                <a:solidFill>
                  <a:srgbClr val="FFFFFF"/>
                </a:solidFill>
                <a:latin typeface="Arial"/>
                <a:ea typeface="Arial"/>
                <a:cs typeface="Arial"/>
              </a:defRPr>
            </a:pPr>
            <a:r>
              <a:rPr sz="900" b="1">
                <a:solidFill>
                  <a:srgbClr val="FFFFFF"/>
                </a:solidFill>
                <a:latin typeface="Arial"/>
                <a:ea typeface="Arial"/>
                <a:cs typeface="Arial"/>
              </a:rPr>
              <a:t>✓</a:t>
            </a:r>
          </a:p>
        </p:txBody>
      </p:sp>
      <p:sp>
        <p:nvSpPr>
          <p:cNvPr id="19" name="Rectangle 18">
            <a:extLst xmlns:a="http://schemas.openxmlformats.org/drawingml/2006/main">
              <a:ext uri="{FF2B5EF4-FFF2-40B4-BE49-F238E27FC236}">
                <a16:creationId xmlns:a16="http://schemas.microsoft.com/office/drawing/2014/main" id="{4920E914-30A7-49C3-BA46-E4413549515D}"/>
              </a:ext>
            </a:extLst>
          </p:cNvPr>
          <p:cNvSpPr>
            <a:spLocks xmlns:a="http://schemas.openxmlformats.org/drawingml/2006/main" noGrp="1"/>
          </p:cNvSpPr>
          <p:nvPr/>
        </p:nvSpPr>
        <p:spPr>
          <a:xfrm xmlns:a="http://schemas.openxmlformats.org/drawingml/2006/main">
            <a:off x="1257300" y="44577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entity_group for split control</a:t>
            </a:r>
          </a:p>
        </p:txBody>
      </p:sp>
      <p:sp>
        <p:nvSpPr>
          <p:cNvPr id="20" name="Rectangle: Rounded Corners 19">
            <a:extLst xmlns:a="http://schemas.openxmlformats.org/drawingml/2006/main">
              <a:ext uri="{FF2B5EF4-FFF2-40B4-BE49-F238E27FC236}">
                <a16:creationId xmlns:a16="http://schemas.microsoft.com/office/drawing/2014/main" id="{0CF410F0-A2C8-478B-AB69-1A5996B307B0}"/>
              </a:ext>
            </a:extLst>
          </p:cNvPr>
          <p:cNvSpPr>
            <a:spLocks xmlns:a="http://schemas.openxmlformats.org/drawingml/2006/main" noGrp="1"/>
          </p:cNvSpPr>
          <p:nvPr/>
        </p:nvSpPr>
        <p:spPr>
          <a:xfrm xmlns:a="http://schemas.openxmlformats.org/drawingml/2006/main">
            <a:off x="5905500" y="2038350"/>
            <a:ext cx="4857750" cy="3333750"/>
          </a:xfrm>
          <a:prstGeom xmlns:a="http://schemas.openxmlformats.org/drawingml/2006/main" prst="roundRect">
            <a:avLst>
              <a:gd name="adj" fmla="val 2286"/>
            </a:avLst>
          </a:prstGeom>
          <a:solidFill xmlns:a="http://schemas.openxmlformats.org/drawingml/2006/main">
            <a:srgbClr val="F1D8D2"/>
          </a:solidFill>
          <a:ln xmlns:a="http://schemas.openxmlformats.org/drawingml/2006/main" w="0">
            <a:noFill/>
          </a:ln>
        </p:spPr>
      </p:sp>
      <p:sp>
        <p:nvSpPr>
          <p:cNvPr id="21" name="Rectangle 20">
            <a:extLst xmlns:a="http://schemas.openxmlformats.org/drawingml/2006/main">
              <a:ext uri="{FF2B5EF4-FFF2-40B4-BE49-F238E27FC236}">
                <a16:creationId xmlns:a16="http://schemas.microsoft.com/office/drawing/2014/main" id="{5DD25E0B-DF81-4A28-9106-8BB3B99B10D0}"/>
              </a:ext>
            </a:extLst>
          </p:cNvPr>
          <p:cNvSpPr>
            <a:spLocks xmlns:a="http://schemas.openxmlformats.org/drawingml/2006/main" noGrp="1"/>
          </p:cNvSpPr>
          <p:nvPr/>
        </p:nvSpPr>
        <p:spPr>
          <a:xfrm xmlns:a="http://schemas.openxmlformats.org/drawingml/2006/main">
            <a:off x="6191250" y="23241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Excluded from the first model</a:t>
            </a:r>
          </a:p>
        </p:txBody>
      </p:sp>
      <p:sp>
        <p:nvSpPr>
          <p:cNvPr id="22" name="Oval 21">
            <a:extLst xmlns:a="http://schemas.openxmlformats.org/drawingml/2006/main">
              <a:ext uri="{FF2B5EF4-FFF2-40B4-BE49-F238E27FC236}">
                <a16:creationId xmlns:a16="http://schemas.microsoft.com/office/drawing/2014/main" id="{A886B618-E918-4E7C-8395-2FD38D53EE02}"/>
              </a:ext>
            </a:extLst>
          </p:cNvPr>
          <p:cNvSpPr>
            <a:spLocks xmlns:a="http://schemas.openxmlformats.org/drawingml/2006/main" noGrp="1"/>
          </p:cNvSpPr>
          <p:nvPr/>
        </p:nvSpPr>
        <p:spPr>
          <a:xfrm xmlns:a="http://schemas.openxmlformats.org/drawingml/2006/main">
            <a:off x="6210300" y="2962275"/>
            <a:ext cx="171450" cy="1714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23" name="Rectangle 22">
            <a:extLst xmlns:a="http://schemas.openxmlformats.org/drawingml/2006/main">
              <a:ext uri="{FF2B5EF4-FFF2-40B4-BE49-F238E27FC236}">
                <a16:creationId xmlns:a16="http://schemas.microsoft.com/office/drawing/2014/main" id="{3A619CBC-52E3-4050-8F3A-6677812E9A45}"/>
              </a:ext>
            </a:extLst>
          </p:cNvPr>
          <p:cNvSpPr>
            <a:spLocks xmlns:a="http://schemas.openxmlformats.org/drawingml/2006/main" noGrp="1"/>
          </p:cNvSpPr>
          <p:nvPr/>
        </p:nvSpPr>
        <p:spPr>
          <a:xfrm xmlns:a="http://schemas.openxmlformats.org/drawingml/2006/main">
            <a:off x="6248400" y="2943225"/>
            <a:ext cx="133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a:t>
            </a:r>
          </a:p>
        </p:txBody>
      </p:sp>
      <p:sp>
        <p:nvSpPr>
          <p:cNvPr id="24" name="Rectangle 23">
            <a:extLst xmlns:a="http://schemas.openxmlformats.org/drawingml/2006/main">
              <a:ext uri="{FF2B5EF4-FFF2-40B4-BE49-F238E27FC236}">
                <a16:creationId xmlns:a16="http://schemas.microsoft.com/office/drawing/2014/main" id="{26EAA8E0-1300-43FC-A843-BEB0C848F46F}"/>
              </a:ext>
            </a:extLst>
          </p:cNvPr>
          <p:cNvSpPr>
            <a:spLocks xmlns:a="http://schemas.openxmlformats.org/drawingml/2006/main" noGrp="1"/>
          </p:cNvSpPr>
          <p:nvPr/>
        </p:nvSpPr>
        <p:spPr>
          <a:xfrm xmlns:a="http://schemas.openxmlformats.org/drawingml/2006/main">
            <a:off x="6534150" y="29146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rating (truncated target copy)</a:t>
            </a:r>
          </a:p>
        </p:txBody>
      </p:sp>
      <p:sp>
        <p:nvSpPr>
          <p:cNvPr id="25" name="Oval 24">
            <a:extLst xmlns:a="http://schemas.openxmlformats.org/drawingml/2006/main">
              <a:ext uri="{FF2B5EF4-FFF2-40B4-BE49-F238E27FC236}">
                <a16:creationId xmlns:a16="http://schemas.microsoft.com/office/drawing/2014/main" id="{9805AE36-4B1B-4044-8964-B4A65B30A346}"/>
              </a:ext>
            </a:extLst>
          </p:cNvPr>
          <p:cNvSpPr>
            <a:spLocks xmlns:a="http://schemas.openxmlformats.org/drawingml/2006/main" noGrp="1"/>
          </p:cNvSpPr>
          <p:nvPr/>
        </p:nvSpPr>
        <p:spPr>
          <a:xfrm xmlns:a="http://schemas.openxmlformats.org/drawingml/2006/main">
            <a:off x="6210300" y="3476625"/>
            <a:ext cx="171450" cy="1714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26" name="Rectangle 25">
            <a:extLst xmlns:a="http://schemas.openxmlformats.org/drawingml/2006/main">
              <a:ext uri="{FF2B5EF4-FFF2-40B4-BE49-F238E27FC236}">
                <a16:creationId xmlns:a16="http://schemas.microsoft.com/office/drawing/2014/main" id="{6BD8D512-A6DD-4C04-B46B-E99C9EEB61D0}"/>
              </a:ext>
            </a:extLst>
          </p:cNvPr>
          <p:cNvSpPr>
            <a:spLocks xmlns:a="http://schemas.openxmlformats.org/drawingml/2006/main" noGrp="1"/>
          </p:cNvSpPr>
          <p:nvPr/>
        </p:nvSpPr>
        <p:spPr>
          <a:xfrm xmlns:a="http://schemas.openxmlformats.org/drawingml/2006/main">
            <a:off x="6248400" y="3457575"/>
            <a:ext cx="133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a:t>
            </a:r>
          </a:p>
        </p:txBody>
      </p:sp>
      <p:sp>
        <p:nvSpPr>
          <p:cNvPr id="27" name="Rectangle 26">
            <a:extLst xmlns:a="http://schemas.openxmlformats.org/drawingml/2006/main">
              <a:ext uri="{FF2B5EF4-FFF2-40B4-BE49-F238E27FC236}">
                <a16:creationId xmlns:a16="http://schemas.microsoft.com/office/drawing/2014/main" id="{72A3345A-1435-4B7D-B01C-F5BF213A22A8}"/>
              </a:ext>
            </a:extLst>
          </p:cNvPr>
          <p:cNvSpPr>
            <a:spLocks xmlns:a="http://schemas.openxmlformats.org/drawingml/2006/main" noGrp="1"/>
          </p:cNvSpPr>
          <p:nvPr/>
        </p:nvSpPr>
        <p:spPr>
          <a:xfrm xmlns:a="http://schemas.openxmlformats.org/drawingml/2006/main">
            <a:off x="6534150" y="3429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info HTML (repeats rating/count)</a:t>
            </a:r>
          </a:p>
        </p:txBody>
      </p:sp>
      <p:sp>
        <p:nvSpPr>
          <p:cNvPr id="28" name="Oval 27">
            <a:extLst xmlns:a="http://schemas.openxmlformats.org/drawingml/2006/main">
              <a:ext uri="{FF2B5EF4-FFF2-40B4-BE49-F238E27FC236}">
                <a16:creationId xmlns:a16="http://schemas.microsoft.com/office/drawing/2014/main" id="{8315ACC8-BBE8-4160-909B-D649CA06166F}"/>
              </a:ext>
            </a:extLst>
          </p:cNvPr>
          <p:cNvSpPr>
            <a:spLocks xmlns:a="http://schemas.openxmlformats.org/drawingml/2006/main" noGrp="1"/>
          </p:cNvSpPr>
          <p:nvPr/>
        </p:nvSpPr>
        <p:spPr>
          <a:xfrm xmlns:a="http://schemas.openxmlformats.org/drawingml/2006/main">
            <a:off x="6210300" y="3990975"/>
            <a:ext cx="171450" cy="1714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29" name="Rectangle 28">
            <a:extLst xmlns:a="http://schemas.openxmlformats.org/drawingml/2006/main">
              <a:ext uri="{FF2B5EF4-FFF2-40B4-BE49-F238E27FC236}">
                <a16:creationId xmlns:a16="http://schemas.microsoft.com/office/drawing/2014/main" id="{0BDA9EBE-8BCA-4433-931B-52D6D3CB1F60}"/>
              </a:ext>
            </a:extLst>
          </p:cNvPr>
          <p:cNvSpPr>
            <a:spLocks xmlns:a="http://schemas.openxmlformats.org/drawingml/2006/main" noGrp="1"/>
          </p:cNvSpPr>
          <p:nvPr/>
        </p:nvSpPr>
        <p:spPr>
          <a:xfrm xmlns:a="http://schemas.openxmlformats.org/drawingml/2006/main">
            <a:off x="6248400" y="3971925"/>
            <a:ext cx="133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a:t>
            </a:r>
          </a:p>
        </p:txBody>
      </p:sp>
      <p:sp>
        <p:nvSpPr>
          <p:cNvPr id="30" name="Rectangle 29">
            <a:extLst xmlns:a="http://schemas.openxmlformats.org/drawingml/2006/main">
              <a:ext uri="{FF2B5EF4-FFF2-40B4-BE49-F238E27FC236}">
                <a16:creationId xmlns:a16="http://schemas.microsoft.com/office/drawing/2014/main" id="{504350DA-946C-42D1-A628-E66EC7BAC713}"/>
              </a:ext>
            </a:extLst>
          </p:cNvPr>
          <p:cNvSpPr>
            <a:spLocks xmlns:a="http://schemas.openxmlformats.org/drawingml/2006/main" noGrp="1"/>
          </p:cNvSpPr>
          <p:nvPr/>
        </p:nvSpPr>
        <p:spPr>
          <a:xfrm xmlns:a="http://schemas.openxmlformats.org/drawingml/2006/main">
            <a:off x="6534150" y="39433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name, links, icons and identifiers</a:t>
            </a:r>
          </a:p>
        </p:txBody>
      </p:sp>
      <p:sp>
        <p:nvSpPr>
          <p:cNvPr id="31" name="Oval 30">
            <a:extLst xmlns:a="http://schemas.openxmlformats.org/drawingml/2006/main">
              <a:ext uri="{FF2B5EF4-FFF2-40B4-BE49-F238E27FC236}">
                <a16:creationId xmlns:a16="http://schemas.microsoft.com/office/drawing/2014/main" id="{EA8940F1-8828-4A98-845A-FD08163E71BD}"/>
              </a:ext>
            </a:extLst>
          </p:cNvPr>
          <p:cNvSpPr>
            <a:spLocks xmlns:a="http://schemas.openxmlformats.org/drawingml/2006/main" noGrp="1"/>
          </p:cNvSpPr>
          <p:nvPr/>
        </p:nvSpPr>
        <p:spPr>
          <a:xfrm xmlns:a="http://schemas.openxmlformats.org/drawingml/2006/main">
            <a:off x="6210300" y="4505325"/>
            <a:ext cx="171450" cy="17145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32" name="Rectangle 31">
            <a:extLst xmlns:a="http://schemas.openxmlformats.org/drawingml/2006/main">
              <a:ext uri="{FF2B5EF4-FFF2-40B4-BE49-F238E27FC236}">
                <a16:creationId xmlns:a16="http://schemas.microsoft.com/office/drawing/2014/main" id="{7063F39E-9C2A-4EFC-8EC4-9C8FC1A35FD7}"/>
              </a:ext>
            </a:extLst>
          </p:cNvPr>
          <p:cNvSpPr>
            <a:spLocks xmlns:a="http://schemas.openxmlformats.org/drawingml/2006/main" noGrp="1"/>
          </p:cNvSpPr>
          <p:nvPr/>
        </p:nvSpPr>
        <p:spPr>
          <a:xfrm xmlns:a="http://schemas.openxmlformats.org/drawingml/2006/main">
            <a:off x="6248400" y="4486275"/>
            <a:ext cx="133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a:t>
            </a:r>
          </a:p>
        </p:txBody>
      </p:sp>
      <p:sp>
        <p:nvSpPr>
          <p:cNvPr id="33" name="Rectangle 32">
            <a:extLst xmlns:a="http://schemas.openxmlformats.org/drawingml/2006/main">
              <a:ext uri="{FF2B5EF4-FFF2-40B4-BE49-F238E27FC236}">
                <a16:creationId xmlns:a16="http://schemas.microsoft.com/office/drawing/2014/main" id="{1A0D8F0F-E36B-481B-86D5-BB5140A15288}"/>
              </a:ext>
            </a:extLst>
          </p:cNvPr>
          <p:cNvSpPr>
            <a:spLocks xmlns:a="http://schemas.openxmlformats.org/drawingml/2006/main" noGrp="1"/>
          </p:cNvSpPr>
          <p:nvPr/>
        </p:nvSpPr>
        <p:spPr>
          <a:xfrm xmlns:a="http://schemas.openxmlformats.org/drawingml/2006/main">
            <a:off x="6534150" y="44577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1D2B27"/>
                </a:solidFill>
                <a:latin typeface="Arial"/>
                <a:ea typeface="Arial"/>
                <a:cs typeface="Arial"/>
              </a:defRPr>
            </a:pPr>
            <a:r>
              <a:rPr sz="1350" b="0">
                <a:solidFill>
                  <a:srgbClr val="1D2B27"/>
                </a:solidFill>
                <a:latin typeface="Arial"/>
                <a:ea typeface="Arial"/>
                <a:cs typeface="Arial"/>
              </a:rPr>
              <a:t>ratingCount (sensitivity only)</a:t>
            </a:r>
          </a:p>
        </p:txBody>
      </p:sp>
      <p:sp>
        <p:nvSpPr>
          <p:cNvPr id="34" name="Rectangle 33">
            <a:extLst xmlns:a="http://schemas.openxmlformats.org/drawingml/2006/main">
              <a:ext uri="{FF2B5EF4-FFF2-40B4-BE49-F238E27FC236}">
                <a16:creationId xmlns:a16="http://schemas.microsoft.com/office/drawing/2014/main" id="{DE6E130A-5DFE-4516-A27C-94800556ED57}"/>
              </a:ext>
            </a:extLst>
          </p:cNvPr>
          <p:cNvSpPr>
            <a:spLocks xmlns:a="http://schemas.openxmlformats.org/drawingml/2006/main" noGrp="1"/>
          </p:cNvSpPr>
          <p:nvPr/>
        </p:nvSpPr>
        <p:spPr>
          <a:xfrm xmlns:a="http://schemas.openxmlformats.org/drawingml/2006/main">
            <a:off x="1162050" y="57912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173B31"/>
                </a:solidFill>
                <a:latin typeface="Arial"/>
                <a:ea typeface="Arial"/>
                <a:cs typeface="Arial"/>
              </a:defRPr>
            </a:pPr>
            <a:r>
              <a:rPr sz="1575" b="1">
                <a:solidFill>
                  <a:srgbClr val="173B31"/>
                </a:solidFill>
                <a:latin typeface="Arial"/>
                <a:ea typeface="Arial"/>
                <a:cs typeface="Arial"/>
              </a:rPr>
              <a:t>Entity-grouped splitting produced zero group overlap between train and test.</a:t>
            </a:r>
          </a:p>
        </p:txBody>
      </p:sp>
    </p:spTree>
    <p:extLst>
      <p:ext uri="{BB962C8B-B14F-4D97-AF65-F5344CB8AC3E}">
        <p14:creationId xmlns:p14="http://schemas.microsoft.com/office/powerpoint/2010/main" val="697423918"/>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C9597D80-2DAB-4F1E-9BE1-FC34DF0E21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64235"/>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C95490CC-5E6E-4846-9562-45EE370355BC}"/>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MACHINE LEARNING</a:t>
            </a:r>
          </a:p>
        </p:txBody>
      </p:sp>
      <p:sp>
        <p:nvSpPr>
          <p:cNvPr id="3" name="Rectangle 2">
            <a:extLst xmlns:a="http://schemas.openxmlformats.org/drawingml/2006/main">
              <a:ext uri="{FF2B5EF4-FFF2-40B4-BE49-F238E27FC236}">
                <a16:creationId xmlns:a16="http://schemas.microsoft.com/office/drawing/2014/main" id="{4A08D775-132B-438C-A540-D8FDF28433B4}"/>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37"/>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model improves on a simple baseline — modestly, not magically.</a:t>
            </a:r>
          </a:p>
        </p:txBody>
      </p:sp>
      <p:sp>
        <p:nvSpPr>
          <p:cNvPr id="4" name="Rectangle 3">
            <a:extLst xmlns:a="http://schemas.openxmlformats.org/drawingml/2006/main">
              <a:ext uri="{FF2B5EF4-FFF2-40B4-BE49-F238E27FC236}">
                <a16:creationId xmlns:a16="http://schemas.microsoft.com/office/drawing/2014/main" id="{00C2AB83-A5F9-4F62-9C4B-DF748FB07D1D}"/>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Random Forest was selected through grouped cross-validation and tested on unseen entity groups.</a:t>
            </a:r>
          </a:p>
        </p:txBody>
      </p:sp>
      <p:sp>
        <p:nvSpPr>
          <p:cNvPr id="5" name="Rectangle 4">
            <a:extLst xmlns:a="http://schemas.openxmlformats.org/drawingml/2006/main">
              <a:ext uri="{FF2B5EF4-FFF2-40B4-BE49-F238E27FC236}">
                <a16:creationId xmlns:a16="http://schemas.microsoft.com/office/drawing/2014/main" id="{833EF247-C86D-49B7-B64D-D151C16DFF6C}"/>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10</a:t>
            </a:r>
          </a:p>
        </p:txBody>
      </p:sp>
      <p:graphicFrame>
        <p:nvGraphicFramePr>
          <p:cNvPr id="21" name="Table 18"/>
          <p:cNvGraphicFramePr/>
          <p:nvPr/>
        </p:nvGraphicFramePr>
        <p:xfrm>
          <a:off xmlns:a="http://schemas.openxmlformats.org/drawingml/2006/main" x="552450" y="2076450"/>
          <a:ext xmlns:a="http://schemas.openxmlformats.org/drawingml/2006/main" cx="6915152" cy="2628900"/>
        </p:xfrm>
        <a:graphic xmlns:a="http://schemas.openxmlformats.org/drawingml/2006/main">
          <a:graphicData uri="http://schemas.openxmlformats.org/drawingml/2006/table">
            <a:tbl>
              <a:tblPr firstRow="1" bandRow="1"/>
              <a:tblGrid>
                <a:gridCol w="1728788"/>
                <a:gridCol w="1728788"/>
                <a:gridCol w="1728788"/>
                <a:gridCol w="1728788"/>
              </a:tblGrid>
              <a:tr h="657225">
                <a:tc>
                  <a:txBody>
                    <a:bodyPr/>
                    <a:lstStyle/>
                    <a:p>
                      <a:r>
                        <a:rPr sz="1350" b="1">
                          <a:solidFill>
                            <a:srgbClr val="FFFFFF"/>
                          </a:solidFill>
                          <a:latin typeface="Arial"/>
                          <a:ea typeface="Arial"/>
                          <a:cs typeface="Arial"/>
                        </a:rPr>
                        <a:t>Model</a:t>
                      </a:r>
                    </a:p>
                  </a:txBody>
                  <a:tcPr marL="91440" marR="91440" marT="45720" marB="45720">
                    <a:solidFill>
                      <a:srgbClr val="173B31"/>
                    </a:solidFill>
                  </a:tcPr>
                </a:tc>
                <a:tc>
                  <a:txBody>
                    <a:bodyPr/>
                    <a:lstStyle/>
                    <a:p>
                      <a:r>
                        <a:rPr sz="1350" b="1">
                          <a:solidFill>
                            <a:srgbClr val="FFFFFF"/>
                          </a:solidFill>
                          <a:latin typeface="Arial"/>
                          <a:ea typeface="Arial"/>
                          <a:cs typeface="Arial"/>
                        </a:rPr>
                        <a:t>MAE</a:t>
                      </a:r>
                    </a:p>
                  </a:txBody>
                  <a:tcPr marL="91440" marR="91440" marT="45720" marB="45720">
                    <a:solidFill>
                      <a:srgbClr val="173B31"/>
                    </a:solidFill>
                  </a:tcPr>
                </a:tc>
                <a:tc>
                  <a:txBody>
                    <a:bodyPr/>
                    <a:lstStyle/>
                    <a:p>
                      <a:r>
                        <a:rPr sz="1350" b="1">
                          <a:solidFill>
                            <a:srgbClr val="FFFFFF"/>
                          </a:solidFill>
                          <a:latin typeface="Arial"/>
                          <a:ea typeface="Arial"/>
                          <a:cs typeface="Arial"/>
                        </a:rPr>
                        <a:t>RMSE</a:t>
                      </a:r>
                    </a:p>
                  </a:txBody>
                  <a:tcPr marL="91440" marR="91440" marT="45720" marB="45720">
                    <a:solidFill>
                      <a:srgbClr val="173B31"/>
                    </a:solidFill>
                  </a:tcPr>
                </a:tc>
                <a:tc>
                  <a:txBody>
                    <a:bodyPr/>
                    <a:lstStyle/>
                    <a:p>
                      <a:r>
                        <a:rPr sz="1350" b="1">
                          <a:solidFill>
                            <a:srgbClr val="FFFFFF"/>
                          </a:solidFill>
                          <a:latin typeface="Arial"/>
                          <a:ea typeface="Arial"/>
                          <a:cs typeface="Arial"/>
                        </a:rPr>
                        <a:t>R²</a:t>
                      </a:r>
                    </a:p>
                  </a:txBody>
                  <a:tcPr marL="91440" marR="91440" marT="45720" marB="45720">
                    <a:solidFill>
                      <a:srgbClr val="173B31"/>
                    </a:solidFill>
                  </a:tcPr>
                </a:tc>
              </a:tr>
              <a:tr h="657225">
                <a:tc>
                  <a:txBody>
                    <a:bodyPr/>
                    <a:lstStyle/>
                    <a:p>
                      <a:r>
                        <a:rPr sz="1275" b="0">
                          <a:solidFill>
                            <a:srgbClr val="1D2B27"/>
                          </a:solidFill>
                          <a:latin typeface="Arial"/>
                          <a:ea typeface="Arial"/>
                          <a:cs typeface="Arial"/>
                        </a:rPr>
                        <a:t>Median baseline</a:t>
                      </a:r>
                    </a:p>
                  </a:txBody>
                  <a:tcPr marL="91440" marR="91440" marT="45720" marB="45720"/>
                </a:tc>
                <a:tc>
                  <a:txBody>
                    <a:bodyPr/>
                    <a:lstStyle/>
                    <a:p>
                      <a:r>
                        <a:rPr sz="1275" b="0">
                          <a:solidFill>
                            <a:srgbClr val="1D2B27"/>
                          </a:solidFill>
                          <a:latin typeface="Arial"/>
                          <a:ea typeface="Arial"/>
                          <a:cs typeface="Arial"/>
                        </a:rPr>
                        <a:t>0.517</a:t>
                      </a:r>
                    </a:p>
                  </a:txBody>
                  <a:tcPr marL="91440" marR="91440" marT="45720" marB="45720"/>
                </a:tc>
                <a:tc>
                  <a:txBody>
                    <a:bodyPr/>
                    <a:lstStyle/>
                    <a:p>
                      <a:r>
                        <a:rPr sz="1275" b="0">
                          <a:solidFill>
                            <a:srgbClr val="1D2B27"/>
                          </a:solidFill>
                          <a:latin typeface="Arial"/>
                          <a:ea typeface="Arial"/>
                          <a:cs typeface="Arial"/>
                        </a:rPr>
                        <a:t>—</a:t>
                      </a:r>
                    </a:p>
                  </a:txBody>
                  <a:tcPr marL="91440" marR="91440" marT="45720" marB="45720"/>
                </a:tc>
                <a:tc>
                  <a:txBody>
                    <a:bodyPr/>
                    <a:lstStyle/>
                    <a:p>
                      <a:r>
                        <a:rPr sz="1275" b="0">
                          <a:solidFill>
                            <a:srgbClr val="1D2B27"/>
                          </a:solidFill>
                          <a:latin typeface="Arial"/>
                          <a:ea typeface="Arial"/>
                          <a:cs typeface="Arial"/>
                        </a:rPr>
                        <a:t>—</a:t>
                      </a:r>
                    </a:p>
                  </a:txBody>
                  <a:tcPr marL="91440" marR="91440" marT="45720" marB="45720"/>
                </a:tc>
              </a:tr>
              <a:tr h="657225">
                <a:tc>
                  <a:txBody>
                    <a:bodyPr/>
                    <a:lstStyle/>
                    <a:p>
                      <a:r>
                        <a:rPr sz="1275" b="0">
                          <a:solidFill>
                            <a:srgbClr val="1D2B27"/>
                          </a:solidFill>
                          <a:latin typeface="Arial"/>
                          <a:ea typeface="Arial"/>
                          <a:cs typeface="Arial"/>
                        </a:rPr>
                        <a:t>Mean baseline</a:t>
                      </a:r>
                    </a:p>
                  </a:txBody>
                  <a:tcPr marL="91440" marR="91440" marT="45720" marB="45720"/>
                </a:tc>
                <a:tc>
                  <a:txBody>
                    <a:bodyPr/>
                    <a:lstStyle/>
                    <a:p>
                      <a:r>
                        <a:rPr sz="1275" b="0">
                          <a:solidFill>
                            <a:srgbClr val="1D2B27"/>
                          </a:solidFill>
                          <a:latin typeface="Arial"/>
                          <a:ea typeface="Arial"/>
                          <a:cs typeface="Arial"/>
                        </a:rPr>
                        <a:t>0.522</a:t>
                      </a:r>
                    </a:p>
                  </a:txBody>
                  <a:tcPr marL="91440" marR="91440" marT="45720" marB="45720"/>
                </a:tc>
                <a:tc>
                  <a:txBody>
                    <a:bodyPr/>
                    <a:lstStyle/>
                    <a:p>
                      <a:r>
                        <a:rPr sz="1275" b="0">
                          <a:solidFill>
                            <a:srgbClr val="1D2B27"/>
                          </a:solidFill>
                          <a:latin typeface="Arial"/>
                          <a:ea typeface="Arial"/>
                          <a:cs typeface="Arial"/>
                        </a:rPr>
                        <a:t>—</a:t>
                      </a:r>
                    </a:p>
                  </a:txBody>
                  <a:tcPr marL="91440" marR="91440" marT="45720" marB="45720"/>
                </a:tc>
                <a:tc>
                  <a:txBody>
                    <a:bodyPr/>
                    <a:lstStyle/>
                    <a:p>
                      <a:r>
                        <a:rPr sz="1275" b="0">
                          <a:solidFill>
                            <a:srgbClr val="1D2B27"/>
                          </a:solidFill>
                          <a:latin typeface="Arial"/>
                          <a:ea typeface="Arial"/>
                          <a:cs typeface="Arial"/>
                        </a:rPr>
                        <a:t>—</a:t>
                      </a:r>
                    </a:p>
                  </a:txBody>
                  <a:tcPr marL="91440" marR="91440" marT="45720" marB="45720"/>
                </a:tc>
              </a:tr>
              <a:tr h="657225">
                <a:tc>
                  <a:txBody>
                    <a:bodyPr/>
                    <a:lstStyle/>
                    <a:p>
                      <a:r>
                        <a:rPr sz="1275" b="1">
                          <a:solidFill>
                            <a:srgbClr val="1D2B27"/>
                          </a:solidFill>
                          <a:latin typeface="Arial"/>
                          <a:ea typeface="Arial"/>
                          <a:cs typeface="Arial"/>
                        </a:rPr>
                        <a:t>Random Forest</a:t>
                      </a:r>
                    </a:p>
                  </a:txBody>
                  <a:tcPr marL="91440" marR="91440" marT="45720" marB="45720">
                    <a:solidFill>
                      <a:srgbClr val="DDECE2"/>
                    </a:solidFill>
                  </a:tcPr>
                </a:tc>
                <a:tc>
                  <a:txBody>
                    <a:bodyPr/>
                    <a:lstStyle/>
                    <a:p>
                      <a:r>
                        <a:rPr sz="1275" b="1">
                          <a:solidFill>
                            <a:srgbClr val="1D2B27"/>
                          </a:solidFill>
                          <a:latin typeface="Arial"/>
                          <a:ea typeface="Arial"/>
                          <a:cs typeface="Arial"/>
                        </a:rPr>
                        <a:t>0.466</a:t>
                      </a:r>
                    </a:p>
                  </a:txBody>
                  <a:tcPr marL="91440" marR="91440" marT="45720" marB="45720">
                    <a:solidFill>
                      <a:srgbClr val="DDECE2"/>
                    </a:solidFill>
                  </a:tcPr>
                </a:tc>
                <a:tc>
                  <a:txBody>
                    <a:bodyPr/>
                    <a:lstStyle/>
                    <a:p>
                      <a:r>
                        <a:rPr sz="1275" b="1">
                          <a:solidFill>
                            <a:srgbClr val="1D2B27"/>
                          </a:solidFill>
                          <a:latin typeface="Arial"/>
                          <a:ea typeface="Arial"/>
                          <a:cs typeface="Arial"/>
                        </a:rPr>
                        <a:t>0.610</a:t>
                      </a:r>
                    </a:p>
                  </a:txBody>
                  <a:tcPr marL="91440" marR="91440" marT="45720" marB="45720">
                    <a:solidFill>
                      <a:srgbClr val="DDECE2"/>
                    </a:solidFill>
                  </a:tcPr>
                </a:tc>
                <a:tc>
                  <a:txBody>
                    <a:bodyPr/>
                    <a:lstStyle/>
                    <a:p>
                      <a:r>
                        <a:rPr sz="1275" b="1">
                          <a:solidFill>
                            <a:srgbClr val="1D2B27"/>
                          </a:solidFill>
                          <a:latin typeface="Arial"/>
                          <a:ea typeface="Arial"/>
                          <a:cs typeface="Arial"/>
                        </a:rPr>
                        <a:t>0.163</a:t>
                      </a:r>
                    </a:p>
                  </a:txBody>
                  <a:tcPr marL="91440" marR="91440" marT="45720" marB="45720">
                    <a:solidFill>
                      <a:srgbClr val="DDECE2"/>
                    </a:solidFill>
                  </a:tcPr>
                </a:tc>
              </a:tr>
            </a:tbl>
          </a:graphicData>
        </a:graphic>
      </p:graphicFrame>
      <p:sp>
        <p:nvSpPr>
          <p:cNvPr id="7" name="Rectangle: Rounded Corners 6">
            <a:extLst xmlns:a="http://schemas.openxmlformats.org/drawingml/2006/main">
              <a:ext uri="{FF2B5EF4-FFF2-40B4-BE49-F238E27FC236}">
                <a16:creationId xmlns:a16="http://schemas.microsoft.com/office/drawing/2014/main" id="{33F227CA-CA42-45A9-A2B5-8FDDAA455BCB}"/>
              </a:ext>
            </a:extLst>
          </p:cNvPr>
          <p:cNvSpPr>
            <a:spLocks xmlns:a="http://schemas.openxmlformats.org/drawingml/2006/main" noGrp="1"/>
          </p:cNvSpPr>
          <p:nvPr/>
        </p:nvSpPr>
        <p:spPr>
          <a:xfrm xmlns:a="http://schemas.openxmlformats.org/drawingml/2006/main">
            <a:off x="7905750" y="2076450"/>
            <a:ext cx="2952750" cy="2628900"/>
          </a:xfrm>
          <a:prstGeom xmlns:a="http://schemas.openxmlformats.org/drawingml/2006/main" prst="roundRect">
            <a:avLst>
              <a:gd name="adj" fmla="val 2899"/>
            </a:avLst>
          </a:prstGeom>
          <a:solidFill xmlns:a="http://schemas.openxmlformats.org/drawingml/2006/main">
            <a:srgbClr val="F5E7CB"/>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9C42784D-2B8F-43CF-B019-8E1631DABFF4}"/>
              </a:ext>
            </a:extLst>
          </p:cNvPr>
          <p:cNvSpPr>
            <a:spLocks xmlns:a="http://schemas.openxmlformats.org/drawingml/2006/main" noGrp="1"/>
          </p:cNvSpPr>
          <p:nvPr/>
        </p:nvSpPr>
        <p:spPr>
          <a:xfrm xmlns:a="http://schemas.openxmlformats.org/drawingml/2006/main">
            <a:off x="8191500" y="23622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350" b="1">
                <a:solidFill>
                  <a:srgbClr val="C64235"/>
                </a:solidFill>
                <a:latin typeface="Arial"/>
                <a:ea typeface="Arial"/>
                <a:cs typeface="Arial"/>
              </a:defRPr>
            </a:pPr>
            <a:r>
              <a:rPr sz="1350" b="1">
                <a:solidFill>
                  <a:srgbClr val="C64235"/>
                </a:solidFill>
                <a:latin typeface="Arial"/>
                <a:ea typeface="Arial"/>
                <a:cs typeface="Arial"/>
              </a:rPr>
              <a:t>Held-out test</a:t>
            </a:r>
          </a:p>
        </p:txBody>
      </p:sp>
      <p:sp>
        <p:nvSpPr>
          <p:cNvPr id="9" name="Rectangle 8">
            <a:extLst xmlns:a="http://schemas.openxmlformats.org/drawingml/2006/main">
              <a:ext uri="{FF2B5EF4-FFF2-40B4-BE49-F238E27FC236}">
                <a16:creationId xmlns:a16="http://schemas.microsoft.com/office/drawing/2014/main" id="{B2BC7A54-8ECC-43B1-A600-D62E9C62DB6C}"/>
              </a:ext>
            </a:extLst>
          </p:cNvPr>
          <p:cNvSpPr>
            <a:spLocks xmlns:a="http://schemas.openxmlformats.org/drawingml/2006/main" noGrp="1"/>
          </p:cNvSpPr>
          <p:nvPr/>
        </p:nvSpPr>
        <p:spPr>
          <a:xfrm xmlns:a="http://schemas.openxmlformats.org/drawingml/2006/main">
            <a:off x="8191500" y="2762250"/>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927"/>
          </a:bodyPr>
          <a:lstStyle xmlns:a="http://schemas.openxmlformats.org/drawingml/2006/main"/>
          <a:p xmlns:a="http://schemas.openxmlformats.org/drawingml/2006/main">
            <a:pPr>
              <a:buNone/>
              <a:defRPr sz="3450" b="1">
                <a:solidFill>
                  <a:srgbClr val="173B31"/>
                </a:solidFill>
                <a:latin typeface="Arial"/>
                <a:ea typeface="Arial"/>
                <a:cs typeface="Arial"/>
              </a:defRPr>
            </a:pPr>
            <a:r>
              <a:rPr sz="3450" b="1">
                <a:solidFill>
                  <a:srgbClr val="173B31"/>
                </a:solidFill>
                <a:latin typeface="Arial"/>
                <a:ea typeface="Arial"/>
                <a:cs typeface="Arial"/>
              </a:rPr>
              <a:t>639</a:t>
            </a:r>
          </a:p>
        </p:txBody>
      </p:sp>
      <p:sp>
        <p:nvSpPr>
          <p:cNvPr id="10" name="Rectangle 9">
            <a:extLst xmlns:a="http://schemas.openxmlformats.org/drawingml/2006/main">
              <a:ext uri="{FF2B5EF4-FFF2-40B4-BE49-F238E27FC236}">
                <a16:creationId xmlns:a16="http://schemas.microsoft.com/office/drawing/2014/main" id="{D7D6CE67-98AB-4E96-9284-D1B39B90928F}"/>
              </a:ext>
            </a:extLst>
          </p:cNvPr>
          <p:cNvSpPr>
            <a:spLocks xmlns:a="http://schemas.openxmlformats.org/drawingml/2006/main" noGrp="1"/>
          </p:cNvSpPr>
          <p:nvPr/>
        </p:nvSpPr>
        <p:spPr>
          <a:xfrm xmlns:a="http://schemas.openxmlformats.org/drawingml/2006/main">
            <a:off x="8191500" y="3333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buNone/>
              <a:defRPr sz="1350" b="0">
                <a:solidFill>
                  <a:srgbClr val="66736D"/>
                </a:solidFill>
                <a:latin typeface="Arial"/>
                <a:ea typeface="Arial"/>
                <a:cs typeface="Arial"/>
              </a:defRPr>
            </a:pPr>
            <a:r>
              <a:rPr sz="1350" b="0">
                <a:solidFill>
                  <a:srgbClr val="66736D"/>
                </a:solidFill>
                <a:latin typeface="Arial"/>
                <a:ea typeface="Arial"/>
                <a:cs typeface="Arial"/>
              </a:rPr>
              <a:t>venues</a:t>
            </a:r>
          </a:p>
        </p:txBody>
      </p:sp>
      <p:sp>
        <p:nvSpPr>
          <p:cNvPr id="11" name="Rectangle 10">
            <a:extLst xmlns:a="http://schemas.openxmlformats.org/drawingml/2006/main">
              <a:ext uri="{FF2B5EF4-FFF2-40B4-BE49-F238E27FC236}">
                <a16:creationId xmlns:a16="http://schemas.microsoft.com/office/drawing/2014/main" id="{BC7CE3B5-17AB-47F8-92C8-568E68B7DA99}"/>
              </a:ext>
            </a:extLst>
          </p:cNvPr>
          <p:cNvSpPr>
            <a:spLocks xmlns:a="http://schemas.openxmlformats.org/drawingml/2006/main" noGrp="1"/>
          </p:cNvSpPr>
          <p:nvPr/>
        </p:nvSpPr>
        <p:spPr>
          <a:xfrm xmlns:a="http://schemas.openxmlformats.org/drawingml/2006/main">
            <a:off x="8191500" y="3800475"/>
            <a:ext cx="2324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Train: 2,547</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Unrated predictions: 511</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All predictions persisted: 3,697</a:t>
            </a:r>
          </a:p>
        </p:txBody>
      </p:sp>
      <p:sp>
        <p:nvSpPr>
          <p:cNvPr id="12" name="Rectangle: Rounded Corners 11">
            <a:extLst xmlns:a="http://schemas.openxmlformats.org/drawingml/2006/main">
              <a:ext uri="{FF2B5EF4-FFF2-40B4-BE49-F238E27FC236}">
                <a16:creationId xmlns:a16="http://schemas.microsoft.com/office/drawing/2014/main" id="{7307FE4E-B5FB-4C37-BF3C-6652E3B6E6F9}"/>
              </a:ext>
            </a:extLst>
          </p:cNvPr>
          <p:cNvSpPr>
            <a:spLocks xmlns:a="http://schemas.openxmlformats.org/drawingml/2006/main" noGrp="1"/>
          </p:cNvSpPr>
          <p:nvPr/>
        </p:nvSpPr>
        <p:spPr>
          <a:xfrm xmlns:a="http://schemas.openxmlformats.org/drawingml/2006/main">
            <a:off x="552450" y="5105400"/>
            <a:ext cx="10306050" cy="781050"/>
          </a:xfrm>
          <a:prstGeom xmlns:a="http://schemas.openxmlformats.org/drawingml/2006/main" prst="roundRect">
            <a:avLst>
              <a:gd name="adj" fmla="val 9756"/>
            </a:avLst>
          </a:prstGeom>
          <a:solidFill xmlns:a="http://schemas.openxmlformats.org/drawingml/2006/main">
            <a:srgbClr val="173B31"/>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98D290D3-711F-4B23-A03D-1B5674BF6567}"/>
              </a:ext>
            </a:extLst>
          </p:cNvPr>
          <p:cNvSpPr>
            <a:spLocks xmlns:a="http://schemas.openxmlformats.org/drawingml/2006/main" noGrp="1"/>
          </p:cNvSpPr>
          <p:nvPr/>
        </p:nvSpPr>
        <p:spPr>
          <a:xfrm xmlns:a="http://schemas.openxmlformats.org/drawingml/2006/main">
            <a:off x="819150" y="5314950"/>
            <a:ext cx="979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5"/>
          </a:bodyPr>
          <a:lstStyle xmlns:a="http://schemas.openxmlformats.org/drawingml/2006/main"/>
          <a:p xmlns:a="http://schemas.openxmlformats.org/drawingml/2006/main">
            <a:pPr>
              <a:buNone/>
              <a:defRPr sz="1575" b="1">
                <a:solidFill>
                  <a:srgbClr val="FFFFFF"/>
                </a:solidFill>
                <a:latin typeface="Arial"/>
                <a:ea typeface="Arial"/>
                <a:cs typeface="Arial"/>
              </a:defRPr>
            </a:pPr>
            <a:r>
              <a:rPr sz="1575" b="1">
                <a:solidFill>
                  <a:srgbClr val="FFFFFF"/>
                </a:solidFill>
                <a:latin typeface="Arial"/>
                <a:ea typeface="Arial"/>
                <a:cs typeface="Arial"/>
              </a:rPr>
              <a:t>Interpretation: useful research signal, but R² = 0.163 means substantial rating variation remains unexplained.</a:t>
            </a:r>
          </a:p>
        </p:txBody>
      </p:sp>
    </p:spTree>
    <p:extLst>
      <p:ext uri="{BB962C8B-B14F-4D97-AF65-F5344CB8AC3E}">
        <p14:creationId xmlns:p14="http://schemas.microsoft.com/office/powerpoint/2010/main" val="2031683382"/>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31BDB71B-261B-4BFF-9490-F6CE9478B2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62"/>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8D363CDF-E5E5-40E5-8A94-DC623AB3AF46}"/>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PRODUCT</a:t>
            </a:r>
          </a:p>
        </p:txBody>
      </p:sp>
      <p:sp>
        <p:nvSpPr>
          <p:cNvPr id="3" name="Rectangle 2">
            <a:extLst xmlns:a="http://schemas.openxmlformats.org/drawingml/2006/main">
              <a:ext uri="{FF2B5EF4-FFF2-40B4-BE49-F238E27FC236}">
                <a16:creationId xmlns:a16="http://schemas.microsoft.com/office/drawing/2014/main" id="{B68E2C5A-B498-436D-8C0D-6819C4E859DC}"/>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29"/>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dashboard converts technical work into a guided evidence trail.</a:t>
            </a:r>
          </a:p>
        </p:txBody>
      </p:sp>
      <p:sp>
        <p:nvSpPr>
          <p:cNvPr id="4" name="Rectangle 3">
            <a:extLst xmlns:a="http://schemas.openxmlformats.org/drawingml/2006/main">
              <a:ext uri="{FF2B5EF4-FFF2-40B4-BE49-F238E27FC236}">
                <a16:creationId xmlns:a16="http://schemas.microsoft.com/office/drawing/2014/main" id="{DCDEDA4B-4D25-4897-ABC6-774487FAFC7E}"/>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Users can move from summary to records, activity coverage, geography and model explanation.</a:t>
            </a:r>
          </a:p>
        </p:txBody>
      </p:sp>
      <p:sp>
        <p:nvSpPr>
          <p:cNvPr id="5" name="Rectangle 4">
            <a:extLst xmlns:a="http://schemas.openxmlformats.org/drawingml/2006/main">
              <a:ext uri="{FF2B5EF4-FFF2-40B4-BE49-F238E27FC236}">
                <a16:creationId xmlns:a16="http://schemas.microsoft.com/office/drawing/2014/main" id="{63FD79B1-07C4-42E1-AE95-F1E9C0D4F46E}"/>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11</a:t>
            </a:r>
          </a:p>
        </p:txBody>
      </p:sp>
      <p:pic>
        <p:nvPicPr>
          <p:cNvPr id="28" name="Picture 22"/>
          <p:cNvPicPr>
            <a:picLocks xmlns:a="http://schemas.openxmlformats.org/drawingml/2006/main" noChangeAspect="1"/>
          </p:cNvPicPr>
          <p:nvPr/>
        </p:nvPicPr>
        <p:blipFill>
          <a:blip xmlns:r="http://schemas.openxmlformats.org/officeDocument/2006/relationships" xmlns:a="http://schemas.openxmlformats.org/drawingml/2006/main" r:embed="R1dc6683ac37c44e4"/>
          <a:srcRect xmlns:a="http://schemas.openxmlformats.org/drawingml/2006/main" l="0" t="24525" r="0" b="24525"/>
          <a:stretch xmlns:a="http://schemas.openxmlformats.org/drawingml/2006/main">
            <a:fillRect l="0" t="0" r="0" b="0"/>
          </a:stretch>
        </p:blipFill>
        <p:spPr>
          <a:xfrm xmlns:a="http://schemas.openxmlformats.org/drawingml/2006/main">
            <a:off x="552450" y="1943100"/>
            <a:ext cx="4953000" cy="1733550"/>
          </a:xfrm>
          <a:prstGeom xmlns:a="http://schemas.openxmlformats.org/drawingml/2006/main" prst="roundRect">
            <a:avLst>
              <a:gd name="adj" fmla="val 6593"/>
            </a:avLst>
          </a:prstGeom>
        </p:spPr>
      </p:pic>
      <p:sp>
        <p:nvSpPr>
          <p:cNvPr id="7" name="Rectangle 6">
            <a:extLst xmlns:a="http://schemas.openxmlformats.org/drawingml/2006/main">
              <a:ext uri="{FF2B5EF4-FFF2-40B4-BE49-F238E27FC236}">
                <a16:creationId xmlns:a16="http://schemas.microsoft.com/office/drawing/2014/main" id="{31E01BC0-E74C-4B7E-8003-36816C78A651}"/>
              </a:ext>
            </a:extLst>
          </p:cNvPr>
          <p:cNvSpPr>
            <a:spLocks xmlns:a="http://schemas.openxmlformats.org/drawingml/2006/main" noGrp="1"/>
          </p:cNvSpPr>
          <p:nvPr/>
        </p:nvSpPr>
        <p:spPr>
          <a:xfrm xmlns:a="http://schemas.openxmlformats.org/drawingml/2006/main">
            <a:off x="552450" y="3343275"/>
            <a:ext cx="4953000" cy="333375"/>
          </a:xfrm>
          <a:prstGeom xmlns:a="http://schemas.openxmlformats.org/drawingml/2006/main" prst="rect">
            <a:avLst/>
          </a:prstGeom>
          <a:solidFill xmlns:a="http://schemas.openxmlformats.org/drawingml/2006/main">
            <a:srgbClr val="173B31"/>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073BD27E-9EE6-4E71-908A-99B48BC596AB}"/>
              </a:ext>
            </a:extLst>
          </p:cNvPr>
          <p:cNvSpPr>
            <a:spLocks xmlns:a="http://schemas.openxmlformats.org/drawingml/2006/main" noGrp="1"/>
          </p:cNvSpPr>
          <p:nvPr/>
        </p:nvSpPr>
        <p:spPr>
          <a:xfrm xmlns:a="http://schemas.openxmlformats.org/drawingml/2006/main">
            <a:off x="704850" y="3419475"/>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1 · Overview</a:t>
            </a:r>
          </a:p>
        </p:txBody>
      </p:sp>
      <p:pic>
        <p:nvPicPr>
          <p:cNvPr id="31" name="Picture 25"/>
          <p:cNvPicPr>
            <a:picLocks xmlns:a="http://schemas.openxmlformats.org/drawingml/2006/main" noChangeAspect="1"/>
          </p:cNvPicPr>
          <p:nvPr/>
        </p:nvPicPr>
        <p:blipFill>
          <a:blip xmlns:r="http://schemas.openxmlformats.org/officeDocument/2006/relationships" xmlns:a="http://schemas.openxmlformats.org/drawingml/2006/main" r:embed="R296ae790796e472c"/>
          <a:srcRect xmlns:a="http://schemas.openxmlformats.org/drawingml/2006/main" l="0" t="0" r="0" b="0"/>
          <a:stretch xmlns:a="http://schemas.openxmlformats.org/drawingml/2006/main">
            <a:fillRect l="0" t="0" r="0" b="0"/>
          </a:stretch>
        </p:blipFill>
        <p:spPr>
          <a:xfrm xmlns:a="http://schemas.openxmlformats.org/drawingml/2006/main">
            <a:off x="5810250" y="1943100"/>
            <a:ext cx="4953000" cy="1733550"/>
          </a:xfrm>
          <a:prstGeom xmlns:a="http://schemas.openxmlformats.org/drawingml/2006/main" prst="roundRect">
            <a:avLst>
              <a:gd name="adj" fmla="val 6593"/>
            </a:avLst>
          </a:prstGeom>
        </p:spPr>
      </p:pic>
      <p:sp>
        <p:nvSpPr>
          <p:cNvPr id="10" name="Rectangle 9">
            <a:extLst xmlns:a="http://schemas.openxmlformats.org/drawingml/2006/main">
              <a:ext uri="{FF2B5EF4-FFF2-40B4-BE49-F238E27FC236}">
                <a16:creationId xmlns:a16="http://schemas.microsoft.com/office/drawing/2014/main" id="{7952F65D-5869-4282-B880-F44058D94C0D}"/>
              </a:ext>
            </a:extLst>
          </p:cNvPr>
          <p:cNvSpPr>
            <a:spLocks xmlns:a="http://schemas.openxmlformats.org/drawingml/2006/main" noGrp="1"/>
          </p:cNvSpPr>
          <p:nvPr/>
        </p:nvSpPr>
        <p:spPr>
          <a:xfrm xmlns:a="http://schemas.openxmlformats.org/drawingml/2006/main">
            <a:off x="5810250" y="3343275"/>
            <a:ext cx="4953000" cy="333375"/>
          </a:xfrm>
          <a:prstGeom xmlns:a="http://schemas.openxmlformats.org/drawingml/2006/main" prst="rect">
            <a:avLst/>
          </a:prstGeom>
          <a:solidFill xmlns:a="http://schemas.openxmlformats.org/drawingml/2006/main">
            <a:srgbClr val="173B31"/>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9D917ACD-519E-4FD7-B402-18F89F706918}"/>
              </a:ext>
            </a:extLst>
          </p:cNvPr>
          <p:cNvSpPr>
            <a:spLocks xmlns:a="http://schemas.openxmlformats.org/drawingml/2006/main" noGrp="1"/>
          </p:cNvSpPr>
          <p:nvPr/>
        </p:nvSpPr>
        <p:spPr>
          <a:xfrm xmlns:a="http://schemas.openxmlformats.org/drawingml/2006/main">
            <a:off x="5962650" y="3419475"/>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2 · Venue explorer + source filters</a:t>
            </a:r>
          </a:p>
        </p:txBody>
      </p:sp>
      <p:pic>
        <p:nvPicPr>
          <p:cNvPr id="34" name="Picture 28"/>
          <p:cNvPicPr>
            <a:picLocks xmlns:a="http://schemas.openxmlformats.org/drawingml/2006/main" noChangeAspect="1"/>
          </p:cNvPicPr>
          <p:nvPr/>
        </p:nvPicPr>
        <p:blipFill>
          <a:blip xmlns:r="http://schemas.openxmlformats.org/officeDocument/2006/relationships" xmlns:a="http://schemas.openxmlformats.org/drawingml/2006/main" r:embed="Rcfb5b98576d248db"/>
          <a:srcRect xmlns:a="http://schemas.openxmlformats.org/drawingml/2006/main" l="0" t="0" r="0" b="0"/>
          <a:stretch xmlns:a="http://schemas.openxmlformats.org/drawingml/2006/main">
            <a:fillRect l="0" t="0" r="0" b="0"/>
          </a:stretch>
        </p:blipFill>
        <p:spPr>
          <a:xfrm xmlns:a="http://schemas.openxmlformats.org/drawingml/2006/main">
            <a:off x="552450" y="4171950"/>
            <a:ext cx="4953000" cy="1733550"/>
          </a:xfrm>
          <a:prstGeom xmlns:a="http://schemas.openxmlformats.org/drawingml/2006/main" prst="roundRect">
            <a:avLst>
              <a:gd name="adj" fmla="val 6593"/>
            </a:avLst>
          </a:prstGeom>
        </p:spPr>
      </p:pic>
      <p:sp>
        <p:nvSpPr>
          <p:cNvPr id="13" name="Rectangle 12">
            <a:extLst xmlns:a="http://schemas.openxmlformats.org/drawingml/2006/main">
              <a:ext uri="{FF2B5EF4-FFF2-40B4-BE49-F238E27FC236}">
                <a16:creationId xmlns:a16="http://schemas.microsoft.com/office/drawing/2014/main" id="{E271AE3E-07AD-47A5-B6A7-743438912999}"/>
              </a:ext>
            </a:extLst>
          </p:cNvPr>
          <p:cNvSpPr>
            <a:spLocks xmlns:a="http://schemas.openxmlformats.org/drawingml/2006/main" noGrp="1"/>
          </p:cNvSpPr>
          <p:nvPr/>
        </p:nvSpPr>
        <p:spPr>
          <a:xfrm xmlns:a="http://schemas.openxmlformats.org/drawingml/2006/main">
            <a:off x="552450" y="5572125"/>
            <a:ext cx="4953000" cy="333375"/>
          </a:xfrm>
          <a:prstGeom xmlns:a="http://schemas.openxmlformats.org/drawingml/2006/main" prst="rect">
            <a:avLst/>
          </a:prstGeom>
          <a:solidFill xmlns:a="http://schemas.openxmlformats.org/drawingml/2006/main">
            <a:srgbClr val="173B31"/>
          </a:solidFill>
          <a:ln xmlns:a="http://schemas.openxmlformats.org/drawingml/2006/main" w="0">
            <a:noFill/>
          </a:ln>
        </p:spPr>
      </p:sp>
      <p:sp>
        <p:nvSpPr>
          <p:cNvPr id="14" name="Rectangle 13">
            <a:extLst xmlns:a="http://schemas.openxmlformats.org/drawingml/2006/main">
              <a:ext uri="{FF2B5EF4-FFF2-40B4-BE49-F238E27FC236}">
                <a16:creationId xmlns:a16="http://schemas.microsoft.com/office/drawing/2014/main" id="{7C82F080-260E-472A-A0FF-7B6B23E8A554}"/>
              </a:ext>
            </a:extLst>
          </p:cNvPr>
          <p:cNvSpPr>
            <a:spLocks xmlns:a="http://schemas.openxmlformats.org/drawingml/2006/main" noGrp="1"/>
          </p:cNvSpPr>
          <p:nvPr/>
        </p:nvSpPr>
        <p:spPr>
          <a:xfrm xmlns:a="http://schemas.openxmlformats.org/drawingml/2006/main">
            <a:off x="704850" y="5648325"/>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3 · Activities &amp; services</a:t>
            </a:r>
          </a:p>
        </p:txBody>
      </p:sp>
      <p:pic>
        <p:nvPicPr>
          <p:cNvPr id="37" name="Picture 31"/>
          <p:cNvPicPr>
            <a:picLocks xmlns:a="http://schemas.openxmlformats.org/drawingml/2006/main" noChangeAspect="1"/>
          </p:cNvPicPr>
          <p:nvPr/>
        </p:nvPicPr>
        <p:blipFill>
          <a:blip xmlns:r="http://schemas.openxmlformats.org/officeDocument/2006/relationships" xmlns:a="http://schemas.openxmlformats.org/drawingml/2006/main" r:embed="Ra72bf34b1cfc43c5"/>
          <a:srcRect xmlns:a="http://schemas.openxmlformats.org/drawingml/2006/main" l="0" t="24525" r="0" b="24525"/>
          <a:stretch xmlns:a="http://schemas.openxmlformats.org/drawingml/2006/main">
            <a:fillRect l="0" t="0" r="0" b="0"/>
          </a:stretch>
        </p:blipFill>
        <p:spPr>
          <a:xfrm xmlns:a="http://schemas.openxmlformats.org/drawingml/2006/main">
            <a:off x="5810250" y="4171950"/>
            <a:ext cx="4953000" cy="1733550"/>
          </a:xfrm>
          <a:prstGeom xmlns:a="http://schemas.openxmlformats.org/drawingml/2006/main" prst="roundRect">
            <a:avLst>
              <a:gd name="adj" fmla="val 6593"/>
            </a:avLst>
          </a:prstGeom>
        </p:spPr>
      </p:pic>
      <p:sp>
        <p:nvSpPr>
          <p:cNvPr id="16" name="Rectangle 15">
            <a:extLst xmlns:a="http://schemas.openxmlformats.org/drawingml/2006/main">
              <a:ext uri="{FF2B5EF4-FFF2-40B4-BE49-F238E27FC236}">
                <a16:creationId xmlns:a16="http://schemas.microsoft.com/office/drawing/2014/main" id="{C94DE788-6BD3-4303-BE8B-8437C4EBFCBA}"/>
              </a:ext>
            </a:extLst>
          </p:cNvPr>
          <p:cNvSpPr>
            <a:spLocks xmlns:a="http://schemas.openxmlformats.org/drawingml/2006/main" noGrp="1"/>
          </p:cNvSpPr>
          <p:nvPr/>
        </p:nvSpPr>
        <p:spPr>
          <a:xfrm xmlns:a="http://schemas.openxmlformats.org/drawingml/2006/main">
            <a:off x="5810250" y="5572125"/>
            <a:ext cx="4953000" cy="333375"/>
          </a:xfrm>
          <a:prstGeom xmlns:a="http://schemas.openxmlformats.org/drawingml/2006/main" prst="rect">
            <a:avLst/>
          </a:prstGeom>
          <a:solidFill xmlns:a="http://schemas.openxmlformats.org/drawingml/2006/main">
            <a:srgbClr val="173B31"/>
          </a:solidFill>
          <a:ln xmlns:a="http://schemas.openxmlformats.org/drawingml/2006/main" w="0">
            <a:noFill/>
          </a:ln>
        </p:spPr>
      </p:sp>
      <p:sp>
        <p:nvSpPr>
          <p:cNvPr id="17" name="Rectangle 16">
            <a:extLst xmlns:a="http://schemas.openxmlformats.org/drawingml/2006/main">
              <a:ext uri="{FF2B5EF4-FFF2-40B4-BE49-F238E27FC236}">
                <a16:creationId xmlns:a16="http://schemas.microsoft.com/office/drawing/2014/main" id="{C2DBC815-994F-45B1-B2C9-9816067C00EC}"/>
              </a:ext>
            </a:extLst>
          </p:cNvPr>
          <p:cNvSpPr>
            <a:spLocks xmlns:a="http://schemas.openxmlformats.org/drawingml/2006/main" noGrp="1"/>
          </p:cNvSpPr>
          <p:nvPr/>
        </p:nvSpPr>
        <p:spPr>
          <a:xfrm xmlns:a="http://schemas.openxmlformats.org/drawingml/2006/main">
            <a:off x="5962650" y="5648325"/>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4 · ML explanation</a:t>
            </a:r>
          </a:p>
        </p:txBody>
      </p:sp>
    </p:spTree>
    <p:extLst>
      <p:ext uri="{BB962C8B-B14F-4D97-AF65-F5344CB8AC3E}">
        <p14:creationId xmlns:p14="http://schemas.microsoft.com/office/powerpoint/2010/main" val="1507837201"/>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9C80FFB5-6CB8-4623-936C-1D5DE9B994D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029"/>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E06269B2-3512-4016-8EC8-ECD1AA7ED4CF}"/>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COMMUNITY DATA</a:t>
            </a:r>
          </a:p>
        </p:txBody>
      </p:sp>
      <p:sp>
        <p:nvSpPr>
          <p:cNvPr id="3" name="Rectangle 2">
            <a:extLst xmlns:a="http://schemas.openxmlformats.org/drawingml/2006/main">
              <a:ext uri="{FF2B5EF4-FFF2-40B4-BE49-F238E27FC236}">
                <a16:creationId xmlns:a16="http://schemas.microsoft.com/office/drawing/2014/main" id="{DA77BE79-51AD-4D2A-A062-AD83D2A8F3FB}"/>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Public contribution is allowed — direct database editing is not.</a:t>
            </a:r>
          </a:p>
        </p:txBody>
      </p:sp>
      <p:sp>
        <p:nvSpPr>
          <p:cNvPr id="4" name="Rectangle 3">
            <a:extLst xmlns:a="http://schemas.openxmlformats.org/drawingml/2006/main">
              <a:ext uri="{FF2B5EF4-FFF2-40B4-BE49-F238E27FC236}">
                <a16:creationId xmlns:a16="http://schemas.microsoft.com/office/drawing/2014/main" id="{DA685698-D8F5-4F43-8D2B-62A99D521C8E}"/>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New venues start pending; approved claims become discoverable without entering historical analytics.</a:t>
            </a:r>
          </a:p>
        </p:txBody>
      </p:sp>
      <p:sp>
        <p:nvSpPr>
          <p:cNvPr id="5" name="Rectangle 4">
            <a:extLst xmlns:a="http://schemas.openxmlformats.org/drawingml/2006/main">
              <a:ext uri="{FF2B5EF4-FFF2-40B4-BE49-F238E27FC236}">
                <a16:creationId xmlns:a16="http://schemas.microsoft.com/office/drawing/2014/main" id="{EC3C8A1A-CAB7-4038-AD47-C80646B6934E}"/>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12</a:t>
            </a:r>
          </a:p>
        </p:txBody>
      </p:sp>
      <p:sp>
        <p:nvSpPr>
          <p:cNvPr id="6" name="Rectangle 5">
            <a:extLst xmlns:a="http://schemas.openxmlformats.org/drawingml/2006/main">
              <a:ext uri="{FF2B5EF4-FFF2-40B4-BE49-F238E27FC236}">
                <a16:creationId xmlns:a16="http://schemas.microsoft.com/office/drawing/2014/main" id="{33CDE4D3-7849-4EC8-ABD8-737056792963}"/>
              </a:ext>
            </a:extLst>
          </p:cNvPr>
          <p:cNvSpPr>
            <a:spLocks xmlns:a="http://schemas.openxmlformats.org/drawingml/2006/main" noGrp="1"/>
          </p:cNvSpPr>
          <p:nvPr/>
        </p:nvSpPr>
        <p:spPr>
          <a:xfrm xmlns:a="http://schemas.openxmlformats.org/drawingml/2006/main">
            <a:off x="2895600" y="2971800"/>
            <a:ext cx="1104900" cy="66675"/>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B4291428-2F55-4B74-AC6A-82A37A0902CD}"/>
              </a:ext>
            </a:extLst>
          </p:cNvPr>
          <p:cNvSpPr>
            <a:spLocks xmlns:a="http://schemas.openxmlformats.org/drawingml/2006/main" noGrp="1"/>
          </p:cNvSpPr>
          <p:nvPr/>
        </p:nvSpPr>
        <p:spPr>
          <a:xfrm xmlns:a="http://schemas.openxmlformats.org/drawingml/2006/main">
            <a:off x="5562600" y="2971800"/>
            <a:ext cx="1104900" cy="66675"/>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E41D632C-32BD-4681-ABDE-4F9CD51331FD}"/>
              </a:ext>
            </a:extLst>
          </p:cNvPr>
          <p:cNvSpPr>
            <a:spLocks xmlns:a="http://schemas.openxmlformats.org/drawingml/2006/main" noGrp="1"/>
          </p:cNvSpPr>
          <p:nvPr/>
        </p:nvSpPr>
        <p:spPr>
          <a:xfrm xmlns:a="http://schemas.openxmlformats.org/drawingml/2006/main">
            <a:off x="8229600" y="2971800"/>
            <a:ext cx="1104900" cy="66675"/>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9" name="Rectangle: Rounded Corners 8">
            <a:extLst xmlns:a="http://schemas.openxmlformats.org/drawingml/2006/main">
              <a:ext uri="{FF2B5EF4-FFF2-40B4-BE49-F238E27FC236}">
                <a16:creationId xmlns:a16="http://schemas.microsoft.com/office/drawing/2014/main" id="{86EA9DFA-EDA5-41E0-9BD2-37D5EE3BA621}"/>
              </a:ext>
            </a:extLst>
          </p:cNvPr>
          <p:cNvSpPr>
            <a:spLocks xmlns:a="http://schemas.openxmlformats.org/drawingml/2006/main" noGrp="1"/>
          </p:cNvSpPr>
          <p:nvPr/>
        </p:nvSpPr>
        <p:spPr>
          <a:xfrm xmlns:a="http://schemas.openxmlformats.org/drawingml/2006/main">
            <a:off x="647700" y="2381250"/>
            <a:ext cx="1943100" cy="1333500"/>
          </a:xfrm>
          <a:prstGeom xmlns:a="http://schemas.openxmlformats.org/drawingml/2006/main" prst="roundRect">
            <a:avLst>
              <a:gd name="adj" fmla="val 5714"/>
            </a:avLst>
          </a:prstGeom>
          <a:solidFill xmlns:a="http://schemas.openxmlformats.org/drawingml/2006/main">
            <a:srgbClr val="F5E7CB"/>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C5D69106-F7CB-4A68-B71B-FF0F902FFE8F}"/>
              </a:ext>
            </a:extLst>
          </p:cNvPr>
          <p:cNvSpPr>
            <a:spLocks xmlns:a="http://schemas.openxmlformats.org/drawingml/2006/main" noGrp="1"/>
          </p:cNvSpPr>
          <p:nvPr/>
        </p:nvSpPr>
        <p:spPr>
          <a:xfrm xmlns:a="http://schemas.openxmlformats.org/drawingml/2006/main">
            <a:off x="857250" y="25717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Submit</a:t>
            </a:r>
          </a:p>
        </p:txBody>
      </p:sp>
      <p:sp>
        <p:nvSpPr>
          <p:cNvPr id="11" name="Rectangle 10">
            <a:extLst xmlns:a="http://schemas.openxmlformats.org/drawingml/2006/main">
              <a:ext uri="{FF2B5EF4-FFF2-40B4-BE49-F238E27FC236}">
                <a16:creationId xmlns:a16="http://schemas.microsoft.com/office/drawing/2014/main" id="{3DD7E89B-E4FE-443D-B405-D11F6BF7ECD0}"/>
              </a:ext>
            </a:extLst>
          </p:cNvPr>
          <p:cNvSpPr>
            <a:spLocks xmlns:a="http://schemas.openxmlformats.org/drawingml/2006/main" noGrp="1"/>
          </p:cNvSpPr>
          <p:nvPr/>
        </p:nvSpPr>
        <p:spPr>
          <a:xfrm xmlns:a="http://schemas.openxmlformats.org/drawingml/2006/main">
            <a:off x="857250" y="30099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Public form</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 Turnstile</a:t>
            </a:r>
          </a:p>
        </p:txBody>
      </p:sp>
      <p:sp>
        <p:nvSpPr>
          <p:cNvPr id="12" name="Rectangle: Rounded Corners 11">
            <a:extLst xmlns:a="http://schemas.openxmlformats.org/drawingml/2006/main">
              <a:ext uri="{FF2B5EF4-FFF2-40B4-BE49-F238E27FC236}">
                <a16:creationId xmlns:a16="http://schemas.microsoft.com/office/drawing/2014/main" id="{F7EF14FF-9AEE-4D30-944E-6C8527191D08}"/>
              </a:ext>
            </a:extLst>
          </p:cNvPr>
          <p:cNvSpPr>
            <a:spLocks xmlns:a="http://schemas.openxmlformats.org/drawingml/2006/main" noGrp="1"/>
          </p:cNvSpPr>
          <p:nvPr/>
        </p:nvSpPr>
        <p:spPr>
          <a:xfrm xmlns:a="http://schemas.openxmlformats.org/drawingml/2006/main">
            <a:off x="4000500" y="2381250"/>
            <a:ext cx="1943100" cy="1333500"/>
          </a:xfrm>
          <a:prstGeom xmlns:a="http://schemas.openxmlformats.org/drawingml/2006/main" prst="roundRect">
            <a:avLst>
              <a:gd name="adj" fmla="val 5714"/>
            </a:avLst>
          </a:prstGeom>
          <a:solidFill xmlns:a="http://schemas.openxmlformats.org/drawingml/2006/main">
            <a:srgbClr val="F1D8D2"/>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AE9F18A0-29F4-4A3D-B897-794327CE37CE}"/>
              </a:ext>
            </a:extLst>
          </p:cNvPr>
          <p:cNvSpPr>
            <a:spLocks xmlns:a="http://schemas.openxmlformats.org/drawingml/2006/main" noGrp="1"/>
          </p:cNvSpPr>
          <p:nvPr/>
        </p:nvSpPr>
        <p:spPr>
          <a:xfrm xmlns:a="http://schemas.openxmlformats.org/drawingml/2006/main">
            <a:off x="4210050" y="25717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Pending</a:t>
            </a:r>
          </a:p>
        </p:txBody>
      </p:sp>
      <p:sp>
        <p:nvSpPr>
          <p:cNvPr id="14" name="Rectangle 13">
            <a:extLst xmlns:a="http://schemas.openxmlformats.org/drawingml/2006/main">
              <a:ext uri="{FF2B5EF4-FFF2-40B4-BE49-F238E27FC236}">
                <a16:creationId xmlns:a16="http://schemas.microsoft.com/office/drawing/2014/main" id="{A0637D12-DBD9-4855-A4CF-B99C38C56B55}"/>
              </a:ext>
            </a:extLst>
          </p:cNvPr>
          <p:cNvSpPr>
            <a:spLocks xmlns:a="http://schemas.openxmlformats.org/drawingml/2006/main" noGrp="1"/>
          </p:cNvSpPr>
          <p:nvPr/>
        </p:nvSpPr>
        <p:spPr>
          <a:xfrm xmlns:a="http://schemas.openxmlformats.org/drawingml/2006/main">
            <a:off x="4210050" y="30099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Private until</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owner review</a:t>
            </a:r>
          </a:p>
        </p:txBody>
      </p:sp>
      <p:sp>
        <p:nvSpPr>
          <p:cNvPr id="15" name="Rectangle: Rounded Corners 14">
            <a:extLst xmlns:a="http://schemas.openxmlformats.org/drawingml/2006/main">
              <a:ext uri="{FF2B5EF4-FFF2-40B4-BE49-F238E27FC236}">
                <a16:creationId xmlns:a16="http://schemas.microsoft.com/office/drawing/2014/main" id="{426995EE-9131-4468-BC27-6FFABA62366E}"/>
              </a:ext>
            </a:extLst>
          </p:cNvPr>
          <p:cNvSpPr>
            <a:spLocks xmlns:a="http://schemas.openxmlformats.org/drawingml/2006/main" noGrp="1"/>
          </p:cNvSpPr>
          <p:nvPr/>
        </p:nvSpPr>
        <p:spPr>
          <a:xfrm xmlns:a="http://schemas.openxmlformats.org/drawingml/2006/main">
            <a:off x="6667500" y="2381250"/>
            <a:ext cx="1943100" cy="1333500"/>
          </a:xfrm>
          <a:prstGeom xmlns:a="http://schemas.openxmlformats.org/drawingml/2006/main" prst="roundRect">
            <a:avLst>
              <a:gd name="adj" fmla="val 5714"/>
            </a:avLst>
          </a:prstGeom>
          <a:solidFill xmlns:a="http://schemas.openxmlformats.org/drawingml/2006/main">
            <a:srgbClr val="DDECE2"/>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9292D356-1DF9-4B20-A058-BBE2AC77E12C}"/>
              </a:ext>
            </a:extLst>
          </p:cNvPr>
          <p:cNvSpPr>
            <a:spLocks xmlns:a="http://schemas.openxmlformats.org/drawingml/2006/main" noGrp="1"/>
          </p:cNvSpPr>
          <p:nvPr/>
        </p:nvSpPr>
        <p:spPr>
          <a:xfrm xmlns:a="http://schemas.openxmlformats.org/drawingml/2006/main">
            <a:off x="6877050" y="25717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Moderate</a:t>
            </a:r>
          </a:p>
        </p:txBody>
      </p:sp>
      <p:sp>
        <p:nvSpPr>
          <p:cNvPr id="17" name="Rectangle 16">
            <a:extLst xmlns:a="http://schemas.openxmlformats.org/drawingml/2006/main">
              <a:ext uri="{FF2B5EF4-FFF2-40B4-BE49-F238E27FC236}">
                <a16:creationId xmlns:a16="http://schemas.microsoft.com/office/drawing/2014/main" id="{233479A3-B736-45F3-BD9A-1052DD989C0E}"/>
              </a:ext>
            </a:extLst>
          </p:cNvPr>
          <p:cNvSpPr>
            <a:spLocks xmlns:a="http://schemas.openxmlformats.org/drawingml/2006/main" noGrp="1"/>
          </p:cNvSpPr>
          <p:nvPr/>
        </p:nvSpPr>
        <p:spPr>
          <a:xfrm xmlns:a="http://schemas.openxmlformats.org/drawingml/2006/main">
            <a:off x="6877050" y="30099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Approve, reject</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or add note</a:t>
            </a:r>
          </a:p>
        </p:txBody>
      </p:sp>
      <p:sp>
        <p:nvSpPr>
          <p:cNvPr id="18" name="Rectangle: Rounded Corners 17">
            <a:extLst xmlns:a="http://schemas.openxmlformats.org/drawingml/2006/main">
              <a:ext uri="{FF2B5EF4-FFF2-40B4-BE49-F238E27FC236}">
                <a16:creationId xmlns:a16="http://schemas.microsoft.com/office/drawing/2014/main" id="{EEA1A1DA-9FB1-4037-8BCE-1BB83FBB37BF}"/>
              </a:ext>
            </a:extLst>
          </p:cNvPr>
          <p:cNvSpPr>
            <a:spLocks xmlns:a="http://schemas.openxmlformats.org/drawingml/2006/main" noGrp="1"/>
          </p:cNvSpPr>
          <p:nvPr/>
        </p:nvSpPr>
        <p:spPr>
          <a:xfrm xmlns:a="http://schemas.openxmlformats.org/drawingml/2006/main">
            <a:off x="9334500" y="2381250"/>
            <a:ext cx="1943100" cy="1333500"/>
          </a:xfrm>
          <a:prstGeom xmlns:a="http://schemas.openxmlformats.org/drawingml/2006/main" prst="roundRect">
            <a:avLst>
              <a:gd name="adj" fmla="val 5714"/>
            </a:avLst>
          </a:prstGeom>
          <a:solidFill xmlns:a="http://schemas.openxmlformats.org/drawingml/2006/main">
            <a:srgbClr val="DFE9F4"/>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4E8E4D0E-BEDC-40FE-80E9-B0D23DFEFD44}"/>
              </a:ext>
            </a:extLst>
          </p:cNvPr>
          <p:cNvSpPr>
            <a:spLocks xmlns:a="http://schemas.openxmlformats.org/drawingml/2006/main" noGrp="1"/>
          </p:cNvSpPr>
          <p:nvPr/>
        </p:nvSpPr>
        <p:spPr>
          <a:xfrm xmlns:a="http://schemas.openxmlformats.org/drawingml/2006/main">
            <a:off x="9544050" y="25717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Publish</a:t>
            </a:r>
          </a:p>
        </p:txBody>
      </p:sp>
      <p:sp>
        <p:nvSpPr>
          <p:cNvPr id="20" name="Rectangle 19">
            <a:extLst xmlns:a="http://schemas.openxmlformats.org/drawingml/2006/main">
              <a:ext uri="{FF2B5EF4-FFF2-40B4-BE49-F238E27FC236}">
                <a16:creationId xmlns:a16="http://schemas.microsoft.com/office/drawing/2014/main" id="{139698C1-1BCB-4846-9732-4147A297B57C}"/>
              </a:ext>
            </a:extLst>
          </p:cNvPr>
          <p:cNvSpPr>
            <a:spLocks xmlns:a="http://schemas.openxmlformats.org/drawingml/2006/main" noGrp="1"/>
          </p:cNvSpPr>
          <p:nvPr/>
        </p:nvSpPr>
        <p:spPr>
          <a:xfrm xmlns:a="http://schemas.openxmlformats.org/drawingml/2006/main">
            <a:off x="9544050" y="30099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Venue Explorer +</a:t>
            </a:r>
          </a:p>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activity counts</a:t>
            </a:r>
          </a:p>
        </p:txBody>
      </p:sp>
      <p:pic>
        <p:nvPicPr>
          <p:cNvPr id="47" name="Picture 43"/>
          <p:cNvPicPr>
            <a:picLocks xmlns:a="http://schemas.openxmlformats.org/drawingml/2006/main" noChangeAspect="1"/>
          </p:cNvPicPr>
          <p:nvPr/>
        </p:nvPicPr>
        <p:blipFill>
          <a:blip xmlns:r="http://schemas.openxmlformats.org/officeDocument/2006/relationships" xmlns:a="http://schemas.openxmlformats.org/drawingml/2006/main" r:embed="R917d1c53427c4681"/>
          <a:srcRect xmlns:a="http://schemas.openxmlformats.org/drawingml/2006/main" l="0" t="24596" r="0" b="24596"/>
          <a:stretch xmlns:a="http://schemas.openxmlformats.org/drawingml/2006/main">
            <a:fillRect l="0" t="0" r="0" b="0"/>
          </a:stretch>
        </p:blipFill>
        <p:spPr>
          <a:xfrm xmlns:a="http://schemas.openxmlformats.org/drawingml/2006/main">
            <a:off x="647700" y="4286250"/>
            <a:ext cx="4857750" cy="1695450"/>
          </a:xfrm>
          <a:prstGeom xmlns:a="http://schemas.openxmlformats.org/drawingml/2006/main" prst="roundRect">
            <a:avLst>
              <a:gd name="adj" fmla="val 6742"/>
            </a:avLst>
          </a:prstGeom>
        </p:spPr>
      </p:pic>
      <p:pic>
        <p:nvPicPr>
          <p:cNvPr id="48" name="Picture 44"/>
          <p:cNvPicPr>
            <a:picLocks xmlns:a="http://schemas.openxmlformats.org/drawingml/2006/main" noChangeAspect="1"/>
          </p:cNvPicPr>
          <p:nvPr/>
        </p:nvPicPr>
        <p:blipFill>
          <a:blip xmlns:r="http://schemas.openxmlformats.org/officeDocument/2006/relationships" xmlns:a="http://schemas.openxmlformats.org/drawingml/2006/main" r:embed="R11c73033c3724aa6"/>
          <a:srcRect xmlns:a="http://schemas.openxmlformats.org/drawingml/2006/main" l="0" t="24588" r="0" b="24588"/>
          <a:stretch xmlns:a="http://schemas.openxmlformats.org/drawingml/2006/main">
            <a:fillRect l="0" t="0" r="0" b="0"/>
          </a:stretch>
        </p:blipFill>
        <p:spPr>
          <a:xfrm xmlns:a="http://schemas.openxmlformats.org/drawingml/2006/main">
            <a:off x="5924550" y="4286250"/>
            <a:ext cx="4857750" cy="1695450"/>
          </a:xfrm>
          <a:prstGeom xmlns:a="http://schemas.openxmlformats.org/drawingml/2006/main" prst="roundRect">
            <a:avLst>
              <a:gd name="adj" fmla="val 6742"/>
            </a:avLst>
          </a:prstGeom>
        </p:spPr>
      </p:pic>
      <p:sp>
        <p:nvSpPr>
          <p:cNvPr id="23" name="Rectangle 22">
            <a:extLst xmlns:a="http://schemas.openxmlformats.org/drawingml/2006/main">
              <a:ext uri="{FF2B5EF4-FFF2-40B4-BE49-F238E27FC236}">
                <a16:creationId xmlns:a16="http://schemas.microsoft.com/office/drawing/2014/main" id="{8A732931-E8E3-49B1-9677-DC48610D8DC9}"/>
              </a:ext>
            </a:extLst>
          </p:cNvPr>
          <p:cNvSpPr>
            <a:spLocks xmlns:a="http://schemas.openxmlformats.org/drawingml/2006/main" noGrp="1"/>
          </p:cNvSpPr>
          <p:nvPr/>
        </p:nvSpPr>
        <p:spPr>
          <a:xfrm xmlns:a="http://schemas.openxmlformats.org/drawingml/2006/main">
            <a:off x="2857500" y="6096000"/>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C64235"/>
                </a:solidFill>
                <a:latin typeface="Arial"/>
                <a:ea typeface="Arial"/>
                <a:cs typeface="Arial"/>
              </a:defRPr>
            </a:pPr>
            <a:r>
              <a:rPr sz="1275" b="1">
                <a:solidFill>
                  <a:srgbClr val="C64235"/>
                </a:solidFill>
                <a:latin typeface="Arial"/>
                <a:ea typeface="Arial"/>
                <a:cs typeface="Arial"/>
              </a:rPr>
              <a:t>Historical KPIs, features and predictions never include community rows.</a:t>
            </a:r>
          </a:p>
        </p:txBody>
      </p:sp>
    </p:spTree>
    <p:extLst>
      <p:ext uri="{BB962C8B-B14F-4D97-AF65-F5344CB8AC3E}">
        <p14:creationId xmlns:p14="http://schemas.microsoft.com/office/powerpoint/2010/main" val="1329518559"/>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40549B77-E0CC-4D29-93CD-CAA0A46CDD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64235"/>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A227215E-31EC-4D47-BDE0-9527BAEBDF00}"/>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DEPLOYMENT</a:t>
            </a:r>
          </a:p>
        </p:txBody>
      </p:sp>
      <p:sp>
        <p:nvSpPr>
          <p:cNvPr id="3" name="Rectangle 2">
            <a:extLst xmlns:a="http://schemas.openxmlformats.org/drawingml/2006/main">
              <a:ext uri="{FF2B5EF4-FFF2-40B4-BE49-F238E27FC236}">
                <a16:creationId xmlns:a16="http://schemas.microsoft.com/office/drawing/2014/main" id="{44DED46C-E022-4677-9866-5AB62D2068FD}"/>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Three services, one reproducible release path.</a:t>
            </a:r>
          </a:p>
        </p:txBody>
      </p:sp>
      <p:sp>
        <p:nvSpPr>
          <p:cNvPr id="4" name="Rectangle 3">
            <a:extLst xmlns:a="http://schemas.openxmlformats.org/drawingml/2006/main">
              <a:ext uri="{FF2B5EF4-FFF2-40B4-BE49-F238E27FC236}">
                <a16:creationId xmlns:a16="http://schemas.microsoft.com/office/drawing/2014/main" id="{A637C7F8-21F8-43CA-9AE3-D53264ABF26F}"/>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GitHub stores source, Supabase stores data, and Cloudflare serves the public application.</a:t>
            </a:r>
          </a:p>
        </p:txBody>
      </p:sp>
      <p:sp>
        <p:nvSpPr>
          <p:cNvPr id="5" name="Rectangle 4">
            <a:extLst xmlns:a="http://schemas.openxmlformats.org/drawingml/2006/main">
              <a:ext uri="{FF2B5EF4-FFF2-40B4-BE49-F238E27FC236}">
                <a16:creationId xmlns:a16="http://schemas.microsoft.com/office/drawing/2014/main" id="{0429AEBC-51B9-40FB-AD0F-6643EB922119}"/>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13</a:t>
            </a:r>
          </a:p>
        </p:txBody>
      </p:sp>
      <p:sp>
        <p:nvSpPr>
          <p:cNvPr id="6" name="Rectangle 5">
            <a:extLst xmlns:a="http://schemas.openxmlformats.org/drawingml/2006/main">
              <a:ext uri="{FF2B5EF4-FFF2-40B4-BE49-F238E27FC236}">
                <a16:creationId xmlns:a16="http://schemas.microsoft.com/office/drawing/2014/main" id="{4DD8EBCB-7EBD-4FB2-B690-433CC0EB70FD}"/>
              </a:ext>
            </a:extLst>
          </p:cNvPr>
          <p:cNvSpPr>
            <a:spLocks xmlns:a="http://schemas.openxmlformats.org/drawingml/2006/main" noGrp="1"/>
          </p:cNvSpPr>
          <p:nvPr/>
        </p:nvSpPr>
        <p:spPr>
          <a:xfrm xmlns:a="http://schemas.openxmlformats.org/drawingml/2006/main">
            <a:off x="2533650" y="2952750"/>
            <a:ext cx="1524000" cy="7620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F7541FD1-FC6D-4C33-9B7A-B0B49EFCD492}"/>
              </a:ext>
            </a:extLst>
          </p:cNvPr>
          <p:cNvSpPr>
            <a:spLocks xmlns:a="http://schemas.openxmlformats.org/drawingml/2006/main" noGrp="1"/>
          </p:cNvSpPr>
          <p:nvPr/>
        </p:nvSpPr>
        <p:spPr>
          <a:xfrm xmlns:a="http://schemas.openxmlformats.org/drawingml/2006/main">
            <a:off x="5867400" y="2952750"/>
            <a:ext cx="1524000" cy="7620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0AEA4754-6B83-49D7-9B25-9427580F67B7}"/>
              </a:ext>
            </a:extLst>
          </p:cNvPr>
          <p:cNvSpPr>
            <a:spLocks xmlns:a="http://schemas.openxmlformats.org/drawingml/2006/main" noGrp="1"/>
          </p:cNvSpPr>
          <p:nvPr/>
        </p:nvSpPr>
        <p:spPr>
          <a:xfrm xmlns:a="http://schemas.openxmlformats.org/drawingml/2006/main">
            <a:off x="9201150" y="2952750"/>
            <a:ext cx="1333500" cy="76200"/>
          </a:xfrm>
          <a:prstGeom xmlns:a="http://schemas.openxmlformats.org/drawingml/2006/main" prst="rect">
            <a:avLst/>
          </a:prstGeom>
          <a:solidFill xmlns:a="http://schemas.openxmlformats.org/drawingml/2006/main">
            <a:srgbClr val="D7D3C9"/>
          </a:solidFill>
          <a:ln xmlns:a="http://schemas.openxmlformats.org/drawingml/2006/main" w="0">
            <a:noFill/>
          </a:ln>
        </p:spPr>
      </p:sp>
      <p:sp>
        <p:nvSpPr>
          <p:cNvPr id="9" name="Rectangle: Rounded Corners 8">
            <a:extLst xmlns:a="http://schemas.openxmlformats.org/drawingml/2006/main">
              <a:ext uri="{FF2B5EF4-FFF2-40B4-BE49-F238E27FC236}">
                <a16:creationId xmlns:a16="http://schemas.microsoft.com/office/drawing/2014/main" id="{1A1733A3-4B5B-4F01-A9CD-72DA1F957976}"/>
              </a:ext>
            </a:extLst>
          </p:cNvPr>
          <p:cNvSpPr>
            <a:spLocks xmlns:a="http://schemas.openxmlformats.org/drawingml/2006/main" noGrp="1"/>
          </p:cNvSpPr>
          <p:nvPr/>
        </p:nvSpPr>
        <p:spPr>
          <a:xfrm xmlns:a="http://schemas.openxmlformats.org/drawingml/2006/main">
            <a:off x="685800" y="2343150"/>
            <a:ext cx="1809750" cy="1371600"/>
          </a:xfrm>
          <a:prstGeom xmlns:a="http://schemas.openxmlformats.org/drawingml/2006/main" prst="roundRect">
            <a:avLst>
              <a:gd name="adj" fmla="val 5556"/>
            </a:avLst>
          </a:prstGeom>
          <a:solidFill xmlns:a="http://schemas.openxmlformats.org/drawingml/2006/main">
            <a:srgbClr val="173B31"/>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B9E8D083-9D93-43DE-AA8D-F5D17DF1763B}"/>
              </a:ext>
            </a:extLst>
          </p:cNvPr>
          <p:cNvSpPr>
            <a:spLocks xmlns:a="http://schemas.openxmlformats.org/drawingml/2006/main" noGrp="1"/>
          </p:cNvSpPr>
          <p:nvPr/>
        </p:nvSpPr>
        <p:spPr>
          <a:xfrm xmlns:a="http://schemas.openxmlformats.org/drawingml/2006/main">
            <a:off x="838200" y="2533650"/>
            <a:ext cx="146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GitHub</a:t>
            </a:r>
          </a:p>
        </p:txBody>
      </p:sp>
      <p:sp>
        <p:nvSpPr>
          <p:cNvPr id="11" name="Rectangle 10">
            <a:extLst xmlns:a="http://schemas.openxmlformats.org/drawingml/2006/main">
              <a:ext uri="{FF2B5EF4-FFF2-40B4-BE49-F238E27FC236}">
                <a16:creationId xmlns:a16="http://schemas.microsoft.com/office/drawing/2014/main" id="{7D9A9AC3-EE3D-4ADB-82C4-659BCE64E95E}"/>
              </a:ext>
            </a:extLst>
          </p:cNvPr>
          <p:cNvSpPr>
            <a:spLocks xmlns:a="http://schemas.openxmlformats.org/drawingml/2006/main" noGrp="1"/>
          </p:cNvSpPr>
          <p:nvPr/>
        </p:nvSpPr>
        <p:spPr>
          <a:xfrm xmlns:a="http://schemas.openxmlformats.org/drawingml/2006/main">
            <a:off x="838200" y="2971800"/>
            <a:ext cx="146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Versioned code</a:t>
            </a:r>
          </a:p>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Actions + tests</a:t>
            </a:r>
          </a:p>
        </p:txBody>
      </p:sp>
      <p:sp>
        <p:nvSpPr>
          <p:cNvPr id="12" name="Rectangle: Rounded Corners 11">
            <a:extLst xmlns:a="http://schemas.openxmlformats.org/drawingml/2006/main">
              <a:ext uri="{FF2B5EF4-FFF2-40B4-BE49-F238E27FC236}">
                <a16:creationId xmlns:a16="http://schemas.microsoft.com/office/drawing/2014/main" id="{F9264A52-29F4-473C-B6CE-1CBE904C43D9}"/>
              </a:ext>
            </a:extLst>
          </p:cNvPr>
          <p:cNvSpPr>
            <a:spLocks xmlns:a="http://schemas.openxmlformats.org/drawingml/2006/main" noGrp="1"/>
          </p:cNvSpPr>
          <p:nvPr/>
        </p:nvSpPr>
        <p:spPr>
          <a:xfrm xmlns:a="http://schemas.openxmlformats.org/drawingml/2006/main">
            <a:off x="4057650" y="2324100"/>
            <a:ext cx="1809750" cy="1371600"/>
          </a:xfrm>
          <a:prstGeom xmlns:a="http://schemas.openxmlformats.org/drawingml/2006/main" prst="roundRect">
            <a:avLst>
              <a:gd name="adj" fmla="val 5556"/>
            </a:avLst>
          </a:prstGeom>
          <a:solidFill xmlns:a="http://schemas.openxmlformats.org/drawingml/2006/main">
            <a:srgbClr val="DDECE2"/>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CB401F92-A76C-4361-A333-0F0E6FD066A1}"/>
              </a:ext>
            </a:extLst>
          </p:cNvPr>
          <p:cNvSpPr>
            <a:spLocks xmlns:a="http://schemas.openxmlformats.org/drawingml/2006/main" noGrp="1"/>
          </p:cNvSpPr>
          <p:nvPr/>
        </p:nvSpPr>
        <p:spPr>
          <a:xfrm xmlns:a="http://schemas.openxmlformats.org/drawingml/2006/main">
            <a:off x="4229100" y="2533650"/>
            <a:ext cx="146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Cloudflare</a:t>
            </a:r>
          </a:p>
        </p:txBody>
      </p:sp>
      <p:sp>
        <p:nvSpPr>
          <p:cNvPr id="14" name="Rectangle 13">
            <a:extLst xmlns:a="http://schemas.openxmlformats.org/drawingml/2006/main">
              <a:ext uri="{FF2B5EF4-FFF2-40B4-BE49-F238E27FC236}">
                <a16:creationId xmlns:a16="http://schemas.microsoft.com/office/drawing/2014/main" id="{A5631891-BED3-46D5-8019-0E2D06FAADDE}"/>
              </a:ext>
            </a:extLst>
          </p:cNvPr>
          <p:cNvSpPr>
            <a:spLocks xmlns:a="http://schemas.openxmlformats.org/drawingml/2006/main" noGrp="1"/>
          </p:cNvSpPr>
          <p:nvPr/>
        </p:nvSpPr>
        <p:spPr>
          <a:xfrm xmlns:a="http://schemas.openxmlformats.org/drawingml/2006/main">
            <a:off x="4229100" y="2971800"/>
            <a:ext cx="146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Worker + assets</a:t>
            </a:r>
          </a:p>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free public hosting</a:t>
            </a:r>
          </a:p>
        </p:txBody>
      </p:sp>
      <p:sp>
        <p:nvSpPr>
          <p:cNvPr id="15" name="Rectangle: Rounded Corners 14">
            <a:extLst xmlns:a="http://schemas.openxmlformats.org/drawingml/2006/main">
              <a:ext uri="{FF2B5EF4-FFF2-40B4-BE49-F238E27FC236}">
                <a16:creationId xmlns:a16="http://schemas.microsoft.com/office/drawing/2014/main" id="{C99DF8A3-7944-4108-A644-79647A6D6230}"/>
              </a:ext>
            </a:extLst>
          </p:cNvPr>
          <p:cNvSpPr>
            <a:spLocks xmlns:a="http://schemas.openxmlformats.org/drawingml/2006/main" noGrp="1"/>
          </p:cNvSpPr>
          <p:nvPr/>
        </p:nvSpPr>
        <p:spPr>
          <a:xfrm xmlns:a="http://schemas.openxmlformats.org/drawingml/2006/main">
            <a:off x="7391400" y="2324100"/>
            <a:ext cx="1809750" cy="1371600"/>
          </a:xfrm>
          <a:prstGeom xmlns:a="http://schemas.openxmlformats.org/drawingml/2006/main" prst="roundRect">
            <a:avLst>
              <a:gd name="adj" fmla="val 5556"/>
            </a:avLst>
          </a:prstGeom>
          <a:solidFill xmlns:a="http://schemas.openxmlformats.org/drawingml/2006/main">
            <a:srgbClr val="DFE9F4"/>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34499373-5702-46A4-A787-285BE91D92DD}"/>
              </a:ext>
            </a:extLst>
          </p:cNvPr>
          <p:cNvSpPr>
            <a:spLocks xmlns:a="http://schemas.openxmlformats.org/drawingml/2006/main" noGrp="1"/>
          </p:cNvSpPr>
          <p:nvPr/>
        </p:nvSpPr>
        <p:spPr>
          <a:xfrm xmlns:a="http://schemas.openxmlformats.org/drawingml/2006/main">
            <a:off x="7562850" y="2533650"/>
            <a:ext cx="146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Supabase</a:t>
            </a:r>
          </a:p>
        </p:txBody>
      </p:sp>
      <p:sp>
        <p:nvSpPr>
          <p:cNvPr id="17" name="Rectangle 16">
            <a:extLst xmlns:a="http://schemas.openxmlformats.org/drawingml/2006/main">
              <a:ext uri="{FF2B5EF4-FFF2-40B4-BE49-F238E27FC236}">
                <a16:creationId xmlns:a16="http://schemas.microsoft.com/office/drawing/2014/main" id="{BB954A1A-693C-4C20-9DE1-4146A99122E2}"/>
              </a:ext>
            </a:extLst>
          </p:cNvPr>
          <p:cNvSpPr>
            <a:spLocks xmlns:a="http://schemas.openxmlformats.org/drawingml/2006/main" noGrp="1"/>
          </p:cNvSpPr>
          <p:nvPr/>
        </p:nvSpPr>
        <p:spPr>
          <a:xfrm xmlns:a="http://schemas.openxmlformats.org/drawingml/2006/main">
            <a:off x="7562850" y="2971800"/>
            <a:ext cx="146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PostgreSQL</a:t>
            </a:r>
          </a:p>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RLS + views</a:t>
            </a:r>
          </a:p>
        </p:txBody>
      </p:sp>
      <p:sp>
        <p:nvSpPr>
          <p:cNvPr id="18" name="Rectangle: Rounded Corners 17">
            <a:extLst xmlns:a="http://schemas.openxmlformats.org/drawingml/2006/main">
              <a:ext uri="{FF2B5EF4-FFF2-40B4-BE49-F238E27FC236}">
                <a16:creationId xmlns:a16="http://schemas.microsoft.com/office/drawing/2014/main" id="{4F1E1FC0-BAB8-4C1A-A3C6-33E77CF9C711}"/>
              </a:ext>
            </a:extLst>
          </p:cNvPr>
          <p:cNvSpPr>
            <a:spLocks xmlns:a="http://schemas.openxmlformats.org/drawingml/2006/main" noGrp="1"/>
          </p:cNvSpPr>
          <p:nvPr/>
        </p:nvSpPr>
        <p:spPr>
          <a:xfrm xmlns:a="http://schemas.openxmlformats.org/drawingml/2006/main">
            <a:off x="10534650" y="2324100"/>
            <a:ext cx="1104900" cy="1371600"/>
          </a:xfrm>
          <a:prstGeom xmlns:a="http://schemas.openxmlformats.org/drawingml/2006/main" prst="roundRect">
            <a:avLst>
              <a:gd name="adj" fmla="val 6897"/>
            </a:avLst>
          </a:prstGeom>
          <a:solidFill xmlns:a="http://schemas.openxmlformats.org/drawingml/2006/main">
            <a:srgbClr val="F1D8D2"/>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107E1CC4-1BC7-4052-8D5C-A347745F1D83}"/>
              </a:ext>
            </a:extLst>
          </p:cNvPr>
          <p:cNvSpPr>
            <a:spLocks xmlns:a="http://schemas.openxmlformats.org/drawingml/2006/main" noGrp="1"/>
          </p:cNvSpPr>
          <p:nvPr/>
        </p:nvSpPr>
        <p:spPr>
          <a:xfrm xmlns:a="http://schemas.openxmlformats.org/drawingml/2006/main">
            <a:off x="10706100" y="25336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User</a:t>
            </a:r>
          </a:p>
        </p:txBody>
      </p:sp>
      <p:sp>
        <p:nvSpPr>
          <p:cNvPr id="20" name="Rectangle 19">
            <a:extLst xmlns:a="http://schemas.openxmlformats.org/drawingml/2006/main">
              <a:ext uri="{FF2B5EF4-FFF2-40B4-BE49-F238E27FC236}">
                <a16:creationId xmlns:a16="http://schemas.microsoft.com/office/drawing/2014/main" id="{76EF1A67-E277-4EB2-9869-351A2298CE4A}"/>
              </a:ext>
            </a:extLst>
          </p:cNvPr>
          <p:cNvSpPr>
            <a:spLocks xmlns:a="http://schemas.openxmlformats.org/drawingml/2006/main" noGrp="1"/>
          </p:cNvSpPr>
          <p:nvPr/>
        </p:nvSpPr>
        <p:spPr>
          <a:xfrm xmlns:a="http://schemas.openxmlformats.org/drawingml/2006/main">
            <a:off x="10706100" y="29718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109"/>
          </a:bodyPr>
          <a:lstStyle xmlns:a="http://schemas.openxmlformats.org/drawingml/2006/main"/>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Browser</a:t>
            </a:r>
          </a:p>
          <a:p xmlns:a="http://schemas.openxmlformats.org/drawingml/2006/main">
            <a:pPr>
              <a:buNone/>
              <a:defRPr sz="1200" b="0">
                <a:solidFill>
                  <a:srgbClr val="173B31"/>
                </a:solidFill>
                <a:latin typeface="Arial"/>
                <a:ea typeface="Arial"/>
                <a:cs typeface="Arial"/>
              </a:defRPr>
            </a:pPr>
            <a:r>
              <a:rPr sz="1200" b="0">
                <a:solidFill>
                  <a:srgbClr val="173B31"/>
                </a:solidFill>
                <a:latin typeface="Arial"/>
                <a:ea typeface="Arial"/>
                <a:cs typeface="Arial"/>
              </a:rPr>
              <a:t>no sign-in</a:t>
            </a:r>
          </a:p>
        </p:txBody>
      </p:sp>
      <p:sp>
        <p:nvSpPr>
          <p:cNvPr id="21" name="Rectangle 20">
            <a:extLst xmlns:a="http://schemas.openxmlformats.org/drawingml/2006/main">
              <a:ext uri="{FF2B5EF4-FFF2-40B4-BE49-F238E27FC236}">
                <a16:creationId xmlns:a16="http://schemas.microsoft.com/office/drawing/2014/main" id="{E21763DA-57F9-4EA1-A730-192231A63F86}"/>
              </a:ext>
            </a:extLst>
          </p:cNvPr>
          <p:cNvSpPr>
            <a:spLocks xmlns:a="http://schemas.openxmlformats.org/drawingml/2006/main" noGrp="1"/>
          </p:cNvSpPr>
          <p:nvPr/>
        </p:nvSpPr>
        <p:spPr>
          <a:xfrm xmlns:a="http://schemas.openxmlformats.org/drawingml/2006/main">
            <a:off x="685800" y="43434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C64235"/>
                </a:solidFill>
                <a:latin typeface="Arial"/>
                <a:ea typeface="Arial"/>
                <a:cs typeface="Arial"/>
              </a:defRPr>
            </a:pPr>
            <a:r>
              <a:rPr sz="1650" b="1">
                <a:solidFill>
                  <a:srgbClr val="C64235"/>
                </a:solidFill>
                <a:latin typeface="Arial"/>
                <a:ea typeface="Arial"/>
                <a:cs typeface="Arial"/>
              </a:rPr>
              <a:t>Controls</a:t>
            </a:r>
          </a:p>
        </p:txBody>
      </p:sp>
      <p:sp>
        <p:nvSpPr>
          <p:cNvPr id="22" name="Rectangle: Rounded Corners 21">
            <a:extLst xmlns:a="http://schemas.openxmlformats.org/drawingml/2006/main">
              <a:ext uri="{FF2B5EF4-FFF2-40B4-BE49-F238E27FC236}">
                <a16:creationId xmlns:a16="http://schemas.microsoft.com/office/drawing/2014/main" id="{2C733E97-0ACA-426F-A1C9-066257200B7B}"/>
              </a:ext>
            </a:extLst>
          </p:cNvPr>
          <p:cNvSpPr>
            <a:spLocks xmlns:a="http://schemas.openxmlformats.org/drawingml/2006/main" noGrp="1"/>
          </p:cNvSpPr>
          <p:nvPr/>
        </p:nvSpPr>
        <p:spPr>
          <a:xfrm xmlns:a="http://schemas.openxmlformats.org/drawingml/2006/main">
            <a:off x="685800" y="4800600"/>
            <a:ext cx="4953000" cy="342900"/>
          </a:xfrm>
          <a:prstGeom xmlns:a="http://schemas.openxmlformats.org/drawingml/2006/main" prst="roundRect">
            <a:avLst>
              <a:gd name="adj" fmla="val 22222"/>
            </a:avLst>
          </a:prstGeom>
          <a:solidFill xmlns:a="http://schemas.openxmlformats.org/drawingml/2006/main">
            <a:srgbClr val="FFFDF8"/>
          </a:solidFill>
          <a:ln xmlns:a="http://schemas.openxmlformats.org/drawingml/2006/main" w="0">
            <a:noFill/>
          </a:ln>
        </p:spPr>
      </p:sp>
      <p:sp>
        <p:nvSpPr>
          <p:cNvPr id="23" name="Rectangle 22">
            <a:extLst xmlns:a="http://schemas.openxmlformats.org/drawingml/2006/main">
              <a:ext uri="{FF2B5EF4-FFF2-40B4-BE49-F238E27FC236}">
                <a16:creationId xmlns:a16="http://schemas.microsoft.com/office/drawing/2014/main" id="{67C28F32-D3B3-4427-949F-B4C14B082A07}"/>
              </a:ext>
            </a:extLst>
          </p:cNvPr>
          <p:cNvSpPr>
            <a:spLocks xmlns:a="http://schemas.openxmlformats.org/drawingml/2006/main" noGrp="1"/>
          </p:cNvSpPr>
          <p:nvPr/>
        </p:nvSpPr>
        <p:spPr>
          <a:xfrm xmlns:a="http://schemas.openxmlformats.org/drawingml/2006/main">
            <a:off x="819150" y="4867275"/>
            <a:ext cx="4686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173B31"/>
                </a:solidFill>
                <a:latin typeface="Arial"/>
                <a:ea typeface="Arial"/>
                <a:cs typeface="Arial"/>
              </a:defRPr>
            </a:pPr>
            <a:r>
              <a:rPr sz="1125" b="1">
                <a:solidFill>
                  <a:srgbClr val="173B31"/>
                </a:solidFill>
                <a:latin typeface="Arial"/>
                <a:ea typeface="Arial"/>
                <a:cs typeface="Arial"/>
              </a:rPr>
              <a:t>No service-role key in the browser</a:t>
            </a:r>
          </a:p>
        </p:txBody>
      </p:sp>
      <p:sp>
        <p:nvSpPr>
          <p:cNvPr id="24" name="Rectangle: Rounded Corners 23">
            <a:extLst xmlns:a="http://schemas.openxmlformats.org/drawingml/2006/main">
              <a:ext uri="{FF2B5EF4-FFF2-40B4-BE49-F238E27FC236}">
                <a16:creationId xmlns:a16="http://schemas.microsoft.com/office/drawing/2014/main" id="{DE7EFFFD-9462-4D06-8763-CABDD0C9BC8A}"/>
              </a:ext>
            </a:extLst>
          </p:cNvPr>
          <p:cNvSpPr>
            <a:spLocks xmlns:a="http://schemas.openxmlformats.org/drawingml/2006/main" noGrp="1"/>
          </p:cNvSpPr>
          <p:nvPr/>
        </p:nvSpPr>
        <p:spPr>
          <a:xfrm xmlns:a="http://schemas.openxmlformats.org/drawingml/2006/main">
            <a:off x="6096000" y="4800600"/>
            <a:ext cx="4953000" cy="342900"/>
          </a:xfrm>
          <a:prstGeom xmlns:a="http://schemas.openxmlformats.org/drawingml/2006/main" prst="roundRect">
            <a:avLst>
              <a:gd name="adj" fmla="val 22222"/>
            </a:avLst>
          </a:prstGeom>
          <a:solidFill xmlns:a="http://schemas.openxmlformats.org/drawingml/2006/main">
            <a:srgbClr val="F5E7CB"/>
          </a:solidFill>
          <a:ln xmlns:a="http://schemas.openxmlformats.org/drawingml/2006/main" w="0">
            <a:noFill/>
          </a:ln>
        </p:spPr>
      </p:sp>
      <p:sp>
        <p:nvSpPr>
          <p:cNvPr id="25" name="Rectangle 24">
            <a:extLst xmlns:a="http://schemas.openxmlformats.org/drawingml/2006/main">
              <a:ext uri="{FF2B5EF4-FFF2-40B4-BE49-F238E27FC236}">
                <a16:creationId xmlns:a16="http://schemas.microsoft.com/office/drawing/2014/main" id="{E821A916-3C0E-4FB0-815D-184B9FC6FB0C}"/>
              </a:ext>
            </a:extLst>
          </p:cNvPr>
          <p:cNvSpPr>
            <a:spLocks xmlns:a="http://schemas.openxmlformats.org/drawingml/2006/main" noGrp="1"/>
          </p:cNvSpPr>
          <p:nvPr/>
        </p:nvSpPr>
        <p:spPr>
          <a:xfrm xmlns:a="http://schemas.openxmlformats.org/drawingml/2006/main">
            <a:off x="6229350" y="4867275"/>
            <a:ext cx="4686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173B31"/>
                </a:solidFill>
                <a:latin typeface="Arial"/>
                <a:ea typeface="Arial"/>
                <a:cs typeface="Arial"/>
              </a:defRPr>
            </a:pPr>
            <a:r>
              <a:rPr sz="1125" b="1">
                <a:solidFill>
                  <a:srgbClr val="173B31"/>
                </a:solidFill>
                <a:latin typeface="Arial"/>
                <a:ea typeface="Arial"/>
                <a:cs typeface="Arial"/>
              </a:rPr>
              <a:t>Environment variables in deployment settings</a:t>
            </a:r>
          </a:p>
        </p:txBody>
      </p:sp>
      <p:sp>
        <p:nvSpPr>
          <p:cNvPr id="26" name="Rectangle: Rounded Corners 25">
            <a:extLst xmlns:a="http://schemas.openxmlformats.org/drawingml/2006/main">
              <a:ext uri="{FF2B5EF4-FFF2-40B4-BE49-F238E27FC236}">
                <a16:creationId xmlns:a16="http://schemas.microsoft.com/office/drawing/2014/main" id="{972AA3B0-5B6F-4357-AA3B-2DA25D856A99}"/>
              </a:ext>
            </a:extLst>
          </p:cNvPr>
          <p:cNvSpPr>
            <a:spLocks xmlns:a="http://schemas.openxmlformats.org/drawingml/2006/main" noGrp="1"/>
          </p:cNvSpPr>
          <p:nvPr/>
        </p:nvSpPr>
        <p:spPr>
          <a:xfrm xmlns:a="http://schemas.openxmlformats.org/drawingml/2006/main">
            <a:off x="685800" y="5353050"/>
            <a:ext cx="4953000" cy="342900"/>
          </a:xfrm>
          <a:prstGeom xmlns:a="http://schemas.openxmlformats.org/drawingml/2006/main" prst="roundRect">
            <a:avLst>
              <a:gd name="adj" fmla="val 22222"/>
            </a:avLst>
          </a:prstGeom>
          <a:solidFill xmlns:a="http://schemas.openxmlformats.org/drawingml/2006/main">
            <a:srgbClr val="FFFDF8"/>
          </a:solidFill>
          <a:ln xmlns:a="http://schemas.openxmlformats.org/drawingml/2006/main" w="0">
            <a:noFill/>
          </a:ln>
        </p:spPr>
      </p:sp>
      <p:sp>
        <p:nvSpPr>
          <p:cNvPr id="27" name="Rectangle 26">
            <a:extLst xmlns:a="http://schemas.openxmlformats.org/drawingml/2006/main">
              <a:ext uri="{FF2B5EF4-FFF2-40B4-BE49-F238E27FC236}">
                <a16:creationId xmlns:a16="http://schemas.microsoft.com/office/drawing/2014/main" id="{907C03F8-0AA9-4253-A7AE-3CD70EEE852D}"/>
              </a:ext>
            </a:extLst>
          </p:cNvPr>
          <p:cNvSpPr>
            <a:spLocks xmlns:a="http://schemas.openxmlformats.org/drawingml/2006/main" noGrp="1"/>
          </p:cNvSpPr>
          <p:nvPr/>
        </p:nvSpPr>
        <p:spPr>
          <a:xfrm xmlns:a="http://schemas.openxmlformats.org/drawingml/2006/main">
            <a:off x="819150" y="5419725"/>
            <a:ext cx="4686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173B31"/>
                </a:solidFill>
                <a:latin typeface="Arial"/>
                <a:ea typeface="Arial"/>
                <a:cs typeface="Arial"/>
              </a:defRPr>
            </a:pPr>
            <a:r>
              <a:rPr sz="1125" b="1">
                <a:solidFill>
                  <a:srgbClr val="173B31"/>
                </a:solidFill>
                <a:latin typeface="Arial"/>
                <a:ea typeface="Arial"/>
                <a:cs typeface="Arial"/>
              </a:rPr>
              <a:t>Row-level security on public writes and reads</a:t>
            </a:r>
          </a:p>
        </p:txBody>
      </p:sp>
      <p:sp>
        <p:nvSpPr>
          <p:cNvPr id="28" name="Rectangle: Rounded Corners 27">
            <a:extLst xmlns:a="http://schemas.openxmlformats.org/drawingml/2006/main">
              <a:ext uri="{FF2B5EF4-FFF2-40B4-BE49-F238E27FC236}">
                <a16:creationId xmlns:a16="http://schemas.microsoft.com/office/drawing/2014/main" id="{A3EFE12C-51D1-4EDA-9111-B8C1181A62D7}"/>
              </a:ext>
            </a:extLst>
          </p:cNvPr>
          <p:cNvSpPr>
            <a:spLocks xmlns:a="http://schemas.openxmlformats.org/drawingml/2006/main" noGrp="1"/>
          </p:cNvSpPr>
          <p:nvPr/>
        </p:nvSpPr>
        <p:spPr>
          <a:xfrm xmlns:a="http://schemas.openxmlformats.org/drawingml/2006/main">
            <a:off x="6096000" y="5353050"/>
            <a:ext cx="4953000" cy="342900"/>
          </a:xfrm>
          <a:prstGeom xmlns:a="http://schemas.openxmlformats.org/drawingml/2006/main" prst="roundRect">
            <a:avLst>
              <a:gd name="adj" fmla="val 22222"/>
            </a:avLst>
          </a:prstGeom>
          <a:solidFill xmlns:a="http://schemas.openxmlformats.org/drawingml/2006/main">
            <a:srgbClr val="F5E7CB"/>
          </a:solidFill>
          <a:ln xmlns:a="http://schemas.openxmlformats.org/drawingml/2006/main" w="0">
            <a:noFill/>
          </a:ln>
        </p:spPr>
      </p:sp>
      <p:sp>
        <p:nvSpPr>
          <p:cNvPr id="29" name="Rectangle 28">
            <a:extLst xmlns:a="http://schemas.openxmlformats.org/drawingml/2006/main">
              <a:ext uri="{FF2B5EF4-FFF2-40B4-BE49-F238E27FC236}">
                <a16:creationId xmlns:a16="http://schemas.microsoft.com/office/drawing/2014/main" id="{A8E1ACAF-AE5D-4090-89AF-325A5E9BA68A}"/>
              </a:ext>
            </a:extLst>
          </p:cNvPr>
          <p:cNvSpPr>
            <a:spLocks xmlns:a="http://schemas.openxmlformats.org/drawingml/2006/main" noGrp="1"/>
          </p:cNvSpPr>
          <p:nvPr/>
        </p:nvSpPr>
        <p:spPr>
          <a:xfrm xmlns:a="http://schemas.openxmlformats.org/drawingml/2006/main">
            <a:off x="6229350" y="5419725"/>
            <a:ext cx="4686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173B31"/>
                </a:solidFill>
                <a:latin typeface="Arial"/>
                <a:ea typeface="Arial"/>
                <a:cs typeface="Arial"/>
              </a:defRPr>
            </a:pPr>
            <a:r>
              <a:rPr sz="1125" b="1">
                <a:solidFill>
                  <a:srgbClr val="173B31"/>
                </a:solidFill>
                <a:latin typeface="Arial"/>
                <a:ea typeface="Arial"/>
                <a:cs typeface="Arial"/>
              </a:rPr>
              <a:t>Unit, browser, accessibility and CodeQL checks</a:t>
            </a:r>
          </a:p>
        </p:txBody>
      </p:sp>
      <p:sp>
        <p:nvSpPr>
          <p:cNvPr id="30" name="Rectangle 29">
            <a:extLst xmlns:a="http://schemas.openxmlformats.org/drawingml/2006/main">
              <a:ext uri="{FF2B5EF4-FFF2-40B4-BE49-F238E27FC236}">
                <a16:creationId xmlns:a16="http://schemas.microsoft.com/office/drawing/2014/main" id="{41375777-37FE-4536-8249-750CC613E5D4}"/>
              </a:ext>
            </a:extLst>
          </p:cNvPr>
          <p:cNvSpPr>
            <a:spLocks xmlns:a="http://schemas.openxmlformats.org/drawingml/2006/main" noGrp="1"/>
          </p:cNvSpPr>
          <p:nvPr/>
        </p:nvSpPr>
        <p:spPr>
          <a:xfrm xmlns:a="http://schemas.openxmlformats.org/drawingml/2006/main">
            <a:off x="685800" y="6105525"/>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173B31"/>
                </a:solidFill>
                <a:latin typeface="Arial"/>
                <a:ea typeface="Arial"/>
                <a:cs typeface="Arial"/>
              </a:defRPr>
            </a:pPr>
            <a:r>
              <a:rPr sz="1275" b="1">
                <a:solidFill>
                  <a:srgbClr val="173B31"/>
                </a:solidFill>
                <a:latin typeface="Arial"/>
                <a:ea typeface="Arial"/>
                <a:cs typeface="Arial"/>
              </a:rPr>
              <a:t>Live: playo-venue-observatory.dhivaa2004.workers.dev</a:t>
            </a:r>
          </a:p>
        </p:txBody>
      </p:sp>
    </p:spTree>
    <p:extLst>
      <p:ext uri="{BB962C8B-B14F-4D97-AF65-F5344CB8AC3E}">
        <p14:creationId xmlns:p14="http://schemas.microsoft.com/office/powerpoint/2010/main" val="276545293"/>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72A9AF9E-68B1-47B7-AB87-E3AD4867AD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62"/>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CD0DE60C-034E-4092-93BA-122691C21DAE}"/>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FINDINGS</a:t>
            </a:r>
          </a:p>
        </p:txBody>
      </p:sp>
      <p:sp>
        <p:nvSpPr>
          <p:cNvPr id="3" name="Rectangle 2">
            <a:extLst xmlns:a="http://schemas.openxmlformats.org/drawingml/2006/main">
              <a:ext uri="{FF2B5EF4-FFF2-40B4-BE49-F238E27FC236}">
                <a16:creationId xmlns:a16="http://schemas.microsoft.com/office/drawing/2014/main" id="{6BCA1F49-F211-4E4E-A69E-9D7D05A55992}"/>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evidence is valuable — and uneven.</a:t>
            </a:r>
          </a:p>
        </p:txBody>
      </p:sp>
      <p:sp>
        <p:nvSpPr>
          <p:cNvPr id="4" name="Rectangle 3">
            <a:extLst xmlns:a="http://schemas.openxmlformats.org/drawingml/2006/main">
              <a:ext uri="{FF2B5EF4-FFF2-40B4-BE49-F238E27FC236}">
                <a16:creationId xmlns:a16="http://schemas.microsoft.com/office/drawing/2014/main" id="{D115D109-73EE-40A8-9FD5-92FE8B692050}"/>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The strongest insights come from combining descriptive analysis with data-quality context.</a:t>
            </a:r>
          </a:p>
        </p:txBody>
      </p:sp>
      <p:sp>
        <p:nvSpPr>
          <p:cNvPr id="5" name="Rectangle 4">
            <a:extLst xmlns:a="http://schemas.openxmlformats.org/drawingml/2006/main">
              <a:ext uri="{FF2B5EF4-FFF2-40B4-BE49-F238E27FC236}">
                <a16:creationId xmlns:a16="http://schemas.microsoft.com/office/drawing/2014/main" id="{5AECB989-1951-48B9-9805-D2C694650BAA}"/>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14</a:t>
            </a:r>
          </a:p>
        </p:txBody>
      </p:sp>
      <p:sp>
        <p:nvSpPr>
          <p:cNvPr id="6" name="Rectangle: Rounded Corners 5">
            <a:extLst xmlns:a="http://schemas.openxmlformats.org/drawingml/2006/main">
              <a:ext uri="{FF2B5EF4-FFF2-40B4-BE49-F238E27FC236}">
                <a16:creationId xmlns:a16="http://schemas.microsoft.com/office/drawing/2014/main" id="{A7727159-EBBB-45D1-9326-314155850C1E}"/>
              </a:ext>
            </a:extLst>
          </p:cNvPr>
          <p:cNvSpPr>
            <a:spLocks xmlns:a="http://schemas.openxmlformats.org/drawingml/2006/main" noGrp="1"/>
          </p:cNvSpPr>
          <p:nvPr/>
        </p:nvSpPr>
        <p:spPr>
          <a:xfrm xmlns:a="http://schemas.openxmlformats.org/drawingml/2006/main">
            <a:off x="609600" y="2038350"/>
            <a:ext cx="76200" cy="781050"/>
          </a:xfrm>
          <a:prstGeom xmlns:a="http://schemas.openxmlformats.org/drawingml/2006/main" prst="roundRect">
            <a:avLst>
              <a:gd name="adj" fmla="val 50000"/>
            </a:avLst>
          </a:prstGeom>
          <a:solidFill xmlns:a="http://schemas.openxmlformats.org/drawingml/2006/main">
            <a:srgbClr val="C64235"/>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877339FE-2556-44C3-B1F4-2B2CEBEB5A13}"/>
              </a:ext>
            </a:extLst>
          </p:cNvPr>
          <p:cNvSpPr>
            <a:spLocks xmlns:a="http://schemas.openxmlformats.org/drawingml/2006/main" noGrp="1"/>
          </p:cNvSpPr>
          <p:nvPr/>
        </p:nvSpPr>
        <p:spPr>
          <a:xfrm xmlns:a="http://schemas.openxmlformats.org/drawingml/2006/main">
            <a:off x="895350" y="21145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C64235"/>
                </a:solidFill>
                <a:latin typeface="Arial"/>
                <a:ea typeface="Arial"/>
                <a:cs typeface="Arial"/>
              </a:defRPr>
            </a:pPr>
            <a:r>
              <a:rPr sz="1425" b="1">
                <a:solidFill>
                  <a:srgbClr val="C64235"/>
                </a:solidFill>
                <a:latin typeface="Arial"/>
                <a:ea typeface="Arial"/>
                <a:cs typeface="Arial"/>
              </a:rPr>
              <a:t>Coverage</a:t>
            </a:r>
          </a:p>
        </p:txBody>
      </p:sp>
      <p:sp>
        <p:nvSpPr>
          <p:cNvPr id="8" name="Rectangle 7">
            <a:extLst xmlns:a="http://schemas.openxmlformats.org/drawingml/2006/main">
              <a:ext uri="{FF2B5EF4-FFF2-40B4-BE49-F238E27FC236}">
                <a16:creationId xmlns:a16="http://schemas.microsoft.com/office/drawing/2014/main" id="{35BEFF2F-4F20-49D8-A823-1FE55CD0CB0B}"/>
              </a:ext>
            </a:extLst>
          </p:cNvPr>
          <p:cNvSpPr>
            <a:spLocks xmlns:a="http://schemas.openxmlformats.org/drawingml/2006/main" noGrp="1"/>
          </p:cNvSpPr>
          <p:nvPr/>
        </p:nvSpPr>
        <p:spPr>
          <a:xfrm xmlns:a="http://schemas.openxmlformats.org/drawingml/2006/main">
            <a:off x="2876550" y="208597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Bangalore and Hyderabad dominate the recorded snapshot.</a:t>
            </a:r>
          </a:p>
        </p:txBody>
      </p:sp>
      <p:sp>
        <p:nvSpPr>
          <p:cNvPr id="9" name="Rectangle: Rounded Corners 8">
            <a:extLst xmlns:a="http://schemas.openxmlformats.org/drawingml/2006/main">
              <a:ext uri="{FF2B5EF4-FFF2-40B4-BE49-F238E27FC236}">
                <a16:creationId xmlns:a16="http://schemas.microsoft.com/office/drawing/2014/main" id="{3549BE44-03C1-46AC-92DC-ED167B074069}"/>
              </a:ext>
            </a:extLst>
          </p:cNvPr>
          <p:cNvSpPr>
            <a:spLocks xmlns:a="http://schemas.openxmlformats.org/drawingml/2006/main" noGrp="1"/>
          </p:cNvSpPr>
          <p:nvPr/>
        </p:nvSpPr>
        <p:spPr>
          <a:xfrm xmlns:a="http://schemas.openxmlformats.org/drawingml/2006/main">
            <a:off x="609600" y="3028950"/>
            <a:ext cx="76200" cy="781050"/>
          </a:xfrm>
          <a:prstGeom xmlns:a="http://schemas.openxmlformats.org/drawingml/2006/main" prst="roundRect">
            <a:avLst>
              <a:gd name="adj" fmla="val 50000"/>
            </a:avLst>
          </a:prstGeom>
          <a:solidFill xmlns:a="http://schemas.openxmlformats.org/drawingml/2006/main">
            <a:srgbClr val="D89029"/>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10CAA520-76C4-40EC-855D-306FDBF9FD0D}"/>
              </a:ext>
            </a:extLst>
          </p:cNvPr>
          <p:cNvSpPr>
            <a:spLocks xmlns:a="http://schemas.openxmlformats.org/drawingml/2006/main" noGrp="1"/>
          </p:cNvSpPr>
          <p:nvPr/>
        </p:nvSpPr>
        <p:spPr>
          <a:xfrm xmlns:a="http://schemas.openxmlformats.org/drawingml/2006/main">
            <a:off x="895350" y="31051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D89029"/>
                </a:solidFill>
                <a:latin typeface="Arial"/>
                <a:ea typeface="Arial"/>
                <a:cs typeface="Arial"/>
              </a:defRPr>
            </a:pPr>
            <a:r>
              <a:rPr sz="1425" b="1">
                <a:solidFill>
                  <a:srgbClr val="D89029"/>
                </a:solidFill>
                <a:latin typeface="Arial"/>
                <a:ea typeface="Arial"/>
                <a:cs typeface="Arial"/>
              </a:rPr>
              <a:t>Ratings</a:t>
            </a:r>
          </a:p>
        </p:txBody>
      </p:sp>
      <p:sp>
        <p:nvSpPr>
          <p:cNvPr id="11" name="Rectangle 10">
            <a:extLst xmlns:a="http://schemas.openxmlformats.org/drawingml/2006/main">
              <a:ext uri="{FF2B5EF4-FFF2-40B4-BE49-F238E27FC236}">
                <a16:creationId xmlns:a16="http://schemas.microsoft.com/office/drawing/2014/main" id="{B5A2C566-E850-4B65-AAE5-0A90F3A3D92A}"/>
              </a:ext>
            </a:extLst>
          </p:cNvPr>
          <p:cNvSpPr>
            <a:spLocks xmlns:a="http://schemas.openxmlformats.org/drawingml/2006/main" noGrp="1"/>
          </p:cNvSpPr>
          <p:nvPr/>
        </p:nvSpPr>
        <p:spPr>
          <a:xfrm xmlns:a="http://schemas.openxmlformats.org/drawingml/2006/main">
            <a:off x="2876550" y="307657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511 venues are unrated; missing means unknown, never zero.</a:t>
            </a:r>
          </a:p>
        </p:txBody>
      </p:sp>
      <p:sp>
        <p:nvSpPr>
          <p:cNvPr id="12" name="Rectangle: Rounded Corners 11">
            <a:extLst xmlns:a="http://schemas.openxmlformats.org/drawingml/2006/main">
              <a:ext uri="{FF2B5EF4-FFF2-40B4-BE49-F238E27FC236}">
                <a16:creationId xmlns:a16="http://schemas.microsoft.com/office/drawing/2014/main" id="{2AA7279C-A033-4F6F-8DAA-91E3952684E5}"/>
              </a:ext>
            </a:extLst>
          </p:cNvPr>
          <p:cNvSpPr>
            <a:spLocks xmlns:a="http://schemas.openxmlformats.org/drawingml/2006/main" noGrp="1"/>
          </p:cNvSpPr>
          <p:nvPr/>
        </p:nvSpPr>
        <p:spPr>
          <a:xfrm xmlns:a="http://schemas.openxmlformats.org/drawingml/2006/main">
            <a:off x="609600" y="4019550"/>
            <a:ext cx="76200" cy="781050"/>
          </a:xfrm>
          <a:prstGeom xmlns:a="http://schemas.openxmlformats.org/drawingml/2006/main" prst="roundRect">
            <a:avLst>
              <a:gd name="adj" fmla="val 50000"/>
            </a:avLst>
          </a:prstGeom>
          <a:solidFill xmlns:a="http://schemas.openxmlformats.org/drawingml/2006/main">
            <a:srgbClr val="2D7A62"/>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398F8E0A-7ADC-4FDD-AA42-2E43A62016A2}"/>
              </a:ext>
            </a:extLst>
          </p:cNvPr>
          <p:cNvSpPr>
            <a:spLocks xmlns:a="http://schemas.openxmlformats.org/drawingml/2006/main" noGrp="1"/>
          </p:cNvSpPr>
          <p:nvPr/>
        </p:nvSpPr>
        <p:spPr>
          <a:xfrm xmlns:a="http://schemas.openxmlformats.org/drawingml/2006/main">
            <a:off x="895350" y="4095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D7A62"/>
                </a:solidFill>
                <a:latin typeface="Arial"/>
                <a:ea typeface="Arial"/>
                <a:cs typeface="Arial"/>
              </a:defRPr>
            </a:pPr>
            <a:r>
              <a:rPr sz="1425" b="1">
                <a:solidFill>
                  <a:srgbClr val="2D7A62"/>
                </a:solidFill>
                <a:latin typeface="Arial"/>
                <a:ea typeface="Arial"/>
                <a:cs typeface="Arial"/>
              </a:rPr>
              <a:t>Taxonomy</a:t>
            </a:r>
          </a:p>
        </p:txBody>
      </p:sp>
      <p:sp>
        <p:nvSpPr>
          <p:cNvPr id="14" name="Rectangle 13">
            <a:extLst xmlns:a="http://schemas.openxmlformats.org/drawingml/2006/main">
              <a:ext uri="{FF2B5EF4-FFF2-40B4-BE49-F238E27FC236}">
                <a16:creationId xmlns:a16="http://schemas.microsoft.com/office/drawing/2014/main" id="{9801A0CF-4E2E-4B76-8424-CD4910368A2F}"/>
              </a:ext>
            </a:extLst>
          </p:cNvPr>
          <p:cNvSpPr>
            <a:spLocks xmlns:a="http://schemas.openxmlformats.org/drawingml/2006/main" noGrp="1"/>
          </p:cNvSpPr>
          <p:nvPr/>
        </p:nvSpPr>
        <p:spPr>
          <a:xfrm xmlns:a="http://schemas.openxmlformats.org/drawingml/2006/main">
            <a:off x="2876550" y="406717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The 89 labels include sports and supporting services.</a:t>
            </a:r>
          </a:p>
        </p:txBody>
      </p:sp>
      <p:sp>
        <p:nvSpPr>
          <p:cNvPr id="15" name="Rectangle: Rounded Corners 14">
            <a:extLst xmlns:a="http://schemas.openxmlformats.org/drawingml/2006/main">
              <a:ext uri="{FF2B5EF4-FFF2-40B4-BE49-F238E27FC236}">
                <a16:creationId xmlns:a16="http://schemas.microsoft.com/office/drawing/2014/main" id="{E49E9E47-F86D-4811-BF29-42F6868813E6}"/>
              </a:ext>
            </a:extLst>
          </p:cNvPr>
          <p:cNvSpPr>
            <a:spLocks xmlns:a="http://schemas.openxmlformats.org/drawingml/2006/main" noGrp="1"/>
          </p:cNvSpPr>
          <p:nvPr/>
        </p:nvSpPr>
        <p:spPr>
          <a:xfrm xmlns:a="http://schemas.openxmlformats.org/drawingml/2006/main">
            <a:off x="609600" y="5010150"/>
            <a:ext cx="76200" cy="781050"/>
          </a:xfrm>
          <a:prstGeom xmlns:a="http://schemas.openxmlformats.org/drawingml/2006/main" prst="roundRect">
            <a:avLst>
              <a:gd name="adj" fmla="val 50000"/>
            </a:avLst>
          </a:prstGeom>
          <a:solidFill xmlns:a="http://schemas.openxmlformats.org/drawingml/2006/main">
            <a:srgbClr val="4E79A7"/>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A6E81D6C-D9B7-42BE-88A4-3050FE085E06}"/>
              </a:ext>
            </a:extLst>
          </p:cNvPr>
          <p:cNvSpPr>
            <a:spLocks xmlns:a="http://schemas.openxmlformats.org/drawingml/2006/main" noGrp="1"/>
          </p:cNvSpPr>
          <p:nvPr/>
        </p:nvSpPr>
        <p:spPr>
          <a:xfrm xmlns:a="http://schemas.openxmlformats.org/drawingml/2006/main">
            <a:off x="895350" y="50863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4E79A7"/>
                </a:solidFill>
                <a:latin typeface="Arial"/>
                <a:ea typeface="Arial"/>
                <a:cs typeface="Arial"/>
              </a:defRPr>
            </a:pPr>
            <a:r>
              <a:rPr sz="1425" b="1">
                <a:solidFill>
                  <a:srgbClr val="4E79A7"/>
                </a:solidFill>
                <a:latin typeface="Arial"/>
                <a:ea typeface="Arial"/>
                <a:cs typeface="Arial"/>
              </a:rPr>
              <a:t>Reliability</a:t>
            </a:r>
          </a:p>
        </p:txBody>
      </p:sp>
      <p:sp>
        <p:nvSpPr>
          <p:cNvPr id="17" name="Rectangle 16">
            <a:extLst xmlns:a="http://schemas.openxmlformats.org/drawingml/2006/main">
              <a:ext uri="{FF2B5EF4-FFF2-40B4-BE49-F238E27FC236}">
                <a16:creationId xmlns:a16="http://schemas.microsoft.com/office/drawing/2014/main" id="{1C63E83E-5993-4269-BA9C-14C5B42A5456}"/>
              </a:ext>
            </a:extLst>
          </p:cNvPr>
          <p:cNvSpPr>
            <a:spLocks xmlns:a="http://schemas.openxmlformats.org/drawingml/2006/main" noGrp="1"/>
          </p:cNvSpPr>
          <p:nvPr/>
        </p:nvSpPr>
        <p:spPr>
          <a:xfrm xmlns:a="http://schemas.openxmlformats.org/drawingml/2006/main">
            <a:off x="2876550" y="505777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00" b="1">
                <a:solidFill>
                  <a:srgbClr val="173B31"/>
                </a:solidFill>
                <a:latin typeface="Arial"/>
                <a:ea typeface="Arial"/>
                <a:cs typeface="Arial"/>
              </a:defRPr>
            </a:pPr>
            <a:r>
              <a:rPr sz="1800" b="1">
                <a:solidFill>
                  <a:srgbClr val="173B31"/>
                </a:solidFill>
                <a:latin typeface="Arial"/>
                <a:ea typeface="Arial"/>
                <a:cs typeface="Arial"/>
              </a:rPr>
              <a:t>Delhi / NCR has a much larger unrated share than other regions.</a:t>
            </a:r>
          </a:p>
        </p:txBody>
      </p:sp>
      <p:sp>
        <p:nvSpPr>
          <p:cNvPr id="18" name="Rectangle: Rounded Corners 17">
            <a:extLst xmlns:a="http://schemas.openxmlformats.org/drawingml/2006/main">
              <a:ext uri="{FF2B5EF4-FFF2-40B4-BE49-F238E27FC236}">
                <a16:creationId xmlns:a16="http://schemas.microsoft.com/office/drawing/2014/main" id="{B349D799-86FA-4197-A147-1571D27C5049}"/>
              </a:ext>
            </a:extLst>
          </p:cNvPr>
          <p:cNvSpPr>
            <a:spLocks xmlns:a="http://schemas.openxmlformats.org/drawingml/2006/main" noGrp="1"/>
          </p:cNvSpPr>
          <p:nvPr/>
        </p:nvSpPr>
        <p:spPr>
          <a:xfrm xmlns:a="http://schemas.openxmlformats.org/drawingml/2006/main">
            <a:off x="609600" y="5905500"/>
            <a:ext cx="10153650" cy="381000"/>
          </a:xfrm>
          <a:prstGeom xmlns:a="http://schemas.openxmlformats.org/drawingml/2006/main" prst="roundRect">
            <a:avLst>
              <a:gd name="adj" fmla="val 20000"/>
            </a:avLst>
          </a:prstGeom>
          <a:solidFill xmlns:a="http://schemas.openxmlformats.org/drawingml/2006/main">
            <a:srgbClr val="F5E7CB"/>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9066AB23-4DFD-44ED-93AB-09B3B7A2317D}"/>
              </a:ext>
            </a:extLst>
          </p:cNvPr>
          <p:cNvSpPr>
            <a:spLocks xmlns:a="http://schemas.openxmlformats.org/drawingml/2006/main" noGrp="1"/>
          </p:cNvSpPr>
          <p:nvPr/>
        </p:nvSpPr>
        <p:spPr>
          <a:xfrm xmlns:a="http://schemas.openxmlformats.org/drawingml/2006/main">
            <a:off x="857250" y="59912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1">
                <a:solidFill>
                  <a:srgbClr val="1D2B27"/>
                </a:solidFill>
                <a:latin typeface="Arial"/>
                <a:ea typeface="Arial"/>
                <a:cs typeface="Arial"/>
              </a:defRPr>
            </a:pPr>
            <a:r>
              <a:rPr sz="1200" b="1">
                <a:solidFill>
                  <a:srgbClr val="1D2B27"/>
                </a:solidFill>
                <a:latin typeface="Arial"/>
                <a:ea typeface="Arial"/>
                <a:cs typeface="Arial"/>
              </a:rPr>
              <a:t>Use recorded evidence for comparison — not claims about current availability, demand or revenue.</a:t>
            </a:r>
          </a:p>
        </p:txBody>
      </p:sp>
    </p:spTree>
    <p:extLst>
      <p:ext uri="{BB962C8B-B14F-4D97-AF65-F5344CB8AC3E}">
        <p14:creationId xmlns:p14="http://schemas.microsoft.com/office/powerpoint/2010/main" val="210423463"/>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46C1B5A2-57AC-4376-B135-019C60F96C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029"/>
          </a:solidFill>
          <a:ln xmlns:a="http://schemas.openxmlformats.org/drawingml/2006/main" w="0">
            <a:noFill/>
          </a:ln>
        </p:spPr>
      </p:sp>
      <p:sp>
        <p:nvSpPr>
          <p:cNvPr id="2" name="Rectangle 1">
            <a:extLst xmlns:a="http://schemas.openxmlformats.org/drawingml/2006/main">
              <a:ext uri="{FF2B5EF4-FFF2-40B4-BE49-F238E27FC236}">
                <a16:creationId xmlns:a16="http://schemas.microsoft.com/office/drawing/2014/main" id="{28C54575-D9B2-434A-AC00-B53B838A19BF}"/>
              </a:ext>
            </a:extLst>
          </p:cNvPr>
          <p:cNvSpPr>
            <a:spLocks xmlns:a="http://schemas.openxmlformats.org/drawingml/2006/main" noGrp="1"/>
          </p:cNvSpPr>
          <p:nvPr/>
        </p:nvSpPr>
        <p:spPr>
          <a:xfrm xmlns:a="http://schemas.openxmlformats.org/drawingml/2006/main">
            <a:off x="533400" y="3619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1">
                <a:solidFill>
                  <a:srgbClr val="C64235"/>
                </a:solidFill>
                <a:latin typeface="Arial"/>
                <a:ea typeface="Arial"/>
                <a:cs typeface="Arial"/>
              </a:defRPr>
            </a:pPr>
            <a:r>
              <a:rPr sz="1125" b="1">
                <a:solidFill>
                  <a:srgbClr val="C64235"/>
                </a:solidFill>
                <a:latin typeface="Arial"/>
                <a:ea typeface="Arial"/>
                <a:cs typeface="Arial"/>
              </a:rPr>
              <a:t>RESPONSIBLE USE</a:t>
            </a:r>
          </a:p>
        </p:txBody>
      </p:sp>
      <p:sp>
        <p:nvSpPr>
          <p:cNvPr id="3" name="Rectangle 2">
            <a:extLst xmlns:a="http://schemas.openxmlformats.org/drawingml/2006/main">
              <a:ext uri="{FF2B5EF4-FFF2-40B4-BE49-F238E27FC236}">
                <a16:creationId xmlns:a16="http://schemas.microsoft.com/office/drawing/2014/main" id="{0D9BD369-C23C-46A1-B114-F9BEF239125D}"/>
              </a:ext>
            </a:extLst>
          </p:cNvPr>
          <p:cNvSpPr>
            <a:spLocks xmlns:a="http://schemas.openxmlformats.org/drawingml/2006/main" noGrp="1"/>
          </p:cNvSpPr>
          <p:nvPr/>
        </p:nvSpPr>
        <p:spPr>
          <a:xfrm xmlns:a="http://schemas.openxmlformats.org/drawingml/2006/main">
            <a:off x="533400" y="704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700" b="1">
                <a:solidFill>
                  <a:srgbClr val="173B31"/>
                </a:solidFill>
                <a:latin typeface="Arial"/>
                <a:ea typeface="Arial"/>
                <a:cs typeface="Arial"/>
              </a:defRPr>
            </a:pPr>
            <a:r>
              <a:rPr sz="2700" b="1">
                <a:solidFill>
                  <a:srgbClr val="173B31"/>
                </a:solidFill>
                <a:latin typeface="Arial"/>
                <a:ea typeface="Arial"/>
                <a:cs typeface="Arial"/>
              </a:rPr>
              <a:t>The system makes its limitations visible instead of hiding them.</a:t>
            </a:r>
          </a:p>
        </p:txBody>
      </p:sp>
      <p:sp>
        <p:nvSpPr>
          <p:cNvPr id="4" name="Rectangle 3">
            <a:extLst xmlns:a="http://schemas.openxmlformats.org/drawingml/2006/main">
              <a:ext uri="{FF2B5EF4-FFF2-40B4-BE49-F238E27FC236}">
                <a16:creationId xmlns:a16="http://schemas.microsoft.com/office/drawing/2014/main" id="{199CD67B-D72E-4ECD-8C7E-ED678E38A2FD}"/>
              </a:ext>
            </a:extLst>
          </p:cNvPr>
          <p:cNvSpPr>
            <a:spLocks xmlns:a="http://schemas.openxmlformats.org/drawingml/2006/main" noGrp="1"/>
          </p:cNvSpPr>
          <p:nvPr/>
        </p:nvSpPr>
        <p:spPr>
          <a:xfrm xmlns:a="http://schemas.openxmlformats.org/drawingml/2006/main">
            <a:off x="552450" y="1295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0">
                <a:solidFill>
                  <a:srgbClr val="66736D"/>
                </a:solidFill>
                <a:latin typeface="Arial"/>
                <a:ea typeface="Arial"/>
                <a:cs typeface="Arial"/>
              </a:defRPr>
            </a:pPr>
            <a:r>
              <a:rPr sz="1275" b="0">
                <a:solidFill>
                  <a:srgbClr val="66736D"/>
                </a:solidFill>
                <a:latin typeface="Arial"/>
                <a:ea typeface="Arial"/>
                <a:cs typeface="Arial"/>
              </a:rPr>
              <a:t>A credible capstone says what its data cannot support.</a:t>
            </a:r>
          </a:p>
        </p:txBody>
      </p:sp>
      <p:sp>
        <p:nvSpPr>
          <p:cNvPr id="5" name="Rectangle 4">
            <a:extLst xmlns:a="http://schemas.openxmlformats.org/drawingml/2006/main">
              <a:ext uri="{FF2B5EF4-FFF2-40B4-BE49-F238E27FC236}">
                <a16:creationId xmlns:a16="http://schemas.microsoft.com/office/drawing/2014/main" id="{D271E664-C8EA-4C03-B8D8-E075D4FAFB74}"/>
              </a:ext>
            </a:extLst>
          </p:cNvPr>
          <p:cNvSpPr>
            <a:spLocks xmlns:a="http://schemas.openxmlformats.org/drawingml/2006/main" noGrp="1"/>
          </p:cNvSpPr>
          <p:nvPr/>
        </p:nvSpPr>
        <p:spPr>
          <a:xfrm xmlns:a="http://schemas.openxmlformats.org/drawingml/2006/main">
            <a:off x="11315700" y="61912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66736D"/>
                </a:solidFill>
                <a:latin typeface="Arial"/>
                <a:ea typeface="Arial"/>
                <a:cs typeface="Arial"/>
              </a:defRPr>
            </a:pPr>
            <a:r>
              <a:rPr sz="975" b="1">
                <a:solidFill>
                  <a:srgbClr val="66736D"/>
                </a:solidFill>
                <a:latin typeface="Arial"/>
                <a:ea typeface="Arial"/>
                <a:cs typeface="Arial"/>
              </a:rPr>
              <a:t>15</a:t>
            </a:r>
          </a:p>
        </p:txBody>
      </p:sp>
      <p:sp>
        <p:nvSpPr>
          <p:cNvPr id="6" name="Rectangle: Rounded Corners 5">
            <a:extLst xmlns:a="http://schemas.openxmlformats.org/drawingml/2006/main">
              <a:ext uri="{FF2B5EF4-FFF2-40B4-BE49-F238E27FC236}">
                <a16:creationId xmlns:a16="http://schemas.microsoft.com/office/drawing/2014/main" id="{CC6723F2-D09D-4D53-A948-9B3D40EE6D89}"/>
              </a:ext>
            </a:extLst>
          </p:cNvPr>
          <p:cNvSpPr>
            <a:spLocks xmlns:a="http://schemas.openxmlformats.org/drawingml/2006/main" noGrp="1"/>
          </p:cNvSpPr>
          <p:nvPr/>
        </p:nvSpPr>
        <p:spPr>
          <a:xfrm xmlns:a="http://schemas.openxmlformats.org/drawingml/2006/main">
            <a:off x="571500" y="2076450"/>
            <a:ext cx="4905375"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0">
            <a:noFill/>
          </a:ln>
        </p:spPr>
      </p:sp>
      <p:sp>
        <p:nvSpPr>
          <p:cNvPr id="7" name="Rectangle 6">
            <a:extLst xmlns:a="http://schemas.openxmlformats.org/drawingml/2006/main">
              <a:ext uri="{FF2B5EF4-FFF2-40B4-BE49-F238E27FC236}">
                <a16:creationId xmlns:a16="http://schemas.microsoft.com/office/drawing/2014/main" id="{D4DF76C5-BC3E-449C-91B3-64233C9D483D}"/>
              </a:ext>
            </a:extLst>
          </p:cNvPr>
          <p:cNvSpPr>
            <a:spLocks xmlns:a="http://schemas.openxmlformats.org/drawingml/2006/main" noGrp="1"/>
          </p:cNvSpPr>
          <p:nvPr/>
        </p:nvSpPr>
        <p:spPr>
          <a:xfrm xmlns:a="http://schemas.openxmlformats.org/drawingml/2006/main">
            <a:off x="800100" y="2247900"/>
            <a:ext cx="4448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C64235"/>
                </a:solidFill>
                <a:latin typeface="Arial"/>
                <a:ea typeface="Arial"/>
                <a:cs typeface="Arial"/>
              </a:defRPr>
            </a:pPr>
            <a:r>
              <a:rPr sz="1500" b="1">
                <a:solidFill>
                  <a:srgbClr val="C64235"/>
                </a:solidFill>
                <a:latin typeface="Arial"/>
                <a:ea typeface="Arial"/>
                <a:cs typeface="Arial"/>
              </a:rPr>
              <a:t>Unknown dates</a:t>
            </a:r>
          </a:p>
        </p:txBody>
      </p:sp>
      <p:sp>
        <p:nvSpPr>
          <p:cNvPr id="8" name="Rectangle 7">
            <a:extLst xmlns:a="http://schemas.openxmlformats.org/drawingml/2006/main">
              <a:ext uri="{FF2B5EF4-FFF2-40B4-BE49-F238E27FC236}">
                <a16:creationId xmlns:a16="http://schemas.microsoft.com/office/drawing/2014/main" id="{6C6BA809-5D96-498B-8823-F30DE7E7EDE7}"/>
              </a:ext>
            </a:extLst>
          </p:cNvPr>
          <p:cNvSpPr>
            <a:spLocks xmlns:a="http://schemas.openxmlformats.org/drawingml/2006/main" noGrp="1"/>
          </p:cNvSpPr>
          <p:nvPr/>
        </p:nvSpPr>
        <p:spPr>
          <a:xfrm xmlns:a="http://schemas.openxmlformats.org/drawingml/2006/main">
            <a:off x="800100" y="2600325"/>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No reliable observation timestamp, so change over time cannot be measured.</a:t>
            </a:r>
          </a:p>
        </p:txBody>
      </p:sp>
      <p:sp>
        <p:nvSpPr>
          <p:cNvPr id="9" name="Rectangle: Rounded Corners 8">
            <a:extLst xmlns:a="http://schemas.openxmlformats.org/drawingml/2006/main">
              <a:ext uri="{FF2B5EF4-FFF2-40B4-BE49-F238E27FC236}">
                <a16:creationId xmlns:a16="http://schemas.microsoft.com/office/drawing/2014/main" id="{BE5026C0-4CAC-489E-B93F-938CA384C481}"/>
              </a:ext>
            </a:extLst>
          </p:cNvPr>
          <p:cNvSpPr>
            <a:spLocks xmlns:a="http://schemas.openxmlformats.org/drawingml/2006/main" noGrp="1"/>
          </p:cNvSpPr>
          <p:nvPr/>
        </p:nvSpPr>
        <p:spPr>
          <a:xfrm xmlns:a="http://schemas.openxmlformats.org/drawingml/2006/main">
            <a:off x="5857875" y="2076450"/>
            <a:ext cx="4905375" cy="1257300"/>
          </a:xfrm>
          <a:prstGeom xmlns:a="http://schemas.openxmlformats.org/drawingml/2006/main" prst="roundRect">
            <a:avLst>
              <a:gd name="adj" fmla="val 6061"/>
            </a:avLst>
          </a:prstGeom>
          <a:solidFill xmlns:a="http://schemas.openxmlformats.org/drawingml/2006/main">
            <a:srgbClr val="F5E7CB"/>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F1475FEB-7311-4846-B3FE-545CEFF9D2BE}"/>
              </a:ext>
            </a:extLst>
          </p:cNvPr>
          <p:cNvSpPr>
            <a:spLocks xmlns:a="http://schemas.openxmlformats.org/drawingml/2006/main" noGrp="1"/>
          </p:cNvSpPr>
          <p:nvPr/>
        </p:nvSpPr>
        <p:spPr>
          <a:xfrm xmlns:a="http://schemas.openxmlformats.org/drawingml/2006/main">
            <a:off x="6086475" y="2247900"/>
            <a:ext cx="4448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C64235"/>
                </a:solidFill>
                <a:latin typeface="Arial"/>
                <a:ea typeface="Arial"/>
                <a:cs typeface="Arial"/>
              </a:defRPr>
            </a:pPr>
            <a:r>
              <a:rPr sz="1500" b="1">
                <a:solidFill>
                  <a:srgbClr val="C64235"/>
                </a:solidFill>
                <a:latin typeface="Arial"/>
                <a:ea typeface="Arial"/>
                <a:cs typeface="Arial"/>
              </a:rPr>
              <a:t>Selection bias</a:t>
            </a:r>
          </a:p>
        </p:txBody>
      </p:sp>
      <p:sp>
        <p:nvSpPr>
          <p:cNvPr id="11" name="Rectangle 10">
            <a:extLst xmlns:a="http://schemas.openxmlformats.org/drawingml/2006/main">
              <a:ext uri="{FF2B5EF4-FFF2-40B4-BE49-F238E27FC236}">
                <a16:creationId xmlns:a16="http://schemas.microsoft.com/office/drawing/2014/main" id="{845A88AE-1E1E-407D-BB7D-B726A9C0FF6B}"/>
              </a:ext>
            </a:extLst>
          </p:cNvPr>
          <p:cNvSpPr>
            <a:spLocks xmlns:a="http://schemas.openxmlformats.org/drawingml/2006/main" noGrp="1"/>
          </p:cNvSpPr>
          <p:nvPr/>
        </p:nvSpPr>
        <p:spPr>
          <a:xfrm xmlns:a="http://schemas.openxmlformats.org/drawingml/2006/main">
            <a:off x="6086475" y="2600325"/>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Four source regions are not a representative sample of all Indian venues.</a:t>
            </a:r>
          </a:p>
        </p:txBody>
      </p:sp>
      <p:sp>
        <p:nvSpPr>
          <p:cNvPr id="12" name="Rectangle: Rounded Corners 11">
            <a:extLst xmlns:a="http://schemas.openxmlformats.org/drawingml/2006/main">
              <a:ext uri="{FF2B5EF4-FFF2-40B4-BE49-F238E27FC236}">
                <a16:creationId xmlns:a16="http://schemas.microsoft.com/office/drawing/2014/main" id="{12668950-5221-4A63-80E6-168EE84B512A}"/>
              </a:ext>
            </a:extLst>
          </p:cNvPr>
          <p:cNvSpPr>
            <a:spLocks xmlns:a="http://schemas.openxmlformats.org/drawingml/2006/main" noGrp="1"/>
          </p:cNvSpPr>
          <p:nvPr/>
        </p:nvSpPr>
        <p:spPr>
          <a:xfrm xmlns:a="http://schemas.openxmlformats.org/drawingml/2006/main">
            <a:off x="571500" y="3524250"/>
            <a:ext cx="4905375"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0">
            <a:noFill/>
          </a:ln>
        </p:spPr>
      </p:sp>
      <p:sp>
        <p:nvSpPr>
          <p:cNvPr id="13" name="Rectangle 12">
            <a:extLst xmlns:a="http://schemas.openxmlformats.org/drawingml/2006/main">
              <a:ext uri="{FF2B5EF4-FFF2-40B4-BE49-F238E27FC236}">
                <a16:creationId xmlns:a16="http://schemas.microsoft.com/office/drawing/2014/main" id="{F8F26A69-59AE-436E-B7F1-A5D6F94DE99C}"/>
              </a:ext>
            </a:extLst>
          </p:cNvPr>
          <p:cNvSpPr>
            <a:spLocks xmlns:a="http://schemas.openxmlformats.org/drawingml/2006/main" noGrp="1"/>
          </p:cNvSpPr>
          <p:nvPr/>
        </p:nvSpPr>
        <p:spPr>
          <a:xfrm xmlns:a="http://schemas.openxmlformats.org/drawingml/2006/main">
            <a:off x="800100" y="3695700"/>
            <a:ext cx="4448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C64235"/>
                </a:solidFill>
                <a:latin typeface="Arial"/>
                <a:ea typeface="Arial"/>
                <a:cs typeface="Arial"/>
              </a:defRPr>
            </a:pPr>
            <a:r>
              <a:rPr sz="1500" b="1">
                <a:solidFill>
                  <a:srgbClr val="C64235"/>
                </a:solidFill>
                <a:latin typeface="Arial"/>
                <a:ea typeface="Arial"/>
                <a:cs typeface="Arial"/>
              </a:rPr>
              <a:t>Sparse targets</a:t>
            </a:r>
          </a:p>
        </p:txBody>
      </p:sp>
      <p:sp>
        <p:nvSpPr>
          <p:cNvPr id="14" name="Rectangle 13">
            <a:extLst xmlns:a="http://schemas.openxmlformats.org/drawingml/2006/main">
              <a:ext uri="{FF2B5EF4-FFF2-40B4-BE49-F238E27FC236}">
                <a16:creationId xmlns:a16="http://schemas.microsoft.com/office/drawing/2014/main" id="{51269EA9-6ECF-4A46-87C0-E1387CD02866}"/>
              </a:ext>
            </a:extLst>
          </p:cNvPr>
          <p:cNvSpPr>
            <a:spLocks xmlns:a="http://schemas.openxmlformats.org/drawingml/2006/main" noGrp="1"/>
          </p:cNvSpPr>
          <p:nvPr/>
        </p:nvSpPr>
        <p:spPr>
          <a:xfrm xmlns:a="http://schemas.openxmlformats.org/drawingml/2006/main">
            <a:off x="800100" y="4048125"/>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Unrated venues cannot be used for supervised evaluation.</a:t>
            </a:r>
          </a:p>
        </p:txBody>
      </p:sp>
      <p:sp>
        <p:nvSpPr>
          <p:cNvPr id="15" name="Rectangle: Rounded Corners 14">
            <a:extLst xmlns:a="http://schemas.openxmlformats.org/drawingml/2006/main">
              <a:ext uri="{FF2B5EF4-FFF2-40B4-BE49-F238E27FC236}">
                <a16:creationId xmlns:a16="http://schemas.microsoft.com/office/drawing/2014/main" id="{4B59C0C0-DCB9-4EE6-9A10-15215D370C9E}"/>
              </a:ext>
            </a:extLst>
          </p:cNvPr>
          <p:cNvSpPr>
            <a:spLocks xmlns:a="http://schemas.openxmlformats.org/drawingml/2006/main" noGrp="1"/>
          </p:cNvSpPr>
          <p:nvPr/>
        </p:nvSpPr>
        <p:spPr>
          <a:xfrm xmlns:a="http://schemas.openxmlformats.org/drawingml/2006/main">
            <a:off x="5857875" y="3524250"/>
            <a:ext cx="4905375" cy="1257300"/>
          </a:xfrm>
          <a:prstGeom xmlns:a="http://schemas.openxmlformats.org/drawingml/2006/main" prst="roundRect">
            <a:avLst>
              <a:gd name="adj" fmla="val 6061"/>
            </a:avLst>
          </a:prstGeom>
          <a:solidFill xmlns:a="http://schemas.openxmlformats.org/drawingml/2006/main">
            <a:srgbClr val="F5E7CB"/>
          </a:solidFill>
          <a:ln xmlns:a="http://schemas.openxmlformats.org/drawingml/2006/main" w="0">
            <a:noFill/>
          </a:ln>
        </p:spPr>
      </p:sp>
      <p:sp>
        <p:nvSpPr>
          <p:cNvPr id="16" name="Rectangle 15">
            <a:extLst xmlns:a="http://schemas.openxmlformats.org/drawingml/2006/main">
              <a:ext uri="{FF2B5EF4-FFF2-40B4-BE49-F238E27FC236}">
                <a16:creationId xmlns:a16="http://schemas.microsoft.com/office/drawing/2014/main" id="{99A6A368-3C18-44A0-92B9-4A7200C75B64}"/>
              </a:ext>
            </a:extLst>
          </p:cNvPr>
          <p:cNvSpPr>
            <a:spLocks xmlns:a="http://schemas.openxmlformats.org/drawingml/2006/main" noGrp="1"/>
          </p:cNvSpPr>
          <p:nvPr/>
        </p:nvSpPr>
        <p:spPr>
          <a:xfrm xmlns:a="http://schemas.openxmlformats.org/drawingml/2006/main">
            <a:off x="6086475" y="3695700"/>
            <a:ext cx="4448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C64235"/>
                </a:solidFill>
                <a:latin typeface="Arial"/>
                <a:ea typeface="Arial"/>
                <a:cs typeface="Arial"/>
              </a:defRPr>
            </a:pPr>
            <a:r>
              <a:rPr sz="1500" b="1">
                <a:solidFill>
                  <a:srgbClr val="C64235"/>
                </a:solidFill>
                <a:latin typeface="Arial"/>
                <a:ea typeface="Arial"/>
                <a:cs typeface="Arial"/>
              </a:rPr>
              <a:t>Missing business facts</a:t>
            </a:r>
          </a:p>
        </p:txBody>
      </p:sp>
      <p:sp>
        <p:nvSpPr>
          <p:cNvPr id="17" name="Rectangle 16">
            <a:extLst xmlns:a="http://schemas.openxmlformats.org/drawingml/2006/main">
              <a:ext uri="{FF2B5EF4-FFF2-40B4-BE49-F238E27FC236}">
                <a16:creationId xmlns:a16="http://schemas.microsoft.com/office/drawing/2014/main" id="{7EEF5C77-83C8-42F8-8403-181648B5BF24}"/>
              </a:ext>
            </a:extLst>
          </p:cNvPr>
          <p:cNvSpPr>
            <a:spLocks xmlns:a="http://schemas.openxmlformats.org/drawingml/2006/main" noGrp="1"/>
          </p:cNvSpPr>
          <p:nvPr/>
        </p:nvSpPr>
        <p:spPr>
          <a:xfrm xmlns:a="http://schemas.openxmlformats.org/drawingml/2006/main">
            <a:off x="6086475" y="4048125"/>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1D2B27"/>
                </a:solidFill>
                <a:latin typeface="Arial"/>
                <a:ea typeface="Arial"/>
                <a:cs typeface="Arial"/>
              </a:defRPr>
            </a:pPr>
            <a:r>
              <a:rPr sz="1200" b="0">
                <a:solidFill>
                  <a:srgbClr val="1D2B27"/>
                </a:solidFill>
                <a:latin typeface="Arial"/>
                <a:ea typeface="Arial"/>
                <a:cs typeface="Arial"/>
              </a:rPr>
              <a:t>No bookings, prices, revenue, capacity or verified current availability.</a:t>
            </a:r>
          </a:p>
        </p:txBody>
      </p:sp>
      <p:sp>
        <p:nvSpPr>
          <p:cNvPr id="18" name="Rectangle: Rounded Corners 17">
            <a:extLst xmlns:a="http://schemas.openxmlformats.org/drawingml/2006/main">
              <a:ext uri="{FF2B5EF4-FFF2-40B4-BE49-F238E27FC236}">
                <a16:creationId xmlns:a16="http://schemas.microsoft.com/office/drawing/2014/main" id="{1DC3916E-B0B2-454D-A57A-F17FB5C0567B}"/>
              </a:ext>
            </a:extLst>
          </p:cNvPr>
          <p:cNvSpPr>
            <a:spLocks xmlns:a="http://schemas.openxmlformats.org/drawingml/2006/main" noGrp="1"/>
          </p:cNvSpPr>
          <p:nvPr/>
        </p:nvSpPr>
        <p:spPr>
          <a:xfrm xmlns:a="http://schemas.openxmlformats.org/drawingml/2006/main">
            <a:off x="571500" y="5067300"/>
            <a:ext cx="10191750" cy="876300"/>
          </a:xfrm>
          <a:prstGeom xmlns:a="http://schemas.openxmlformats.org/drawingml/2006/main" prst="roundRect">
            <a:avLst>
              <a:gd name="adj" fmla="val 8696"/>
            </a:avLst>
          </a:prstGeom>
          <a:solidFill xmlns:a="http://schemas.openxmlformats.org/drawingml/2006/main">
            <a:srgbClr val="173B31"/>
          </a:solidFill>
          <a:ln xmlns:a="http://schemas.openxmlformats.org/drawingml/2006/main" w="0">
            <a:noFill/>
          </a:ln>
        </p:spPr>
      </p:sp>
      <p:sp>
        <p:nvSpPr>
          <p:cNvPr id="19" name="Rectangle 18">
            <a:extLst xmlns:a="http://schemas.openxmlformats.org/drawingml/2006/main">
              <a:ext uri="{FF2B5EF4-FFF2-40B4-BE49-F238E27FC236}">
                <a16:creationId xmlns:a16="http://schemas.microsoft.com/office/drawing/2014/main" id="{2773A01F-D3EA-4F11-B08E-85473B2545E7}"/>
              </a:ext>
            </a:extLst>
          </p:cNvPr>
          <p:cNvSpPr>
            <a:spLocks xmlns:a="http://schemas.openxmlformats.org/drawingml/2006/main" noGrp="1"/>
          </p:cNvSpPr>
          <p:nvPr/>
        </p:nvSpPr>
        <p:spPr>
          <a:xfrm xmlns:a="http://schemas.openxmlformats.org/drawingml/2006/main">
            <a:off x="800100" y="5238750"/>
            <a:ext cx="9734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Modest model fit</a:t>
            </a:r>
          </a:p>
        </p:txBody>
      </p:sp>
      <p:sp>
        <p:nvSpPr>
          <p:cNvPr id="20" name="Rectangle 19">
            <a:extLst xmlns:a="http://schemas.openxmlformats.org/drawingml/2006/main">
              <a:ext uri="{FF2B5EF4-FFF2-40B4-BE49-F238E27FC236}">
                <a16:creationId xmlns:a16="http://schemas.microsoft.com/office/drawing/2014/main" id="{875C6957-AF84-455E-8B08-25C8BF84AF23}"/>
              </a:ext>
            </a:extLst>
          </p:cNvPr>
          <p:cNvSpPr>
            <a:spLocks xmlns:a="http://schemas.openxmlformats.org/drawingml/2006/main" noGrp="1"/>
          </p:cNvSpPr>
          <p:nvPr/>
        </p:nvSpPr>
        <p:spPr>
          <a:xfrm xmlns:a="http://schemas.openxmlformats.org/drawingml/2006/main">
            <a:off x="800100" y="5591175"/>
            <a:ext cx="973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00" b="0">
                <a:solidFill>
                  <a:srgbClr val="DDECE2"/>
                </a:solidFill>
                <a:latin typeface="Arial"/>
                <a:ea typeface="Arial"/>
                <a:cs typeface="Arial"/>
              </a:defRPr>
            </a:pPr>
            <a:r>
              <a:rPr sz="1200" b="0">
                <a:solidFill>
                  <a:srgbClr val="DDECE2"/>
                </a:solidFill>
                <a:latin typeface="Arial"/>
                <a:ea typeface="Arial"/>
                <a:cs typeface="Arial"/>
              </a:rPr>
              <a:t>Predictions are research estimates, not quality guarantees.</a:t>
            </a:r>
          </a:p>
        </p:txBody>
      </p:sp>
    </p:spTree>
    <p:extLst>
      <p:ext uri="{BB962C8B-B14F-4D97-AF65-F5344CB8AC3E}">
        <p14:creationId xmlns:p14="http://schemas.microsoft.com/office/powerpoint/2010/main" val="9706808"/>
      </p:ext>
    </p:extLst>
  </p:cSld>
</p:sld>
</file>

<file path=ppt/slides/slide16.xml><?xml version="1.0" encoding="utf-8"?>
<p:sld xmlns:p="http://schemas.openxmlformats.org/presentationml/2006/main">
  <p:cSld>
    <p:bg>
      <p:bgPr>
        <a:solidFill xmlns:a="http://schemas.openxmlformats.org/drawingml/2006/main">
          <a:srgbClr val="173B31"/>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643C10BE-C5D2-4D96-A477-CD2A083BEEE6}"/>
              </a:ext>
            </a:extLst>
          </p:cNvPr>
          <p:cNvSpPr>
            <a:spLocks xmlns:a="http://schemas.openxmlformats.org/drawingml/2006/main" noGrp="1"/>
          </p:cNvSpPr>
          <p:nvPr/>
        </p:nvSpPr>
        <p:spPr>
          <a:xfrm xmlns:a="http://schemas.openxmlformats.org/drawingml/2006/main">
            <a:off x="609600" y="723900"/>
            <a:ext cx="685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FROM RAW FILES TO</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AUDITABLE DECISIONS</a:t>
            </a:r>
          </a:p>
        </p:txBody>
      </p:sp>
      <p:sp>
        <p:nvSpPr>
          <p:cNvPr id="2" name="Rectangle 1">
            <a:extLst xmlns:a="http://schemas.openxmlformats.org/drawingml/2006/main">
              <a:ext uri="{FF2B5EF4-FFF2-40B4-BE49-F238E27FC236}">
                <a16:creationId xmlns:a16="http://schemas.microsoft.com/office/drawing/2014/main" id="{589F4447-4581-48EA-AB54-35E78DF6A3AA}"/>
              </a:ext>
            </a:extLst>
          </p:cNvPr>
          <p:cNvSpPr>
            <a:spLocks xmlns:a="http://schemas.openxmlformats.org/drawingml/2006/main" noGrp="1"/>
          </p:cNvSpPr>
          <p:nvPr/>
        </p:nvSpPr>
        <p:spPr>
          <a:xfrm xmlns:a="http://schemas.openxmlformats.org/drawingml/2006/main">
            <a:off x="628650" y="2400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275" b="1">
                <a:solidFill>
                  <a:srgbClr val="D89029"/>
                </a:solidFill>
                <a:latin typeface="Arial"/>
                <a:ea typeface="Arial"/>
                <a:cs typeface="Arial"/>
              </a:defRPr>
            </a:pPr>
            <a:r>
              <a:rPr sz="1275" b="1">
                <a:solidFill>
                  <a:srgbClr val="D89029"/>
                </a:solidFill>
                <a:latin typeface="Arial"/>
                <a:ea typeface="Arial"/>
                <a:cs typeface="Arial"/>
              </a:rPr>
              <a:t>What the team built</a:t>
            </a:r>
          </a:p>
        </p:txBody>
      </p:sp>
      <p:sp>
        <p:nvSpPr>
          <p:cNvPr id="3" name="Oval 2">
            <a:extLst xmlns:a="http://schemas.openxmlformats.org/drawingml/2006/main">
              <a:ext uri="{FF2B5EF4-FFF2-40B4-BE49-F238E27FC236}">
                <a16:creationId xmlns:a16="http://schemas.microsoft.com/office/drawing/2014/main" id="{72BB9142-E399-4901-8622-BEA8F25C5EC8}"/>
              </a:ext>
            </a:extLst>
          </p:cNvPr>
          <p:cNvSpPr>
            <a:spLocks xmlns:a="http://schemas.openxmlformats.org/drawingml/2006/main" noGrp="1"/>
          </p:cNvSpPr>
          <p:nvPr/>
        </p:nvSpPr>
        <p:spPr>
          <a:xfrm xmlns:a="http://schemas.openxmlformats.org/drawingml/2006/main">
            <a:off x="647700" y="2895600"/>
            <a:ext cx="190500" cy="190500"/>
          </a:xfrm>
          <a:prstGeom xmlns:a="http://schemas.openxmlformats.org/drawingml/2006/main" prst="ellipse">
            <a:avLst/>
          </a:prstGeom>
          <a:solidFill xmlns:a="http://schemas.openxmlformats.org/drawingml/2006/main">
            <a:srgbClr val="C64235"/>
          </a:solidFill>
          <a:ln xmlns:a="http://schemas.openxmlformats.org/drawingml/2006/main" w="0">
            <a:noFill/>
          </a:ln>
        </p:spPr>
      </p:sp>
      <p:sp>
        <p:nvSpPr>
          <p:cNvPr id="4" name="Rectangle 3">
            <a:extLst xmlns:a="http://schemas.openxmlformats.org/drawingml/2006/main">
              <a:ext uri="{FF2B5EF4-FFF2-40B4-BE49-F238E27FC236}">
                <a16:creationId xmlns:a16="http://schemas.microsoft.com/office/drawing/2014/main" id="{24BA6B03-C21B-49C0-A664-08447774AC8A}"/>
              </a:ext>
            </a:extLst>
          </p:cNvPr>
          <p:cNvSpPr>
            <a:spLocks xmlns:a="http://schemas.openxmlformats.org/drawingml/2006/main" noGrp="1"/>
          </p:cNvSpPr>
          <p:nvPr/>
        </p:nvSpPr>
        <p:spPr>
          <a:xfrm xmlns:a="http://schemas.openxmlformats.org/drawingml/2006/main">
            <a:off x="990600" y="28575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3,697 deduplicated historical venues</a:t>
            </a:r>
          </a:p>
        </p:txBody>
      </p:sp>
      <p:sp>
        <p:nvSpPr>
          <p:cNvPr id="5" name="Oval 4">
            <a:extLst xmlns:a="http://schemas.openxmlformats.org/drawingml/2006/main">
              <a:ext uri="{FF2B5EF4-FFF2-40B4-BE49-F238E27FC236}">
                <a16:creationId xmlns:a16="http://schemas.microsoft.com/office/drawing/2014/main" id="{E0591334-42B8-4D19-BA63-CEA9B7EDC55C}"/>
              </a:ext>
            </a:extLst>
          </p:cNvPr>
          <p:cNvSpPr>
            <a:spLocks xmlns:a="http://schemas.openxmlformats.org/drawingml/2006/main" noGrp="1"/>
          </p:cNvSpPr>
          <p:nvPr/>
        </p:nvSpPr>
        <p:spPr>
          <a:xfrm xmlns:a="http://schemas.openxmlformats.org/drawingml/2006/main">
            <a:off x="647700" y="3390900"/>
            <a:ext cx="190500" cy="190500"/>
          </a:xfrm>
          <a:prstGeom xmlns:a="http://schemas.openxmlformats.org/drawingml/2006/main" prst="ellipse">
            <a:avLst/>
          </a:prstGeom>
          <a:solidFill xmlns:a="http://schemas.openxmlformats.org/drawingml/2006/main">
            <a:srgbClr val="D89029"/>
          </a:solidFill>
          <a:ln xmlns:a="http://schemas.openxmlformats.org/drawingml/2006/main" w="0">
            <a:noFill/>
          </a:ln>
        </p:spPr>
      </p:sp>
      <p:sp>
        <p:nvSpPr>
          <p:cNvPr id="6" name="Rectangle 5">
            <a:extLst xmlns:a="http://schemas.openxmlformats.org/drawingml/2006/main">
              <a:ext uri="{FF2B5EF4-FFF2-40B4-BE49-F238E27FC236}">
                <a16:creationId xmlns:a16="http://schemas.microsoft.com/office/drawing/2014/main" id="{BD8D1BFB-1E11-43A7-AA8B-1C809947F944}"/>
              </a:ext>
            </a:extLst>
          </p:cNvPr>
          <p:cNvSpPr>
            <a:spLocks xmlns:a="http://schemas.openxmlformats.org/drawingml/2006/main" noGrp="1"/>
          </p:cNvSpPr>
          <p:nvPr/>
        </p:nvSpPr>
        <p:spPr>
          <a:xfrm xmlns:a="http://schemas.openxmlformats.org/drawingml/2006/main">
            <a:off x="990600" y="33528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Normalized PostgreSQL with provenance</a:t>
            </a:r>
          </a:p>
        </p:txBody>
      </p:sp>
      <p:sp>
        <p:nvSpPr>
          <p:cNvPr id="7" name="Oval 6">
            <a:extLst xmlns:a="http://schemas.openxmlformats.org/drawingml/2006/main">
              <a:ext uri="{FF2B5EF4-FFF2-40B4-BE49-F238E27FC236}">
                <a16:creationId xmlns:a16="http://schemas.microsoft.com/office/drawing/2014/main" id="{173FCBE7-F037-4FC9-A8AF-F218E000D2CE}"/>
              </a:ext>
            </a:extLst>
          </p:cNvPr>
          <p:cNvSpPr>
            <a:spLocks xmlns:a="http://schemas.openxmlformats.org/drawingml/2006/main" noGrp="1"/>
          </p:cNvSpPr>
          <p:nvPr/>
        </p:nvSpPr>
        <p:spPr>
          <a:xfrm xmlns:a="http://schemas.openxmlformats.org/drawingml/2006/main">
            <a:off x="647700" y="3886200"/>
            <a:ext cx="190500" cy="190500"/>
          </a:xfrm>
          <a:prstGeom xmlns:a="http://schemas.openxmlformats.org/drawingml/2006/main" prst="ellipse">
            <a:avLst/>
          </a:prstGeom>
          <a:solidFill xmlns:a="http://schemas.openxmlformats.org/drawingml/2006/main">
            <a:srgbClr val="2D7A62"/>
          </a:solidFill>
          <a:ln xmlns:a="http://schemas.openxmlformats.org/drawingml/2006/main" w="0">
            <a:noFill/>
          </a:ln>
        </p:spPr>
      </p:sp>
      <p:sp>
        <p:nvSpPr>
          <p:cNvPr id="8" name="Rectangle 7">
            <a:extLst xmlns:a="http://schemas.openxmlformats.org/drawingml/2006/main">
              <a:ext uri="{FF2B5EF4-FFF2-40B4-BE49-F238E27FC236}">
                <a16:creationId xmlns:a16="http://schemas.microsoft.com/office/drawing/2014/main" id="{3DD5FAA8-94E1-4732-A30A-A9EA35213F3C}"/>
              </a:ext>
            </a:extLst>
          </p:cNvPr>
          <p:cNvSpPr>
            <a:spLocks xmlns:a="http://schemas.openxmlformats.org/drawingml/2006/main" noGrp="1"/>
          </p:cNvSpPr>
          <p:nvPr/>
        </p:nvSpPr>
        <p:spPr>
          <a:xfrm xmlns:a="http://schemas.openxmlformats.org/drawingml/2006/main">
            <a:off x="990600" y="38481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Leakage-aware grouped ML evaluation</a:t>
            </a:r>
          </a:p>
        </p:txBody>
      </p:sp>
      <p:sp>
        <p:nvSpPr>
          <p:cNvPr id="9" name="Oval 8">
            <a:extLst xmlns:a="http://schemas.openxmlformats.org/drawingml/2006/main">
              <a:ext uri="{FF2B5EF4-FFF2-40B4-BE49-F238E27FC236}">
                <a16:creationId xmlns:a16="http://schemas.microsoft.com/office/drawing/2014/main" id="{DAC721C8-7978-4279-8457-7E8691A7A80A}"/>
              </a:ext>
            </a:extLst>
          </p:cNvPr>
          <p:cNvSpPr>
            <a:spLocks xmlns:a="http://schemas.openxmlformats.org/drawingml/2006/main" noGrp="1"/>
          </p:cNvSpPr>
          <p:nvPr/>
        </p:nvSpPr>
        <p:spPr>
          <a:xfrm xmlns:a="http://schemas.openxmlformats.org/drawingml/2006/main">
            <a:off x="647700" y="4381500"/>
            <a:ext cx="190500" cy="190500"/>
          </a:xfrm>
          <a:prstGeom xmlns:a="http://schemas.openxmlformats.org/drawingml/2006/main" prst="ellipse">
            <a:avLst/>
          </a:prstGeom>
          <a:solidFill xmlns:a="http://schemas.openxmlformats.org/drawingml/2006/main">
            <a:srgbClr val="4E79A7"/>
          </a:solidFill>
          <a:ln xmlns:a="http://schemas.openxmlformats.org/drawingml/2006/main" w="0">
            <a:noFill/>
          </a:ln>
        </p:spPr>
      </p:sp>
      <p:sp>
        <p:nvSpPr>
          <p:cNvPr id="10" name="Rectangle 9">
            <a:extLst xmlns:a="http://schemas.openxmlformats.org/drawingml/2006/main">
              <a:ext uri="{FF2B5EF4-FFF2-40B4-BE49-F238E27FC236}">
                <a16:creationId xmlns:a16="http://schemas.microsoft.com/office/drawing/2014/main" id="{869FCC03-2101-4EF3-B903-6A655154074C}"/>
              </a:ext>
            </a:extLst>
          </p:cNvPr>
          <p:cNvSpPr>
            <a:spLocks xmlns:a="http://schemas.openxmlformats.org/drawingml/2006/main" noGrp="1"/>
          </p:cNvSpPr>
          <p:nvPr/>
        </p:nvSpPr>
        <p:spPr>
          <a:xfrm xmlns:a="http://schemas.openxmlformats.org/drawingml/2006/main">
            <a:off x="990600" y="43434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Public Cloudflare dashboard backed by Supabase</a:t>
            </a:r>
          </a:p>
        </p:txBody>
      </p:sp>
      <p:sp>
        <p:nvSpPr>
          <p:cNvPr id="11" name="Oval 10">
            <a:extLst xmlns:a="http://schemas.openxmlformats.org/drawingml/2006/main">
              <a:ext uri="{FF2B5EF4-FFF2-40B4-BE49-F238E27FC236}">
                <a16:creationId xmlns:a16="http://schemas.microsoft.com/office/drawing/2014/main" id="{58363BB7-F1F8-45F2-8674-AC366DD3C7AF}"/>
              </a:ext>
            </a:extLst>
          </p:cNvPr>
          <p:cNvSpPr>
            <a:spLocks xmlns:a="http://schemas.openxmlformats.org/drawingml/2006/main" noGrp="1"/>
          </p:cNvSpPr>
          <p:nvPr/>
        </p:nvSpPr>
        <p:spPr>
          <a:xfrm xmlns:a="http://schemas.openxmlformats.org/drawingml/2006/main">
            <a:off x="647700" y="4876800"/>
            <a:ext cx="190500" cy="190500"/>
          </a:xfrm>
          <a:prstGeom xmlns:a="http://schemas.openxmlformats.org/drawingml/2006/main" prst="ellipse">
            <a:avLst/>
          </a:prstGeom>
          <a:solidFill xmlns:a="http://schemas.openxmlformats.org/drawingml/2006/main">
            <a:srgbClr val="9B6BB0"/>
          </a:solidFill>
          <a:ln xmlns:a="http://schemas.openxmlformats.org/drawingml/2006/main" w="0">
            <a:noFill/>
          </a:ln>
        </p:spPr>
      </p:sp>
      <p:sp>
        <p:nvSpPr>
          <p:cNvPr id="12" name="Rectangle 11">
            <a:extLst xmlns:a="http://schemas.openxmlformats.org/drawingml/2006/main">
              <a:ext uri="{FF2B5EF4-FFF2-40B4-BE49-F238E27FC236}">
                <a16:creationId xmlns:a16="http://schemas.microsoft.com/office/drawing/2014/main" id="{39B83BBC-FFAC-49C6-AE2B-9B03B14DEB66}"/>
              </a:ext>
            </a:extLst>
          </p:cNvPr>
          <p:cNvSpPr>
            <a:spLocks xmlns:a="http://schemas.openxmlformats.org/drawingml/2006/main" noGrp="1"/>
          </p:cNvSpPr>
          <p:nvPr/>
        </p:nvSpPr>
        <p:spPr>
          <a:xfrm xmlns:a="http://schemas.openxmlformats.org/drawingml/2006/main">
            <a:off x="990600" y="48387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Moderated community discovery with historical isolation</a:t>
            </a:r>
          </a:p>
        </p:txBody>
      </p:sp>
      <p:sp>
        <p:nvSpPr>
          <p:cNvPr id="13" name="Rectangle: Rounded Corners 12">
            <a:extLst xmlns:a="http://schemas.openxmlformats.org/drawingml/2006/main">
              <a:ext uri="{FF2B5EF4-FFF2-40B4-BE49-F238E27FC236}">
                <a16:creationId xmlns:a16="http://schemas.microsoft.com/office/drawing/2014/main" id="{80D1659C-9247-4DF3-9F2E-194A97843011}"/>
              </a:ext>
            </a:extLst>
          </p:cNvPr>
          <p:cNvSpPr>
            <a:spLocks xmlns:a="http://schemas.openxmlformats.org/drawingml/2006/main" noGrp="1"/>
          </p:cNvSpPr>
          <p:nvPr/>
        </p:nvSpPr>
        <p:spPr>
          <a:xfrm xmlns:a="http://schemas.openxmlformats.org/drawingml/2006/main">
            <a:off x="8020050" y="666750"/>
            <a:ext cx="3333750" cy="4762500"/>
          </a:xfrm>
          <a:prstGeom xmlns:a="http://schemas.openxmlformats.org/drawingml/2006/main" prst="roundRect">
            <a:avLst>
              <a:gd name="adj" fmla="val 2286"/>
            </a:avLst>
          </a:prstGeom>
          <a:solidFill xmlns:a="http://schemas.openxmlformats.org/drawingml/2006/main">
            <a:srgbClr val="F7F3EA"/>
          </a:solidFill>
          <a:ln xmlns:a="http://schemas.openxmlformats.org/drawingml/2006/main" w="0">
            <a:noFill/>
          </a:ln>
        </p:spPr>
      </p:sp>
      <p:sp>
        <p:nvSpPr>
          <p:cNvPr id="14" name="Rectangle 13">
            <a:extLst xmlns:a="http://schemas.openxmlformats.org/drawingml/2006/main">
              <a:ext uri="{FF2B5EF4-FFF2-40B4-BE49-F238E27FC236}">
                <a16:creationId xmlns:a16="http://schemas.microsoft.com/office/drawing/2014/main" id="{5933E12E-D06A-4BDC-8519-2E50A446DDDF}"/>
              </a:ext>
            </a:extLst>
          </p:cNvPr>
          <p:cNvSpPr>
            <a:spLocks xmlns:a="http://schemas.openxmlformats.org/drawingml/2006/main" noGrp="1"/>
          </p:cNvSpPr>
          <p:nvPr/>
        </p:nvSpPr>
        <p:spPr>
          <a:xfrm xmlns:a="http://schemas.openxmlformats.org/drawingml/2006/main">
            <a:off x="8324850" y="1009650"/>
            <a:ext cx="2724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buNone/>
              <a:defRPr sz="1725" b="1">
                <a:solidFill>
                  <a:srgbClr val="173B31"/>
                </a:solidFill>
                <a:latin typeface="Arial"/>
                <a:ea typeface="Arial"/>
                <a:cs typeface="Arial"/>
              </a:defRPr>
            </a:pPr>
            <a:r>
              <a:rPr sz="1725" b="1">
                <a:solidFill>
                  <a:srgbClr val="173B31"/>
                </a:solidFill>
                <a:latin typeface="Arial"/>
                <a:ea typeface="Arial"/>
                <a:cs typeface="Arial"/>
              </a:rPr>
              <a:t>Suggested live demo</a:t>
            </a:r>
          </a:p>
        </p:txBody>
      </p:sp>
      <p:sp>
        <p:nvSpPr>
          <p:cNvPr id="15" name="Rectangle 14">
            <a:extLst xmlns:a="http://schemas.openxmlformats.org/drawingml/2006/main">
              <a:ext uri="{FF2B5EF4-FFF2-40B4-BE49-F238E27FC236}">
                <a16:creationId xmlns:a16="http://schemas.microsoft.com/office/drawing/2014/main" id="{5A9A297B-B25C-4999-A155-974DAA2DD8A4}"/>
              </a:ext>
            </a:extLst>
          </p:cNvPr>
          <p:cNvSpPr>
            <a:spLocks xmlns:a="http://schemas.openxmlformats.org/drawingml/2006/main" noGrp="1"/>
          </p:cNvSpPr>
          <p:nvPr/>
        </p:nvSpPr>
        <p:spPr>
          <a:xfrm xmlns:a="http://schemas.openxmlformats.org/drawingml/2006/main">
            <a:off x="8324850" y="1657350"/>
            <a:ext cx="2571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1  Overview</a:t>
            </a:r>
          </a:p>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2  Venue explorer</a:t>
            </a:r>
          </a:p>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3  Activities &amp; services</a:t>
            </a:r>
          </a:p>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4  SQL analysis</a:t>
            </a:r>
          </a:p>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5  ML explanation</a:t>
            </a:r>
          </a:p>
          <a:p xmlns:a="http://schemas.openxmlformats.org/drawingml/2006/main">
            <a:pPr>
              <a:buNone/>
              <a:defRPr sz="1650" b="0">
                <a:solidFill>
                  <a:srgbClr val="1D2B27"/>
                </a:solidFill>
                <a:latin typeface="Arial"/>
                <a:ea typeface="Arial"/>
                <a:cs typeface="Arial"/>
              </a:defRPr>
            </a:pPr>
            <a:r>
              <a:rPr sz="1650" b="0">
                <a:solidFill>
                  <a:srgbClr val="1D2B27"/>
                </a:solidFill>
                <a:latin typeface="Arial"/>
                <a:ea typeface="Arial"/>
                <a:cs typeface="Arial"/>
              </a:rPr>
              <a:t>6  Add, approve &amp; find</a:t>
            </a:r>
          </a:p>
        </p:txBody>
      </p:sp>
      <p:sp>
        <p:nvSpPr>
          <p:cNvPr id="16" name="Rectangle: Rounded Corners 15">
            <a:extLst xmlns:a="http://schemas.openxmlformats.org/drawingml/2006/main">
              <a:ext uri="{FF2B5EF4-FFF2-40B4-BE49-F238E27FC236}">
                <a16:creationId xmlns:a16="http://schemas.microsoft.com/office/drawing/2014/main" id="{D097AE54-4002-4F5F-9842-4E00D1DCC101}"/>
              </a:ext>
            </a:extLst>
          </p:cNvPr>
          <p:cNvSpPr>
            <a:spLocks xmlns:a="http://schemas.openxmlformats.org/drawingml/2006/main" noGrp="1"/>
          </p:cNvSpPr>
          <p:nvPr/>
        </p:nvSpPr>
        <p:spPr>
          <a:xfrm xmlns:a="http://schemas.openxmlformats.org/drawingml/2006/main">
            <a:off x="8324850" y="4552950"/>
            <a:ext cx="1714500" cy="342900"/>
          </a:xfrm>
          <a:prstGeom xmlns:a="http://schemas.openxmlformats.org/drawingml/2006/main" prst="roundRect">
            <a:avLst>
              <a:gd name="adj" fmla="val 22222"/>
            </a:avLst>
          </a:prstGeom>
          <a:solidFill xmlns:a="http://schemas.openxmlformats.org/drawingml/2006/main">
            <a:srgbClr val="C64235"/>
          </a:solidFill>
          <a:ln xmlns:a="http://schemas.openxmlformats.org/drawingml/2006/main" w="0">
            <a:noFill/>
          </a:ln>
        </p:spPr>
      </p:sp>
      <p:sp>
        <p:nvSpPr>
          <p:cNvPr id="17" name="Rectangle 16">
            <a:extLst xmlns:a="http://schemas.openxmlformats.org/drawingml/2006/main">
              <a:ext uri="{FF2B5EF4-FFF2-40B4-BE49-F238E27FC236}">
                <a16:creationId xmlns:a16="http://schemas.microsoft.com/office/drawing/2014/main" id="{F5CB9FAE-B484-4ACE-A147-EB0A16B73314}"/>
              </a:ext>
            </a:extLst>
          </p:cNvPr>
          <p:cNvSpPr>
            <a:spLocks xmlns:a="http://schemas.openxmlformats.org/drawingml/2006/main" noGrp="1"/>
          </p:cNvSpPr>
          <p:nvPr/>
        </p:nvSpPr>
        <p:spPr>
          <a:xfrm xmlns:a="http://schemas.openxmlformats.org/drawingml/2006/main">
            <a:off x="8458200" y="4619625"/>
            <a:ext cx="144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FFFFFF"/>
                </a:solidFill>
                <a:latin typeface="Arial"/>
                <a:ea typeface="Arial"/>
                <a:cs typeface="Arial"/>
              </a:defRPr>
            </a:pPr>
            <a:r>
              <a:rPr sz="1125" b="1">
                <a:solidFill>
                  <a:srgbClr val="FFFFFF"/>
                </a:solidFill>
                <a:latin typeface="Arial"/>
                <a:ea typeface="Arial"/>
                <a:cs typeface="Arial"/>
              </a:rPr>
              <a:t>Questions?</a:t>
            </a:r>
          </a:p>
        </p:txBody>
      </p:sp>
      <p:sp>
        <p:nvSpPr>
          <p:cNvPr id="18" name="Rectangle 17">
            <a:extLst xmlns:a="http://schemas.openxmlformats.org/drawingml/2006/main">
              <a:ext uri="{FF2B5EF4-FFF2-40B4-BE49-F238E27FC236}">
                <a16:creationId xmlns:a16="http://schemas.microsoft.com/office/drawing/2014/main" id="{E3A56E1B-7059-4B36-B28F-A2B007BA970A}"/>
              </a:ext>
            </a:extLst>
          </p:cNvPr>
          <p:cNvSpPr>
            <a:spLocks xmlns:a="http://schemas.openxmlformats.org/drawingml/2006/main" noGrp="1"/>
          </p:cNvSpPr>
          <p:nvPr/>
        </p:nvSpPr>
        <p:spPr>
          <a:xfrm xmlns:a="http://schemas.openxmlformats.org/drawingml/2006/main">
            <a:off x="628650" y="613410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DDECE2"/>
                </a:solidFill>
                <a:latin typeface="Arial"/>
                <a:ea typeface="Arial"/>
                <a:cs typeface="Arial"/>
              </a:defRPr>
            </a:pPr>
            <a:r>
              <a:rPr sz="1200" b="0">
                <a:solidFill>
                  <a:srgbClr val="DDECE2"/>
                </a:solidFill>
                <a:latin typeface="Arial"/>
                <a:ea typeface="Arial"/>
                <a:cs typeface="Arial"/>
              </a:rPr>
              <a:t>Source code and methodology are public on GitHub.</a:t>
            </a:r>
          </a:p>
        </p:txBody>
      </p:sp>
    </p:spTree>
    <p:extLst>
      <p:ext uri="{BB962C8B-B14F-4D97-AF65-F5344CB8AC3E}">
        <p14:creationId xmlns:p14="http://schemas.microsoft.com/office/powerpoint/2010/main" val="85867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2026-10-02T08:59:23.7040000Z</dcterms:created>
  <dcterms:modified xsi:type="dcterms:W3CDTF">2026-10-02T08:59:23.7040000Z</dcterms:modified>
</coreProperties>
</file>