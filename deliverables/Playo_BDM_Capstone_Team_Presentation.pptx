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3c4e743c32a4db9" /><Relationship Type="http://schemas.openxmlformats.org/officeDocument/2006/relationships/extended-properties" Target="/docProps/app.xml" Id="Rcd3518845058446e" /><Relationship Type="http://schemas.openxmlformats.org/officeDocument/2006/relationships/officeDocument" Target="/ppt/presentation.xml" Id="R1fd04de3b39245ff" /></Relationships>
</file>

<file path=ppt/presentation.xml><?xml version="1.0" encoding="utf-8"?>
<p:presentation xmlns:p="http://schemas.openxmlformats.org/presentationml/2006/main">
  <p:sldMasterIdLst>
    <p:sldMasterId xmlns:r="http://schemas.openxmlformats.org/officeDocument/2006/relationships" id="2147483648" r:id="R5a9d2846675b4787"/>
  </p:sldMasterIdLst>
  <p:notesMasterIdLst>
    <p:notesMasterId xmlns:r="http://schemas.openxmlformats.org/officeDocument/2006/relationships" r:id="R45f7b091647d41c9"/>
  </p:notesMasterIdLst>
  <p:sldIdLst>
    <p:sldId xmlns:r="http://schemas.openxmlformats.org/officeDocument/2006/relationships" id="256" r:id="R7c92b7c5121e4e53"/>
    <p:sldId xmlns:r="http://schemas.openxmlformats.org/officeDocument/2006/relationships" id="257" r:id="Ra6aca5cbc6334187"/>
    <p:sldId xmlns:r="http://schemas.openxmlformats.org/officeDocument/2006/relationships" id="258" r:id="Re9410991768c42a3"/>
    <p:sldId xmlns:r="http://schemas.openxmlformats.org/officeDocument/2006/relationships" id="259" r:id="Rb1a48b72ad364f34"/>
    <p:sldId xmlns:r="http://schemas.openxmlformats.org/officeDocument/2006/relationships" id="260" r:id="R405579c24f0044d7"/>
    <p:sldId xmlns:r="http://schemas.openxmlformats.org/officeDocument/2006/relationships" id="261" r:id="R19aef1ce116c4674"/>
    <p:sldId xmlns:r="http://schemas.openxmlformats.org/officeDocument/2006/relationships" id="262" r:id="Rebc94d8d3915453d"/>
    <p:sldId xmlns:r="http://schemas.openxmlformats.org/officeDocument/2006/relationships" id="263" r:id="R759249be916646d4"/>
    <p:sldId xmlns:r="http://schemas.openxmlformats.org/officeDocument/2006/relationships" id="264" r:id="R891f1a20f3d44203"/>
    <p:sldId xmlns:r="http://schemas.openxmlformats.org/officeDocument/2006/relationships" id="265" r:id="R20d057709e67427e"/>
    <p:sldId xmlns:r="http://schemas.openxmlformats.org/officeDocument/2006/relationships" id="266" r:id="R527a879d118a46ad"/>
    <p:sldId xmlns:r="http://schemas.openxmlformats.org/officeDocument/2006/relationships" id="267" r:id="R4bb46029c0934f7f"/>
    <p:sldId xmlns:r="http://schemas.openxmlformats.org/officeDocument/2006/relationships" id="268" r:id="R0e850f9d57a648f3"/>
    <p:sldId xmlns:r="http://schemas.openxmlformats.org/officeDocument/2006/relationships" id="269" r:id="R6f65270b3a074da4"/>
    <p:sldId xmlns:r="http://schemas.openxmlformats.org/officeDocument/2006/relationships" id="270" r:id="R83a8110a3ffc48eb"/>
    <p:sldId xmlns:r="http://schemas.openxmlformats.org/officeDocument/2006/relationships" id="271" r:id="R9e85f58676b04c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ee214de8adf4249" /><Relationship Type="http://schemas.openxmlformats.org/officeDocument/2006/relationships/slideMaster" Target="/ppt/slideMasters/slideMaster1.xml" Id="R5a9d2846675b4787" /><Relationship Type="http://schemas.openxmlformats.org/officeDocument/2006/relationships/notesMaster" Target="/ppt/notesMasters/notesMaster1.xml" Id="R45f7b091647d41c9" /><Relationship Type="http://schemas.openxmlformats.org/officeDocument/2006/relationships/presProps" Target="/ppt/presProps.xml" Id="R5d969af4d74347fb" /><Relationship Type="http://schemas.openxmlformats.org/officeDocument/2006/relationships/tableStyles" Target="/ppt/tableStyles.xml" Id="R53717a081e1747bf" /><Relationship Type="http://schemas.openxmlformats.org/officeDocument/2006/relationships/slide" Target="/ppt/slides/slide1.xml" Id="R7c92b7c5121e4e53" /><Relationship Type="http://schemas.openxmlformats.org/officeDocument/2006/relationships/slide" Target="/ppt/slides/slide2.xml" Id="Ra6aca5cbc6334187" /><Relationship Type="http://schemas.openxmlformats.org/officeDocument/2006/relationships/slide" Target="/ppt/slides/slide3.xml" Id="Re9410991768c42a3" /><Relationship Type="http://schemas.openxmlformats.org/officeDocument/2006/relationships/slide" Target="/ppt/slides/slide4.xml" Id="Rb1a48b72ad364f34" /><Relationship Type="http://schemas.openxmlformats.org/officeDocument/2006/relationships/slide" Target="/ppt/slides/slide5.xml" Id="R405579c24f0044d7" /><Relationship Type="http://schemas.openxmlformats.org/officeDocument/2006/relationships/slide" Target="/ppt/slides/slide6.xml" Id="R19aef1ce116c4674" /><Relationship Type="http://schemas.openxmlformats.org/officeDocument/2006/relationships/slide" Target="/ppt/slides/slide7.xml" Id="Rebc94d8d3915453d" /><Relationship Type="http://schemas.openxmlformats.org/officeDocument/2006/relationships/slide" Target="/ppt/slides/slide8.xml" Id="R759249be916646d4" /><Relationship Type="http://schemas.openxmlformats.org/officeDocument/2006/relationships/slide" Target="/ppt/slides/slide9.xml" Id="R891f1a20f3d44203" /><Relationship Type="http://schemas.openxmlformats.org/officeDocument/2006/relationships/slide" Target="/ppt/slides/slide10.xml" Id="R20d057709e67427e" /><Relationship Type="http://schemas.openxmlformats.org/officeDocument/2006/relationships/slide" Target="/ppt/slides/slide11.xml" Id="R527a879d118a46ad" /><Relationship Type="http://schemas.openxmlformats.org/officeDocument/2006/relationships/slide" Target="/ppt/slides/slide12.xml" Id="R4bb46029c0934f7f" /><Relationship Type="http://schemas.openxmlformats.org/officeDocument/2006/relationships/slide" Target="/ppt/slides/slide13.xml" Id="R0e850f9d57a648f3" /><Relationship Type="http://schemas.openxmlformats.org/officeDocument/2006/relationships/slide" Target="/ppt/slides/slide14.xml" Id="R6f65270b3a074da4" /><Relationship Type="http://schemas.openxmlformats.org/officeDocument/2006/relationships/slide" Target="/ppt/slides/slide15.xml" Id="R83a8110a3ffc48eb" /><Relationship Type="http://schemas.openxmlformats.org/officeDocument/2006/relationships/slide" Target="/ppt/slides/slide16.xml" Id="R9e85f58676b04c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f3bb120f3a4c9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0f14865e33742fb" /><Relationship Type="http://schemas.openxmlformats.org/officeDocument/2006/relationships/notesMaster" Target="/ppt/notesMasters/notesMaster1.xml" Id="Rbb6c6fb3fd0f43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a40c8bd9024556" /><Relationship Type="http://schemas.openxmlformats.org/officeDocument/2006/relationships/notesMaster" Target="/ppt/notesMasters/notesMaster1.xml" Id="R0ef3e13cd04f4d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6dbdd1283b4e4851" /><Relationship Type="http://schemas.openxmlformats.org/officeDocument/2006/relationships/notesMaster" Target="/ppt/notesMasters/notesMaster1.xml" Id="R36546bc8fd804f2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5afe54b170f4718" /><Relationship Type="http://schemas.openxmlformats.org/officeDocument/2006/relationships/notesMaster" Target="/ppt/notesMasters/notesMaster1.xml" Id="Rec9b1ee0c36a42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5854322b7551425a" /><Relationship Type="http://schemas.openxmlformats.org/officeDocument/2006/relationships/notesMaster" Target="/ppt/notesMasters/notesMaster1.xml" Id="R68c45ff993b94ac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31672ca9b384088" /><Relationship Type="http://schemas.openxmlformats.org/officeDocument/2006/relationships/notesMaster" Target="/ppt/notesMasters/notesMaster1.xml" Id="R296af44bfb964e0c" /></Relationships>
</file>

<file path=ppt/notesSlides/_rels/notesSlide7.xml.rels>&#65279;<?xml version="1.0" encoding="utf-8"?><Relationships xmlns="http://schemas.openxmlformats.org/package/2006/relationships"><Relationship Type="http://schemas.openxmlformats.org/officeDocument/2006/relationships/slide" Target="/ppt/slides/slide7.xml" Id="Re4582d78a37a4247" /><Relationship Type="http://schemas.openxmlformats.org/officeDocument/2006/relationships/notesMaster" Target="/ppt/notesMasters/notesMaster1.xml" Id="Rd2c93f20ed5f42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56aa2c8e194012" /><Relationship Type="http://schemas.openxmlformats.org/officeDocument/2006/relationships/notesMaster" Target="/ppt/notesMasters/notesMaster1.xml" Id="Rf6ba0218cc454559" /></Relationships>
</file>

<file path=ppt/notesSlides/_rels/notesSlide9.xml.rels>&#65279;<?xml version="1.0" encoding="utf-8"?><Relationships xmlns="http://schemas.openxmlformats.org/package/2006/relationships"><Relationship Type="http://schemas.openxmlformats.org/officeDocument/2006/relationships/slide" Target="/ppt/slides/slide9.xml" Id="Rdfcea7faa4424e4a" /><Relationship Type="http://schemas.openxmlformats.org/officeDocument/2006/relationships/notesMaster" Target="/ppt/notesMasters/notesMaster1.xml" Id="R93df19e8dabe401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a7797ba257b4360" /><Relationship Type="http://schemas.openxmlformats.org/officeDocument/2006/relationships/notesMaster" Target="/ppt/notesMasters/notesMaster1.xml" Id="Rf98fa7881e1f4a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61842b841764244" /><Relationship Type="http://schemas.openxmlformats.org/officeDocument/2006/relationships/notesMaster" Target="/ppt/notesMasters/notesMaster1.xml" Id="R39ce0cac92ab4d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b8a4b81e8b4e94" /><Relationship Type="http://schemas.openxmlformats.org/officeDocument/2006/relationships/notesMaster" Target="/ppt/notesMasters/notesMaster1.xml" Id="R006bd2cb65be474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4d3fb7e73ff4c17" /><Relationship Type="http://schemas.openxmlformats.org/officeDocument/2006/relationships/notesMaster" Target="/ppt/notesMasters/notesMaster1.xml" Id="R5686b1451f5b44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9fcfb05668e430e" /><Relationship Type="http://schemas.openxmlformats.org/officeDocument/2006/relationships/notesMaster" Target="/ppt/notesMasters/notesMaster1.xml" Id="R4877c5d393be46d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4041956379447c7" /><Relationship Type="http://schemas.openxmlformats.org/officeDocument/2006/relationships/notesMaster" Target="/ppt/notesMasters/notesMaster1.xml" Id="R08335fab1f464b9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5df2c02c25d4294" /><Relationship Type="http://schemas.openxmlformats.org/officeDocument/2006/relationships/notesMaster" Target="/ppt/notesMasters/notesMaster1.xml" Id="Rbf737c0523114f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project purpose: turn a historical Playo-related venue export into a transparent, queryable, reproducible analytical system. Emphasize that this is an independent academic capstone, not an official Playo product.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the work as a data-management project first and a dashboard second. The central question is whether the audience can trace a visible result back to the historical source and understand its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audit outcome clearly. Synthetic expansion was intentionally not used for the core analysis because it would not solve the dataset’s structural limitations.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The strongest design decision is separation: the historical empirical dataset drives analysis and ML, while community submissions use a separate moderated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simplified diagram for explanation, then show the full supplied ER screenshot on the next slide. Explain the many-to-many relationship between venues and activity labels through venue_activities.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read every column. Point out the clusters: historical core tables, model lineage, workspace records and community moderation. The schema includes constraints and foreign keys so invalid states are rejected 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pipeline favors verifiability over aggressive filling. In particular, unrated venues keep a missing target rather than receiving zero, and the HTML info field is excluded from the public site and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live page as evidence that the website does not rely on hard-coded metrics. The SQL views centralize logic so the dashboard and notebook-level analysis remain consistent.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strong viva slide. The original rating field is a truncated version of avgRating, and the HTML info field repeats rating information. Including either would allow the model to see the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comparison to the median baseline. Then be honest: the model is better, but the low R-squared means it is not a venue-quality guarantee or a business-demand forecast.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 dashboard in this order. The sidebar is intentionally task-based: start with context, inspect records, see geography, review SQL evidence and finish with the model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 requires no account, but it is not an open edit. Turnstile reduces automated spam, duplicate checks warn users, and PostgreSQL RLS exposes only approved rows on the community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separation of responsibilities. A GitHub push triggers tests and deployment; the frontend only has the publishable Supabase key, while RLS controls what anonymous users may read or insert.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defensible descriptive findings. Avoid language such as market demand, popularity or revenue because the dataset contains ratings and recorded venue attributes, not bookings or financial transactions.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Treat this slide as a strength, not an apology. The project is designed to prevent unsupported interpretations and to keep historical, predicted and community-submitted information visually distinct.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restating the central contribution: a transparent, database-backed research system. Then follow the six-step live demo sequence shown on the right.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206f3b550914a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27b02a2d8d4b73" /><Relationship Type="http://schemas.openxmlformats.org/officeDocument/2006/relationships/slideLayout" Target="/ppt/slideLayouts/slideLayout1.xml" Id="R33ce16bd36ea42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3ce16bd36ea42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ad1b57f0814da3" /><Relationship Type="http://schemas.openxmlformats.org/officeDocument/2006/relationships/image" Target="/ppt/media/image.jpeg" Id="Rc4d43375d06a44e0" /><Relationship Type="http://schemas.openxmlformats.org/officeDocument/2006/relationships/notesSlide" Target="/ppt/notesSlides/notesSlide1.xml" Id="Rf7cc5878aa874c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419d1b8dd249b9" /><Relationship Type="http://schemas.openxmlformats.org/officeDocument/2006/relationships/notesSlide" Target="/ppt/notesSlides/notesSlide2.xml" Id="Rdc28c02cd355410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11873b27fe44207" /><Relationship Type="http://schemas.openxmlformats.org/officeDocument/2006/relationships/chart" Target="/ppt/slides/charts/chart1.xml" Id="R89a24962094c406f" /><Relationship Type="http://schemas.openxmlformats.org/officeDocument/2006/relationships/notesSlide" Target="/ppt/notesSlides/notesSlide3.xml" Id="R6729bff0af6944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86fe6825ccb4e00" /><Relationship Type="http://schemas.openxmlformats.org/officeDocument/2006/relationships/notesSlide" Target="/ppt/notesSlides/notesSlide4.xml" Id="R3adca3c9a02c4cc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3adeebae6b8453d" /><Relationship Type="http://schemas.openxmlformats.org/officeDocument/2006/relationships/notesSlide" Target="/ppt/notesSlides/notesSlide5.xml" Id="R4b0f094383cc452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cad39318a9042ec" /><Relationship Type="http://schemas.openxmlformats.org/officeDocument/2006/relationships/image" Target="/ppt/media/image.png" Id="Rb770e862bd72416d" /><Relationship Type="http://schemas.openxmlformats.org/officeDocument/2006/relationships/notesSlide" Target="/ppt/notesSlides/notesSlide6.xml" Id="Rc4530032751b4d2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707bb606d5a4752" /><Relationship Type="http://schemas.openxmlformats.org/officeDocument/2006/relationships/notesSlide" Target="/ppt/notesSlides/notesSlide7.xml" Id="Rad84faa12ff84ac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dfe53d2873d4136" /><Relationship Type="http://schemas.openxmlformats.org/officeDocument/2006/relationships/image" Target="/ppt/media/image2.jpeg" Id="Rdd0cf413c7434103" /><Relationship Type="http://schemas.openxmlformats.org/officeDocument/2006/relationships/notesSlide" Target="/ppt/notesSlides/notesSlide8.xml" Id="R7ddf424db2c343d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871887a006243b8" /><Relationship Type="http://schemas.openxmlformats.org/officeDocument/2006/relationships/notesSlide" Target="/ppt/notesSlides/notesSlide9.xml" Id="R80d04e8f935349c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601506af9fb456e" /><Relationship Type="http://schemas.openxmlformats.org/officeDocument/2006/relationships/notesSlide" Target="/ppt/notesSlides/notesSlide10.xml" Id="Rdfda2909ab224de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e062ff4f5dd4ade" /><Relationship Type="http://schemas.openxmlformats.org/officeDocument/2006/relationships/image" Target="/ppt/media/image3.jpeg" Id="R17179acd0154459d" /><Relationship Type="http://schemas.openxmlformats.org/officeDocument/2006/relationships/image" Target="/ppt/media/image4.jpeg" Id="Rf106e40f33f24dcf" /><Relationship Type="http://schemas.openxmlformats.org/officeDocument/2006/relationships/image" Target="/ppt/media/image5.jpeg" Id="R4526a0bd1e224bbc" /><Relationship Type="http://schemas.openxmlformats.org/officeDocument/2006/relationships/image" Target="/ppt/media/image6.jpeg" Id="Ra624cbf18a6e4ed0" /><Relationship Type="http://schemas.openxmlformats.org/officeDocument/2006/relationships/notesSlide" Target="/ppt/notesSlides/notesSlide11.xml" Id="R1dd3fcd57dff4e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6f2addfe8f342ab" /><Relationship Type="http://schemas.openxmlformats.org/officeDocument/2006/relationships/image" Target="/ppt/media/image7.jpeg" Id="R9d50b46894674e7f" /><Relationship Type="http://schemas.openxmlformats.org/officeDocument/2006/relationships/image" Target="/ppt/media/image8.jpeg" Id="Rdfda7a55ec2842a3" /><Relationship Type="http://schemas.openxmlformats.org/officeDocument/2006/relationships/notesSlide" Target="/ppt/notesSlides/notesSlide12.xml" Id="R4f2980f4a80a41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b372ecc3f9e423f" /><Relationship Type="http://schemas.openxmlformats.org/officeDocument/2006/relationships/notesSlide" Target="/ppt/notesSlides/notesSlide13.xml" Id="R6f087feddbea4b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729a378cd524b0b" /><Relationship Type="http://schemas.openxmlformats.org/officeDocument/2006/relationships/notesSlide" Target="/ppt/notesSlides/notesSlide14.xml" Id="R187b5db3f0d448c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74633425d964c3c" /><Relationship Type="http://schemas.openxmlformats.org/officeDocument/2006/relationships/notesSlide" Target="/ppt/notesSlides/notesSlide15.xml" Id="Rf36f6b28ba49418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537b8e949094c7f" /><Relationship Type="http://schemas.openxmlformats.org/officeDocument/2006/relationships/notesSlide" Target="/ppt/notesSlides/notesSlide16.xml" Id="Rd2de2fd4d1684a1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Deduplicated venues</c:v>
          </c:tx>
          <c:spPr>
            <a:solidFill xmlns:a="http://schemas.openxmlformats.org/drawingml/2006/main">
              <a:srgbClr val="2D7A62"/>
            </a:solidFill>
          </c:spPr>
          <c:cat>
            <c:strRef>
              <c:f>'Chart Data'!$A$2:$A$5</c:f>
              <c:strCache>
                <c:ptCount val="4"/>
                <c:pt idx="0">
                  <c:v>Bangalore</c:v>
                </c:pt>
                <c:pt idx="1">
                  <c:v>Hyderabad</c:v>
                </c:pt>
                <c:pt idx="2">
                  <c:v>Delhi / NCR</c:v>
                </c:pt>
                <c:pt idx="3">
                  <c:v>Chennai</c:v>
                </c:pt>
              </c:strCache>
            </c:strRef>
          </c:cat>
          <c:val>
            <c:numRef>
              <c:f>'Chart Data'!$B$2:$B$5</c:f>
              <c:numCache>
                <c:formatCode>General</c:formatCode>
                <c:ptCount val="4"/>
                <c:pt idx="0">
                  <c:v>1358</c:v>
                </c:pt>
                <c:pt idx="1">
                  <c:v>1085</c:v>
                </c:pt>
                <c:pt idx="2">
                  <c:v>698</c:v>
                </c:pt>
                <c:pt idx="3">
                  <c:v>556</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5A7026-58A6-4D17-BECA-B19ABD085F72}"/>
              </a:ext>
            </a:extLst>
          </p:cNvPr>
          <p:cNvSpPr>
            <a:spLocks xmlns:a="http://schemas.openxmlformats.org/drawingml/2006/main" noGrp="1"/>
          </p:cNvSpPr>
          <p:nvPr/>
        </p:nvSpPr>
        <p:spPr>
          <a:xfrm xmlns:a="http://schemas.openxmlformats.org/drawingml/2006/main">
            <a:off x="0" y="0"/>
            <a:ext cx="4953000" cy="6858000"/>
          </a:xfrm>
          <a:prstGeom xmlns:a="http://schemas.openxmlformats.org/drawingml/2006/main" prst="rect">
            <a:avLst/>
          </a:prstGeom>
          <a:solidFill xmlns:a="http://schemas.openxmlformats.org/drawingml/2006/main">
            <a:srgbClr val="173B3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91003A-DA2B-4E4A-8F8C-239364721F31}"/>
              </a:ext>
            </a:extLst>
          </p:cNvPr>
          <p:cNvSpPr>
            <a:spLocks xmlns:a="http://schemas.openxmlformats.org/drawingml/2006/main" noGrp="1"/>
          </p:cNvSpPr>
          <p:nvPr/>
        </p:nvSpPr>
        <p:spPr>
          <a:xfrm xmlns:a="http://schemas.openxmlformats.org/drawingml/2006/main">
            <a:off x="609600" y="590550"/>
            <a:ext cx="419100" cy="419100"/>
          </a:xfrm>
          <a:prstGeom xmlns:a="http://schemas.openxmlformats.org/drawingml/2006/main" prst="ellipse">
            <a:avLst/>
          </a:prstGeom>
          <a:solidFill xmlns:a="http://schemas.openxmlformats.org/drawingml/2006/main">
            <a:srgbClr val="C64235"/>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4673E1F-6546-45F7-8D04-A58246CD1F4B}"/>
              </a:ext>
            </a:extLst>
          </p:cNvPr>
          <p:cNvSpPr>
            <a:spLocks xmlns:a="http://schemas.openxmlformats.org/drawingml/2006/main" noGrp="1"/>
          </p:cNvSpPr>
          <p:nvPr/>
        </p:nvSpPr>
        <p:spPr>
          <a:xfrm xmlns:a="http://schemas.openxmlformats.org/drawingml/2006/main">
            <a:off x="876300" y="723900"/>
            <a:ext cx="228600" cy="228600"/>
          </a:xfrm>
          <a:prstGeom xmlns:a="http://schemas.openxmlformats.org/drawingml/2006/main" prst="ellipse">
            <a:avLst/>
          </a:prstGeom>
          <a:solidFill xmlns:a="http://schemas.openxmlformats.org/drawingml/2006/main">
            <a:srgbClr val="D8902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8BDA1B6-38AF-4D56-B9EC-820C8CE6040B}"/>
              </a:ext>
            </a:extLst>
          </p:cNvPr>
          <p:cNvSpPr>
            <a:spLocks xmlns:a="http://schemas.openxmlformats.org/drawingml/2006/main" noGrp="1"/>
          </p:cNvSpPr>
          <p:nvPr/>
        </p:nvSpPr>
        <p:spPr>
          <a:xfrm xmlns:a="http://schemas.openxmlformats.org/drawingml/2006/main">
            <a:off x="609600" y="1257300"/>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1">
                <a:solidFill>
                  <a:srgbClr val="F5E7CB"/>
                </a:solidFill>
                <a:latin typeface="Arial"/>
                <a:ea typeface="Arial"/>
                <a:cs typeface="Arial"/>
              </a:defRPr>
            </a:pPr>
            <a:r>
              <a:rPr sz="1275" b="1">
                <a:solidFill>
                  <a:srgbClr val="F5E7CB"/>
                </a:solidFill>
                <a:latin typeface="Arial"/>
                <a:ea typeface="Arial"/>
                <a:cs typeface="Arial"/>
              </a:rPr>
              <a:t>PLAYO</a:t>
            </a:r>
          </a:p>
        </p:txBody>
      </p:sp>
      <p:sp>
        <p:nvSpPr>
          <p:cNvPr id="5" name="">
            <a:extLst xmlns:a="http://schemas.openxmlformats.org/drawingml/2006/main">
              <a:ext uri="{FF2B5EF4-FFF2-40B4-BE49-F238E27FC236}">
                <a16:creationId xmlns:a16="http://schemas.microsoft.com/office/drawing/2014/main" id="{D53C4299-6767-4BBE-95F4-CB2D89DD6993}"/>
              </a:ext>
            </a:extLst>
          </p:cNvPr>
          <p:cNvSpPr>
            <a:spLocks xmlns:a="http://schemas.openxmlformats.org/drawingml/2006/main" noGrp="1"/>
          </p:cNvSpPr>
          <p:nvPr/>
        </p:nvSpPr>
        <p:spPr>
          <a:xfrm xmlns:a="http://schemas.openxmlformats.org/drawingml/2006/main">
            <a:off x="609600" y="1571625"/>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FFFFFF"/>
                </a:solidFill>
                <a:latin typeface="Arial"/>
                <a:ea typeface="Arial"/>
                <a:cs typeface="Arial"/>
              </a:defRPr>
            </a:pPr>
            <a:r>
              <a:rPr sz="1650" b="1">
                <a:solidFill>
                  <a:srgbClr val="FFFFFF"/>
                </a:solidFill>
                <a:latin typeface="Arial"/>
                <a:ea typeface="Arial"/>
                <a:cs typeface="Arial"/>
              </a:rPr>
              <a:t>VENUE OBSERVATORY</a:t>
            </a:r>
          </a:p>
        </p:txBody>
      </p:sp>
      <p:sp>
        <p:nvSpPr>
          <p:cNvPr id="6" name="">
            <a:extLst xmlns:a="http://schemas.openxmlformats.org/drawingml/2006/main">
              <a:ext uri="{FF2B5EF4-FFF2-40B4-BE49-F238E27FC236}">
                <a16:creationId xmlns:a16="http://schemas.microsoft.com/office/drawing/2014/main" id="{83282B7B-E5B6-410F-9878-812C77C09B6D}"/>
              </a:ext>
            </a:extLst>
          </p:cNvPr>
          <p:cNvSpPr>
            <a:spLocks xmlns:a="http://schemas.openxmlformats.org/drawingml/2006/main" noGrp="1"/>
          </p:cNvSpPr>
          <p:nvPr/>
        </p:nvSpPr>
        <p:spPr>
          <a:xfrm xmlns:a="http://schemas.openxmlformats.org/drawingml/2006/main">
            <a:off x="609600" y="2190750"/>
            <a:ext cx="3714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418"/>
          </a:bodyPr>
          <a:lstStyle xmlns:a="http://schemas.openxmlformats.org/drawingml/2006/main"/>
          <a:p xmlns:a="http://schemas.openxmlformats.org/drawingml/2006/main">
            <a:pPr>
              <a:defRPr sz="2250" b="1">
                <a:solidFill>
                  <a:srgbClr val="FFFFFF"/>
                </a:solidFill>
                <a:latin typeface="Arial"/>
                <a:ea typeface="Arial"/>
                <a:cs typeface="Arial"/>
              </a:defRPr>
            </a:pPr>
            <a:r>
              <a:rPr sz="2250" b="1">
                <a:solidFill>
                  <a:srgbClr val="FFFFFF"/>
                </a:solidFill>
                <a:latin typeface="Arial"/>
                <a:ea typeface="Arial"/>
                <a:cs typeface="Arial"/>
              </a:rPr>
              <a:t>A historical sports-venue data management and machine-learning capstone</a:t>
            </a:r>
          </a:p>
        </p:txBody>
      </p:sp>
      <p:sp>
        <p:nvSpPr>
          <p:cNvPr id="7" name="">
            <a:extLst xmlns:a="http://schemas.openxmlformats.org/drawingml/2006/main">
              <a:ext uri="{FF2B5EF4-FFF2-40B4-BE49-F238E27FC236}">
                <a16:creationId xmlns:a16="http://schemas.microsoft.com/office/drawing/2014/main" id="{B98B9847-CA10-4CCA-B00D-FBA6C51AF6E0}"/>
              </a:ext>
            </a:extLst>
          </p:cNvPr>
          <p:cNvSpPr>
            <a:spLocks xmlns:a="http://schemas.openxmlformats.org/drawingml/2006/main" noGrp="1"/>
          </p:cNvSpPr>
          <p:nvPr/>
        </p:nvSpPr>
        <p:spPr>
          <a:xfrm xmlns:a="http://schemas.openxmlformats.org/drawingml/2006/main">
            <a:off x="609600" y="3714750"/>
            <a:ext cx="36385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DDECE2"/>
                </a:solidFill>
                <a:latin typeface="Arial"/>
                <a:ea typeface="Arial"/>
                <a:cs typeface="Arial"/>
              </a:defRPr>
            </a:pPr>
            <a:r>
              <a:rPr sz="1350" b="0">
                <a:solidFill>
                  <a:srgbClr val="DDECE2"/>
                </a:solidFill>
                <a:latin typeface="Arial"/>
                <a:ea typeface="Arial"/>
                <a:cs typeface="Arial"/>
              </a:rPr>
              <a:t>Empirical data • PostgreSQL/Supabase • SQL • ML • public dashboard</a:t>
            </a:r>
          </a:p>
        </p:txBody>
      </p:sp>
      <p:sp>
        <p:nvSpPr>
          <p:cNvPr id="8" name="">
            <a:extLst xmlns:a="http://schemas.openxmlformats.org/drawingml/2006/main">
              <a:ext uri="{FF2B5EF4-FFF2-40B4-BE49-F238E27FC236}">
                <a16:creationId xmlns:a16="http://schemas.microsoft.com/office/drawing/2014/main" id="{08B3F1D2-2BFF-4CBF-A0BF-602C3CB47BBD}"/>
              </a:ext>
            </a:extLst>
          </p:cNvPr>
          <p:cNvSpPr>
            <a:spLocks xmlns:a="http://schemas.openxmlformats.org/drawingml/2006/main" noGrp="1"/>
          </p:cNvSpPr>
          <p:nvPr/>
        </p:nvSpPr>
        <p:spPr>
          <a:xfrm xmlns:a="http://schemas.openxmlformats.org/drawingml/2006/main">
            <a:off x="609600" y="6019800"/>
            <a:ext cx="342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111"/>
          </a:bodyPr>
          <a:lstStyle xmlns:a="http://schemas.openxmlformats.org/drawingml/2006/main"/>
          <a:p xmlns:a="http://schemas.openxmlformats.org/drawingml/2006/main">
            <a:pPr>
              <a:defRPr sz="1125" b="1">
                <a:solidFill>
                  <a:srgbClr val="F5E7CB"/>
                </a:solidFill>
                <a:latin typeface="Arial"/>
                <a:ea typeface="Arial"/>
                <a:cs typeface="Arial"/>
              </a:defRPr>
            </a:pPr>
            <a:r>
              <a:rPr sz="1125" b="1">
                <a:solidFill>
                  <a:srgbClr val="F5E7CB"/>
                </a:solidFill>
                <a:latin typeface="Arial"/>
                <a:ea typeface="Arial"/>
                <a:cs typeface="Arial"/>
              </a:rPr>
              <a:t>Team presentation · 2026</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4d43375d06a44e0"/>
          <a:srcRect xmlns:a="http://schemas.openxmlformats.org/drawingml/2006/main" l="9213" t="0" r="9213" b="0"/>
          <a:stretch xmlns:a="http://schemas.openxmlformats.org/drawingml/2006/main">
            <a:fillRect l="0" t="0" r="0" b="0"/>
          </a:stretch>
        </p:blipFill>
        <p:spPr>
          <a:xfrm xmlns:a="http://schemas.openxmlformats.org/drawingml/2006/main">
            <a:off x="5286375" y="685800"/>
            <a:ext cx="6334125" cy="5334000"/>
          </a:xfrm>
          <a:prstGeom xmlns:a="http://schemas.openxmlformats.org/drawingml/2006/main" prst="roundRect">
            <a:avLst>
              <a:gd name="adj" fmla="val 2143"/>
            </a:avLst>
          </a:prstGeom>
        </p:spPr>
      </p:pic>
      <p:sp>
        <p:nvSpPr>
          <p:cNvPr id="10" name="">
            <a:extLst xmlns:a="http://schemas.openxmlformats.org/drawingml/2006/main">
              <a:ext uri="{FF2B5EF4-FFF2-40B4-BE49-F238E27FC236}">
                <a16:creationId xmlns:a16="http://schemas.microsoft.com/office/drawing/2014/main" id="{55654564-8C1F-43B4-936E-6FE3B90708A0}"/>
              </a:ext>
            </a:extLst>
          </p:cNvPr>
          <p:cNvSpPr>
            <a:spLocks xmlns:a="http://schemas.openxmlformats.org/drawingml/2006/main" noGrp="1"/>
          </p:cNvSpPr>
          <p:nvPr/>
        </p:nvSpPr>
        <p:spPr>
          <a:xfrm xmlns:a="http://schemas.openxmlformats.org/drawingml/2006/main">
            <a:off x="5286375" y="5743575"/>
            <a:ext cx="6334125" cy="276225"/>
          </a:xfrm>
          <a:prstGeom xmlns:a="http://schemas.openxmlformats.org/drawingml/2006/main" prst="rect">
            <a:avLst/>
          </a:prstGeom>
          <a:solidFill xmlns:a="http://schemas.openxmlformats.org/drawingml/2006/main">
            <a:srgbClr val="C64235"/>
          </a:solidFill>
          <a:ln xmlns:a="http://schemas.openxmlformats.org/drawingml/2006/main" w="0">
            <a:noFill/>
          </a:ln>
        </p:spPr>
      </p:sp>
    </p:spTree>
    <p:extLst>
      <p:ext uri="{BB962C8B-B14F-4D97-AF65-F5344CB8AC3E}">
        <p14:creationId xmlns:p14="http://schemas.microsoft.com/office/powerpoint/2010/main" val="212061371"/>
      </p:ext>
    </p:extLst>
  </p:cSld>
</p:sld>
</file>

<file path=ppt/slides/slide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CCD3DBB-31FD-4C5D-94C2-DF20AA225A5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D7A6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461CFF-F3A0-41E8-8B7E-D2FB273E56F3}"/>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PROJECT</a:t>
            </a:r>
          </a:p>
        </p:txBody>
      </p:sp>
      <p:sp>
        <p:nvSpPr>
          <p:cNvPr id="3" name="">
            <a:extLst xmlns:a="http://schemas.openxmlformats.org/drawingml/2006/main">
              <a:ext uri="{FF2B5EF4-FFF2-40B4-BE49-F238E27FC236}">
                <a16:creationId xmlns:a16="http://schemas.microsoft.com/office/drawing/2014/main" id="{A853D531-4EA4-46FB-A572-D13B025C6450}"/>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The problem is not just analysis — it is trust.</a:t>
            </a:r>
          </a:p>
        </p:txBody>
      </p:sp>
      <p:sp>
        <p:nvSpPr>
          <p:cNvPr id="4" name="">
            <a:extLst xmlns:a="http://schemas.openxmlformats.org/drawingml/2006/main">
              <a:ext uri="{FF2B5EF4-FFF2-40B4-BE49-F238E27FC236}">
                <a16:creationId xmlns:a16="http://schemas.microsoft.com/office/drawing/2014/main" id="{C6CE66EF-32DC-4E9A-A3B8-52E5374A0D17}"/>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A useful capstone must preserve provenance, prevent leakage, and make every result traceable.</a:t>
            </a:r>
          </a:p>
        </p:txBody>
      </p:sp>
      <p:sp>
        <p:nvSpPr>
          <p:cNvPr id="5" name="">
            <a:extLst xmlns:a="http://schemas.openxmlformats.org/drawingml/2006/main">
              <a:ext uri="{FF2B5EF4-FFF2-40B4-BE49-F238E27FC236}">
                <a16:creationId xmlns:a16="http://schemas.microsoft.com/office/drawing/2014/main" id="{04721F2D-4F36-442B-9E1E-02AED2007B3E}"/>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9E831891-E8F5-4742-8D4C-CA3B54C1237E}"/>
              </a:ext>
            </a:extLst>
          </p:cNvPr>
          <p:cNvSpPr>
            <a:spLocks xmlns:a="http://schemas.openxmlformats.org/drawingml/2006/main" noGrp="1"/>
          </p:cNvSpPr>
          <p:nvPr/>
        </p:nvSpPr>
        <p:spPr>
          <a:xfrm xmlns:a="http://schemas.openxmlformats.org/drawingml/2006/main">
            <a:off x="704850" y="20574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56"/>
          </a:bodyPr>
          <a:lstStyle xmlns:a="http://schemas.openxmlformats.org/drawingml/2006/main"/>
          <a:p xmlns:a="http://schemas.openxmlformats.org/drawingml/2006/main">
            <a:pPr>
              <a:defRPr sz="2250" b="1">
                <a:solidFill>
                  <a:srgbClr val="C64235"/>
                </a:solidFill>
                <a:latin typeface="Arial"/>
                <a:ea typeface="Arial"/>
                <a:cs typeface="Arial"/>
              </a:defRPr>
            </a:pPr>
            <a:r>
              <a:rPr sz="2250" b="1">
                <a:solidFill>
                  <a:srgbClr val="C64235"/>
                </a:solidFill>
                <a:latin typeface="Arial"/>
                <a:ea typeface="Arial"/>
                <a:cs typeface="Arial"/>
              </a:rPr>
              <a:t>01</a:t>
            </a:r>
          </a:p>
        </p:txBody>
      </p:sp>
      <p:sp>
        <p:nvSpPr>
          <p:cNvPr id="7" name="">
            <a:extLst xmlns:a="http://schemas.openxmlformats.org/drawingml/2006/main">
              <a:ext uri="{FF2B5EF4-FFF2-40B4-BE49-F238E27FC236}">
                <a16:creationId xmlns:a16="http://schemas.microsoft.com/office/drawing/2014/main" id="{EE7E67C1-EE91-44F2-85FF-86A64BC03D05}"/>
              </a:ext>
            </a:extLst>
          </p:cNvPr>
          <p:cNvSpPr>
            <a:spLocks xmlns:a="http://schemas.openxmlformats.org/drawingml/2006/main" noGrp="1"/>
          </p:cNvSpPr>
          <p:nvPr/>
        </p:nvSpPr>
        <p:spPr>
          <a:xfrm xmlns:a="http://schemas.openxmlformats.org/drawingml/2006/main">
            <a:off x="1485900" y="20383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436"/>
          </a:bodyPr>
          <a:lstStyle xmlns:a="http://schemas.openxmlformats.org/drawingml/2006/main"/>
          <a:p xmlns:a="http://schemas.openxmlformats.org/drawingml/2006/main">
            <a:pPr>
              <a:defRPr sz="1950" b="1">
                <a:solidFill>
                  <a:srgbClr val="173B31"/>
                </a:solidFill>
                <a:latin typeface="Arial"/>
                <a:ea typeface="Arial"/>
                <a:cs typeface="Arial"/>
              </a:defRPr>
            </a:pPr>
            <a:r>
              <a:rPr sz="1950" b="1">
                <a:solidFill>
                  <a:srgbClr val="173B31"/>
                </a:solidFill>
                <a:latin typeface="Arial"/>
                <a:ea typeface="Arial"/>
                <a:cs typeface="Arial"/>
              </a:rPr>
              <a:t>Messy historical input</a:t>
            </a:r>
          </a:p>
        </p:txBody>
      </p:sp>
      <p:sp>
        <p:nvSpPr>
          <p:cNvPr id="8" name="">
            <a:extLst xmlns:a="http://schemas.openxmlformats.org/drawingml/2006/main">
              <a:ext uri="{FF2B5EF4-FFF2-40B4-BE49-F238E27FC236}">
                <a16:creationId xmlns:a16="http://schemas.microsoft.com/office/drawing/2014/main" id="{5BCAAB34-963E-45AC-839A-6B979F9C5306}"/>
              </a:ext>
            </a:extLst>
          </p:cNvPr>
          <p:cNvSpPr>
            <a:spLocks xmlns:a="http://schemas.openxmlformats.org/drawingml/2006/main" noGrp="1"/>
          </p:cNvSpPr>
          <p:nvPr/>
        </p:nvSpPr>
        <p:spPr>
          <a:xfrm xmlns:a="http://schemas.openxmlformats.org/drawingml/2006/main">
            <a:off x="1485900" y="2447925"/>
            <a:ext cx="3905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66736D"/>
                </a:solidFill>
                <a:latin typeface="Arial"/>
                <a:ea typeface="Arial"/>
                <a:cs typeface="Arial"/>
              </a:defRPr>
            </a:pPr>
            <a:r>
              <a:rPr sz="1350" b="0">
                <a:solidFill>
                  <a:srgbClr val="66736D"/>
                </a:solidFill>
                <a:latin typeface="Arial"/>
                <a:ea typeface="Arial"/>
                <a:cs typeface="Arial"/>
              </a:rPr>
              <a:t>Four regional JSON sources contain duplicated venues, free-text HTML and incomplete ratings.</a:t>
            </a:r>
          </a:p>
        </p:txBody>
      </p:sp>
      <p:sp>
        <p:nvSpPr>
          <p:cNvPr id="9" name="">
            <a:extLst xmlns:a="http://schemas.openxmlformats.org/drawingml/2006/main">
              <a:ext uri="{FF2B5EF4-FFF2-40B4-BE49-F238E27FC236}">
                <a16:creationId xmlns:a16="http://schemas.microsoft.com/office/drawing/2014/main" id="{CD1E85C4-CBA1-4F0B-B49C-596D549446AF}"/>
              </a:ext>
            </a:extLst>
          </p:cNvPr>
          <p:cNvSpPr>
            <a:spLocks xmlns:a="http://schemas.openxmlformats.org/drawingml/2006/main" noGrp="1"/>
          </p:cNvSpPr>
          <p:nvPr/>
        </p:nvSpPr>
        <p:spPr>
          <a:xfrm xmlns:a="http://schemas.openxmlformats.org/drawingml/2006/main">
            <a:off x="6134100" y="20574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556"/>
          </a:bodyPr>
          <a:lstStyle xmlns:a="http://schemas.openxmlformats.org/drawingml/2006/main"/>
          <a:p xmlns:a="http://schemas.openxmlformats.org/drawingml/2006/main">
            <a:pPr>
              <a:defRPr sz="2250" b="1">
                <a:solidFill>
                  <a:srgbClr val="2D7A62"/>
                </a:solidFill>
                <a:latin typeface="Arial"/>
                <a:ea typeface="Arial"/>
                <a:cs typeface="Arial"/>
              </a:defRPr>
            </a:pPr>
            <a:r>
              <a:rPr sz="2250" b="1">
                <a:solidFill>
                  <a:srgbClr val="2D7A62"/>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3ACA40CC-B4D7-4F19-9F8A-A0CC4E296D0A}"/>
              </a:ext>
            </a:extLst>
          </p:cNvPr>
          <p:cNvSpPr>
            <a:spLocks xmlns:a="http://schemas.openxmlformats.org/drawingml/2006/main" noGrp="1"/>
          </p:cNvSpPr>
          <p:nvPr/>
        </p:nvSpPr>
        <p:spPr>
          <a:xfrm xmlns:a="http://schemas.openxmlformats.org/drawingml/2006/main">
            <a:off x="6915150" y="203835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436"/>
          </a:bodyPr>
          <a:lstStyle xmlns:a="http://schemas.openxmlformats.org/drawingml/2006/main"/>
          <a:p xmlns:a="http://schemas.openxmlformats.org/drawingml/2006/main">
            <a:pPr>
              <a:defRPr sz="1950" b="1">
                <a:solidFill>
                  <a:srgbClr val="173B31"/>
                </a:solidFill>
                <a:latin typeface="Arial"/>
                <a:ea typeface="Arial"/>
                <a:cs typeface="Arial"/>
              </a:defRPr>
            </a:pPr>
            <a:r>
              <a:rPr sz="1950" b="1">
                <a:solidFill>
                  <a:srgbClr val="173B31"/>
                </a:solidFill>
                <a:latin typeface="Arial"/>
                <a:ea typeface="Arial"/>
                <a:cs typeface="Arial"/>
              </a:rPr>
              <a:t>Evidence-safe analytics</a:t>
            </a:r>
          </a:p>
        </p:txBody>
      </p:sp>
      <p:sp>
        <p:nvSpPr>
          <p:cNvPr id="11" name="">
            <a:extLst xmlns:a="http://schemas.openxmlformats.org/drawingml/2006/main">
              <a:ext uri="{FF2B5EF4-FFF2-40B4-BE49-F238E27FC236}">
                <a16:creationId xmlns:a16="http://schemas.microsoft.com/office/drawing/2014/main" id="{706F0605-D3AD-4A54-8B16-D94E7F9B8344}"/>
              </a:ext>
            </a:extLst>
          </p:cNvPr>
          <p:cNvSpPr>
            <a:spLocks xmlns:a="http://schemas.openxmlformats.org/drawingml/2006/main" noGrp="1"/>
          </p:cNvSpPr>
          <p:nvPr/>
        </p:nvSpPr>
        <p:spPr>
          <a:xfrm xmlns:a="http://schemas.openxmlformats.org/drawingml/2006/main">
            <a:off x="6915150" y="2447925"/>
            <a:ext cx="3905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0">
                <a:solidFill>
                  <a:srgbClr val="66736D"/>
                </a:solidFill>
                <a:latin typeface="Arial"/>
                <a:ea typeface="Arial"/>
                <a:cs typeface="Arial"/>
              </a:defRPr>
            </a:pPr>
            <a:r>
              <a:rPr sz="1350" b="0">
                <a:solidFill>
                  <a:srgbClr val="66736D"/>
                </a:solidFill>
                <a:latin typeface="Arial"/>
                <a:ea typeface="Arial"/>
                <a:cs typeface="Arial"/>
              </a:rPr>
              <a:t>The target, features and train/test split must avoid information leakage and unsupported claims.</a:t>
            </a:r>
          </a:p>
        </p:txBody>
      </p:sp>
      <p:sp>
        <p:nvSpPr>
          <p:cNvPr id="12" name="">
            <a:extLst xmlns:a="http://schemas.openxmlformats.org/drawingml/2006/main">
              <a:ext uri="{FF2B5EF4-FFF2-40B4-BE49-F238E27FC236}">
                <a16:creationId xmlns:a16="http://schemas.microsoft.com/office/drawing/2014/main" id="{21142D07-E46D-4205-BB2E-77BA3AE965B5}"/>
              </a:ext>
            </a:extLst>
          </p:cNvPr>
          <p:cNvSpPr>
            <a:spLocks xmlns:a="http://schemas.openxmlformats.org/drawingml/2006/main" noGrp="1"/>
          </p:cNvSpPr>
          <p:nvPr/>
        </p:nvSpPr>
        <p:spPr>
          <a:xfrm xmlns:a="http://schemas.openxmlformats.org/drawingml/2006/main">
            <a:off x="704850" y="3714750"/>
            <a:ext cx="10096500" cy="1905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1F2A254-337C-46CA-A75D-21BE816C1AF8}"/>
              </a:ext>
            </a:extLst>
          </p:cNvPr>
          <p:cNvSpPr>
            <a:spLocks xmlns:a="http://schemas.openxmlformats.org/drawingml/2006/main" noGrp="1"/>
          </p:cNvSpPr>
          <p:nvPr/>
        </p:nvSpPr>
        <p:spPr>
          <a:xfrm xmlns:a="http://schemas.openxmlformats.org/drawingml/2006/main">
            <a:off x="704850" y="40386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1">
                <a:solidFill>
                  <a:srgbClr val="C64235"/>
                </a:solidFill>
                <a:latin typeface="Arial"/>
                <a:ea typeface="Arial"/>
                <a:cs typeface="Arial"/>
              </a:defRPr>
            </a:pPr>
            <a:r>
              <a:rPr sz="1200" b="1">
                <a:solidFill>
                  <a:srgbClr val="C64235"/>
                </a:solidFill>
                <a:latin typeface="Arial"/>
                <a:ea typeface="Arial"/>
                <a:cs typeface="Arial"/>
              </a:rPr>
              <a:t>Project answer</a:t>
            </a:r>
          </a:p>
        </p:txBody>
      </p:sp>
      <p:sp>
        <p:nvSpPr>
          <p:cNvPr id="14" name="">
            <a:extLst xmlns:a="http://schemas.openxmlformats.org/drawingml/2006/main">
              <a:ext uri="{FF2B5EF4-FFF2-40B4-BE49-F238E27FC236}">
                <a16:creationId xmlns:a16="http://schemas.microsoft.com/office/drawing/2014/main" id="{29E4F4DA-AE75-40F2-A8D8-799FA4E10F72}"/>
              </a:ext>
            </a:extLst>
          </p:cNvPr>
          <p:cNvSpPr>
            <a:spLocks xmlns:a="http://schemas.openxmlformats.org/drawingml/2006/main" noGrp="1"/>
          </p:cNvSpPr>
          <p:nvPr/>
        </p:nvSpPr>
        <p:spPr>
          <a:xfrm xmlns:a="http://schemas.openxmlformats.org/drawingml/2006/main">
            <a:off x="704850" y="4419600"/>
            <a:ext cx="952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468"/>
          </a:bodyPr>
          <a:lstStyle xmlns:a="http://schemas.openxmlformats.org/drawingml/2006/main"/>
          <a:p xmlns:a="http://schemas.openxmlformats.org/drawingml/2006/main">
            <a:pPr>
              <a:defRPr sz="2250" b="1">
                <a:solidFill>
                  <a:srgbClr val="173B31"/>
                </a:solidFill>
                <a:latin typeface="Arial"/>
                <a:ea typeface="Arial"/>
                <a:cs typeface="Arial"/>
              </a:defRPr>
            </a:pPr>
            <a:r>
              <a:rPr sz="2250" b="1">
                <a:solidFill>
                  <a:srgbClr val="173B31"/>
                </a:solidFill>
                <a:latin typeface="Arial"/>
                <a:ea typeface="Arial"/>
                <a:cs typeface="Arial"/>
              </a:rPr>
              <a:t>An auditable pipeline from immutable raw files to normalized PostgreSQL, reproducible SQL, grouped ML evaluation and a public evidence dashboard.</a:t>
            </a:r>
          </a:p>
        </p:txBody>
      </p:sp>
    </p:spTree>
    <p:extLst>
      <p:ext uri="{BB962C8B-B14F-4D97-AF65-F5344CB8AC3E}">
        <p14:creationId xmlns:p14="http://schemas.microsoft.com/office/powerpoint/2010/main" val="824680053"/>
      </p:ext>
    </p:extLst>
  </p:cSld>
</p:sld>
</file>

<file path=ppt/slides/slide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B9B1D17-5658-4F9F-8C72-363BE6BB6B9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D8902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2ABEAA-13C9-4CB1-AF6D-64FFEFE52EE3}"/>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EVIDENCE</a:t>
            </a:r>
          </a:p>
        </p:txBody>
      </p:sp>
      <p:sp>
        <p:nvSpPr>
          <p:cNvPr id="3" name="">
            <a:extLst xmlns:a="http://schemas.openxmlformats.org/drawingml/2006/main">
              <a:ext uri="{FF2B5EF4-FFF2-40B4-BE49-F238E27FC236}">
                <a16:creationId xmlns:a16="http://schemas.microsoft.com/office/drawing/2014/main" id="{D51E34E6-D9D8-4CAE-967B-73E1951465A4}"/>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The audit established a sufficient real-data foundation.</a:t>
            </a:r>
          </a:p>
        </p:txBody>
      </p:sp>
      <p:sp>
        <p:nvSpPr>
          <p:cNvPr id="4" name="">
            <a:extLst xmlns:a="http://schemas.openxmlformats.org/drawingml/2006/main">
              <a:ext uri="{FF2B5EF4-FFF2-40B4-BE49-F238E27FC236}">
                <a16:creationId xmlns:a16="http://schemas.microsoft.com/office/drawing/2014/main" id="{A046E0BD-564D-4314-93CD-B57EF75AADD8}"/>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3,701 raw records became 3,697 exact-deduplicated historical venue records.</a:t>
            </a:r>
          </a:p>
        </p:txBody>
      </p:sp>
      <p:sp>
        <p:nvSpPr>
          <p:cNvPr id="5" name="">
            <a:extLst xmlns:a="http://schemas.openxmlformats.org/drawingml/2006/main">
              <a:ext uri="{FF2B5EF4-FFF2-40B4-BE49-F238E27FC236}">
                <a16:creationId xmlns:a16="http://schemas.microsoft.com/office/drawing/2014/main" id="{1B5E4861-88DB-4643-9452-A47C3A50461F}"/>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A650FE94-945A-4C44-A61A-10A81C84D394}"/>
              </a:ext>
            </a:extLst>
          </p:cNvPr>
          <p:cNvSpPr>
            <a:spLocks xmlns:a="http://schemas.openxmlformats.org/drawingml/2006/main" noGrp="1"/>
          </p:cNvSpPr>
          <p:nvPr/>
        </p:nvSpPr>
        <p:spPr>
          <a:xfrm xmlns:a="http://schemas.openxmlformats.org/drawingml/2006/main">
            <a:off x="552450" y="1962150"/>
            <a:ext cx="2266950" cy="1485900"/>
          </a:xfrm>
          <a:prstGeom xmlns:a="http://schemas.openxmlformats.org/drawingml/2006/main" prst="roundRect">
            <a:avLst>
              <a:gd name="adj" fmla="val 5128"/>
            </a:avLst>
          </a:prstGeom>
          <a:solidFill xmlns:a="http://schemas.openxmlformats.org/drawingml/2006/main">
            <a:srgbClr val="FFFDF8"/>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F8E9A2D-ACD1-4298-8C16-CE4FBE1560FD}"/>
              </a:ext>
            </a:extLst>
          </p:cNvPr>
          <p:cNvSpPr>
            <a:spLocks xmlns:a="http://schemas.openxmlformats.org/drawingml/2006/main" noGrp="1"/>
          </p:cNvSpPr>
          <p:nvPr/>
        </p:nvSpPr>
        <p:spPr>
          <a:xfrm xmlns:a="http://schemas.openxmlformats.org/drawingml/2006/main">
            <a:off x="552450" y="1962150"/>
            <a:ext cx="76200" cy="1485900"/>
          </a:xfrm>
          <a:prstGeom xmlns:a="http://schemas.openxmlformats.org/drawingml/2006/main" prst="roundRect">
            <a:avLst>
              <a:gd name="adj" fmla="val 50000"/>
            </a:avLst>
          </a:prstGeom>
          <a:solidFill xmlns:a="http://schemas.openxmlformats.org/drawingml/2006/main">
            <a:srgbClr val="C64235"/>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5B927D-30D3-46FD-B7B0-A583546E31C8}"/>
              </a:ext>
            </a:extLst>
          </p:cNvPr>
          <p:cNvSpPr>
            <a:spLocks xmlns:a="http://schemas.openxmlformats.org/drawingml/2006/main" noGrp="1"/>
          </p:cNvSpPr>
          <p:nvPr/>
        </p:nvSpPr>
        <p:spPr>
          <a:xfrm xmlns:a="http://schemas.openxmlformats.org/drawingml/2006/main">
            <a:off x="819150" y="2228850"/>
            <a:ext cx="1809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67"/>
          </a:bodyPr>
          <a:lstStyle xmlns:a="http://schemas.openxmlformats.org/drawingml/2006/main"/>
          <a:p xmlns:a="http://schemas.openxmlformats.org/drawingml/2006/main">
            <a:pPr>
              <a:defRPr sz="3000" b="1">
                <a:solidFill>
                  <a:srgbClr val="173B31"/>
                </a:solidFill>
                <a:latin typeface="Arial"/>
                <a:ea typeface="Arial"/>
                <a:cs typeface="Arial"/>
              </a:defRPr>
            </a:pPr>
            <a:r>
              <a:rPr sz="3000" b="1">
                <a:solidFill>
                  <a:srgbClr val="173B31"/>
                </a:solidFill>
                <a:latin typeface="Arial"/>
                <a:ea typeface="Arial"/>
                <a:cs typeface="Arial"/>
              </a:rPr>
              <a:t>3,697</a:t>
            </a:r>
          </a:p>
        </p:txBody>
      </p:sp>
      <p:sp>
        <p:nvSpPr>
          <p:cNvPr id="9" name="">
            <a:extLst xmlns:a="http://schemas.openxmlformats.org/drawingml/2006/main">
              <a:ext uri="{FF2B5EF4-FFF2-40B4-BE49-F238E27FC236}">
                <a16:creationId xmlns:a16="http://schemas.microsoft.com/office/drawing/2014/main" id="{17BF1DEA-F1E3-4665-85E9-E0FD29D1459A}"/>
              </a:ext>
            </a:extLst>
          </p:cNvPr>
          <p:cNvSpPr>
            <a:spLocks xmlns:a="http://schemas.openxmlformats.org/drawingml/2006/main" noGrp="1"/>
          </p:cNvSpPr>
          <p:nvPr/>
        </p:nvSpPr>
        <p:spPr>
          <a:xfrm xmlns:a="http://schemas.openxmlformats.org/drawingml/2006/main">
            <a:off x="819150" y="2857500"/>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66736D"/>
                </a:solidFill>
                <a:latin typeface="Arial"/>
                <a:ea typeface="Arial"/>
                <a:cs typeface="Arial"/>
              </a:defRPr>
            </a:pPr>
            <a:r>
              <a:rPr sz="1200" b="0">
                <a:solidFill>
                  <a:srgbClr val="66736D"/>
                </a:solidFill>
                <a:latin typeface="Arial"/>
                <a:ea typeface="Arial"/>
                <a:cs typeface="Arial"/>
              </a:rPr>
              <a:t>historical venues</a:t>
            </a:r>
          </a:p>
        </p:txBody>
      </p:sp>
      <p:sp>
        <p:nvSpPr>
          <p:cNvPr id="10" name="">
            <a:extLst xmlns:a="http://schemas.openxmlformats.org/drawingml/2006/main">
              <a:ext uri="{FF2B5EF4-FFF2-40B4-BE49-F238E27FC236}">
                <a16:creationId xmlns:a16="http://schemas.microsoft.com/office/drawing/2014/main" id="{24B8B18C-3C91-48BC-9286-0956C0DAC7FC}"/>
              </a:ext>
            </a:extLst>
          </p:cNvPr>
          <p:cNvSpPr>
            <a:spLocks xmlns:a="http://schemas.openxmlformats.org/drawingml/2006/main" noGrp="1"/>
          </p:cNvSpPr>
          <p:nvPr/>
        </p:nvSpPr>
        <p:spPr>
          <a:xfrm xmlns:a="http://schemas.openxmlformats.org/drawingml/2006/main">
            <a:off x="2990850" y="1962150"/>
            <a:ext cx="2266950" cy="1485900"/>
          </a:xfrm>
          <a:prstGeom xmlns:a="http://schemas.openxmlformats.org/drawingml/2006/main" prst="roundRect">
            <a:avLst>
              <a:gd name="adj" fmla="val 5128"/>
            </a:avLst>
          </a:prstGeom>
          <a:solidFill xmlns:a="http://schemas.openxmlformats.org/drawingml/2006/main">
            <a:srgbClr val="FFFDF8"/>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D1DF15B-9513-4352-B398-BFC45C67460D}"/>
              </a:ext>
            </a:extLst>
          </p:cNvPr>
          <p:cNvSpPr>
            <a:spLocks xmlns:a="http://schemas.openxmlformats.org/drawingml/2006/main" noGrp="1"/>
          </p:cNvSpPr>
          <p:nvPr/>
        </p:nvSpPr>
        <p:spPr>
          <a:xfrm xmlns:a="http://schemas.openxmlformats.org/drawingml/2006/main">
            <a:off x="2990850" y="1962150"/>
            <a:ext cx="76200" cy="1485900"/>
          </a:xfrm>
          <a:prstGeom xmlns:a="http://schemas.openxmlformats.org/drawingml/2006/main" prst="roundRect">
            <a:avLst>
              <a:gd name="adj" fmla="val 50000"/>
            </a:avLst>
          </a:prstGeom>
          <a:solidFill xmlns:a="http://schemas.openxmlformats.org/drawingml/2006/main">
            <a:srgbClr val="2D7A6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03D4A56-615C-45E3-9456-8092CB115AE3}"/>
              </a:ext>
            </a:extLst>
          </p:cNvPr>
          <p:cNvSpPr>
            <a:spLocks xmlns:a="http://schemas.openxmlformats.org/drawingml/2006/main" noGrp="1"/>
          </p:cNvSpPr>
          <p:nvPr/>
        </p:nvSpPr>
        <p:spPr>
          <a:xfrm xmlns:a="http://schemas.openxmlformats.org/drawingml/2006/main">
            <a:off x="3257550" y="2228850"/>
            <a:ext cx="1809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67"/>
          </a:bodyPr>
          <a:lstStyle xmlns:a="http://schemas.openxmlformats.org/drawingml/2006/main"/>
          <a:p xmlns:a="http://schemas.openxmlformats.org/drawingml/2006/main">
            <a:pPr>
              <a:defRPr sz="3000" b="1">
                <a:solidFill>
                  <a:srgbClr val="173B31"/>
                </a:solidFill>
                <a:latin typeface="Arial"/>
                <a:ea typeface="Arial"/>
                <a:cs typeface="Arial"/>
              </a:defRPr>
            </a:pPr>
            <a:r>
              <a:rPr sz="3000" b="1">
                <a:solidFill>
                  <a:srgbClr val="173B31"/>
                </a:solidFill>
                <a:latin typeface="Arial"/>
                <a:ea typeface="Arial"/>
                <a:cs typeface="Arial"/>
              </a:rPr>
              <a:t>3,186</a:t>
            </a:r>
          </a:p>
        </p:txBody>
      </p:sp>
      <p:sp>
        <p:nvSpPr>
          <p:cNvPr id="13" name="">
            <a:extLst xmlns:a="http://schemas.openxmlformats.org/drawingml/2006/main">
              <a:ext uri="{FF2B5EF4-FFF2-40B4-BE49-F238E27FC236}">
                <a16:creationId xmlns:a16="http://schemas.microsoft.com/office/drawing/2014/main" id="{AFE49B50-AECD-4B70-BDBC-9C276795D757}"/>
              </a:ext>
            </a:extLst>
          </p:cNvPr>
          <p:cNvSpPr>
            <a:spLocks xmlns:a="http://schemas.openxmlformats.org/drawingml/2006/main" noGrp="1"/>
          </p:cNvSpPr>
          <p:nvPr/>
        </p:nvSpPr>
        <p:spPr>
          <a:xfrm xmlns:a="http://schemas.openxmlformats.org/drawingml/2006/main">
            <a:off x="3257550" y="2857500"/>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66736D"/>
                </a:solidFill>
                <a:latin typeface="Arial"/>
                <a:ea typeface="Arial"/>
                <a:cs typeface="Arial"/>
              </a:defRPr>
            </a:pPr>
            <a:r>
              <a:rPr sz="1200" b="0">
                <a:solidFill>
                  <a:srgbClr val="66736D"/>
                </a:solidFill>
                <a:latin typeface="Arial"/>
                <a:ea typeface="Arial"/>
                <a:cs typeface="Arial"/>
              </a:rPr>
              <a:t>venues with ratings</a:t>
            </a:r>
          </a:p>
        </p:txBody>
      </p:sp>
      <p:sp>
        <p:nvSpPr>
          <p:cNvPr id="14" name="">
            <a:extLst xmlns:a="http://schemas.openxmlformats.org/drawingml/2006/main">
              <a:ext uri="{FF2B5EF4-FFF2-40B4-BE49-F238E27FC236}">
                <a16:creationId xmlns:a16="http://schemas.microsoft.com/office/drawing/2014/main" id="{FB905217-DB07-4848-AD8F-D2B377BADBA9}"/>
              </a:ext>
            </a:extLst>
          </p:cNvPr>
          <p:cNvSpPr>
            <a:spLocks xmlns:a="http://schemas.openxmlformats.org/drawingml/2006/main" noGrp="1"/>
          </p:cNvSpPr>
          <p:nvPr/>
        </p:nvSpPr>
        <p:spPr>
          <a:xfrm xmlns:a="http://schemas.openxmlformats.org/drawingml/2006/main">
            <a:off x="5429250" y="1962150"/>
            <a:ext cx="2266950" cy="1485900"/>
          </a:xfrm>
          <a:prstGeom xmlns:a="http://schemas.openxmlformats.org/drawingml/2006/main" prst="roundRect">
            <a:avLst>
              <a:gd name="adj" fmla="val 5128"/>
            </a:avLst>
          </a:prstGeom>
          <a:solidFill xmlns:a="http://schemas.openxmlformats.org/drawingml/2006/main">
            <a:srgbClr val="FFFDF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406117E-7652-41AB-A293-E88DFCD2A1A3}"/>
              </a:ext>
            </a:extLst>
          </p:cNvPr>
          <p:cNvSpPr>
            <a:spLocks xmlns:a="http://schemas.openxmlformats.org/drawingml/2006/main" noGrp="1"/>
          </p:cNvSpPr>
          <p:nvPr/>
        </p:nvSpPr>
        <p:spPr>
          <a:xfrm xmlns:a="http://schemas.openxmlformats.org/drawingml/2006/main">
            <a:off x="5429250" y="1962150"/>
            <a:ext cx="76200" cy="1485900"/>
          </a:xfrm>
          <a:prstGeom xmlns:a="http://schemas.openxmlformats.org/drawingml/2006/main" prst="roundRect">
            <a:avLst>
              <a:gd name="adj" fmla="val 50000"/>
            </a:avLst>
          </a:prstGeom>
          <a:solidFill xmlns:a="http://schemas.openxmlformats.org/drawingml/2006/main">
            <a:srgbClr val="D89029"/>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C21DD1E-9737-4248-991D-E5141323106C}"/>
              </a:ext>
            </a:extLst>
          </p:cNvPr>
          <p:cNvSpPr>
            <a:spLocks xmlns:a="http://schemas.openxmlformats.org/drawingml/2006/main" noGrp="1"/>
          </p:cNvSpPr>
          <p:nvPr/>
        </p:nvSpPr>
        <p:spPr>
          <a:xfrm xmlns:a="http://schemas.openxmlformats.org/drawingml/2006/main">
            <a:off x="5695950" y="2228850"/>
            <a:ext cx="1809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67"/>
          </a:bodyPr>
          <a:lstStyle xmlns:a="http://schemas.openxmlformats.org/drawingml/2006/main"/>
          <a:p xmlns:a="http://schemas.openxmlformats.org/drawingml/2006/main">
            <a:pPr>
              <a:defRPr sz="3000" b="1">
                <a:solidFill>
                  <a:srgbClr val="173B31"/>
                </a:solidFill>
                <a:latin typeface="Arial"/>
                <a:ea typeface="Arial"/>
                <a:cs typeface="Arial"/>
              </a:defRPr>
            </a:pPr>
            <a:r>
              <a:rPr sz="3000" b="1">
                <a:solidFill>
                  <a:srgbClr val="173B31"/>
                </a:solidFill>
                <a:latin typeface="Arial"/>
                <a:ea typeface="Arial"/>
                <a:cs typeface="Arial"/>
              </a:rPr>
              <a:t>511</a:t>
            </a:r>
          </a:p>
        </p:txBody>
      </p:sp>
      <p:sp>
        <p:nvSpPr>
          <p:cNvPr id="17" name="">
            <a:extLst xmlns:a="http://schemas.openxmlformats.org/drawingml/2006/main">
              <a:ext uri="{FF2B5EF4-FFF2-40B4-BE49-F238E27FC236}">
                <a16:creationId xmlns:a16="http://schemas.microsoft.com/office/drawing/2014/main" id="{650F0706-DE78-4A2B-AA59-163BCEE49902}"/>
              </a:ext>
            </a:extLst>
          </p:cNvPr>
          <p:cNvSpPr>
            <a:spLocks xmlns:a="http://schemas.openxmlformats.org/drawingml/2006/main" noGrp="1"/>
          </p:cNvSpPr>
          <p:nvPr/>
        </p:nvSpPr>
        <p:spPr>
          <a:xfrm xmlns:a="http://schemas.openxmlformats.org/drawingml/2006/main">
            <a:off x="5695950" y="2857500"/>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66736D"/>
                </a:solidFill>
                <a:latin typeface="Arial"/>
                <a:ea typeface="Arial"/>
                <a:cs typeface="Arial"/>
              </a:defRPr>
            </a:pPr>
            <a:r>
              <a:rPr sz="1200" b="0">
                <a:solidFill>
                  <a:srgbClr val="66736D"/>
                </a:solidFill>
                <a:latin typeface="Arial"/>
                <a:ea typeface="Arial"/>
                <a:cs typeface="Arial"/>
              </a:rPr>
              <a:t>venues without ratings</a:t>
            </a:r>
          </a:p>
        </p:txBody>
      </p:sp>
      <p:sp>
        <p:nvSpPr>
          <p:cNvPr id="18" name="">
            <a:extLst xmlns:a="http://schemas.openxmlformats.org/drawingml/2006/main">
              <a:ext uri="{FF2B5EF4-FFF2-40B4-BE49-F238E27FC236}">
                <a16:creationId xmlns:a16="http://schemas.microsoft.com/office/drawing/2014/main" id="{6D8AC1EB-BBFF-451B-B5EB-E2D5A7358E80}"/>
              </a:ext>
            </a:extLst>
          </p:cNvPr>
          <p:cNvSpPr>
            <a:spLocks xmlns:a="http://schemas.openxmlformats.org/drawingml/2006/main" noGrp="1"/>
          </p:cNvSpPr>
          <p:nvPr/>
        </p:nvSpPr>
        <p:spPr>
          <a:xfrm xmlns:a="http://schemas.openxmlformats.org/drawingml/2006/main">
            <a:off x="7867650" y="1962150"/>
            <a:ext cx="2266950" cy="1485900"/>
          </a:xfrm>
          <a:prstGeom xmlns:a="http://schemas.openxmlformats.org/drawingml/2006/main" prst="roundRect">
            <a:avLst>
              <a:gd name="adj" fmla="val 5128"/>
            </a:avLst>
          </a:prstGeom>
          <a:solidFill xmlns:a="http://schemas.openxmlformats.org/drawingml/2006/main">
            <a:srgbClr val="FFFDF8"/>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C0D515C-87C2-4142-9DCA-AD20A1C2138F}"/>
              </a:ext>
            </a:extLst>
          </p:cNvPr>
          <p:cNvSpPr>
            <a:spLocks xmlns:a="http://schemas.openxmlformats.org/drawingml/2006/main" noGrp="1"/>
          </p:cNvSpPr>
          <p:nvPr/>
        </p:nvSpPr>
        <p:spPr>
          <a:xfrm xmlns:a="http://schemas.openxmlformats.org/drawingml/2006/main">
            <a:off x="7867650" y="1962150"/>
            <a:ext cx="76200" cy="1485900"/>
          </a:xfrm>
          <a:prstGeom xmlns:a="http://schemas.openxmlformats.org/drawingml/2006/main" prst="roundRect">
            <a:avLst>
              <a:gd name="adj" fmla="val 50000"/>
            </a:avLst>
          </a:prstGeom>
          <a:solidFill xmlns:a="http://schemas.openxmlformats.org/drawingml/2006/main">
            <a:srgbClr val="4E79A7"/>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3D53ABF-4C32-40AB-BEC4-7009CF00ADBC}"/>
              </a:ext>
            </a:extLst>
          </p:cNvPr>
          <p:cNvSpPr>
            <a:spLocks xmlns:a="http://schemas.openxmlformats.org/drawingml/2006/main" noGrp="1"/>
          </p:cNvSpPr>
          <p:nvPr/>
        </p:nvSpPr>
        <p:spPr>
          <a:xfrm xmlns:a="http://schemas.openxmlformats.org/drawingml/2006/main">
            <a:off x="8134350" y="2228850"/>
            <a:ext cx="1809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667"/>
          </a:bodyPr>
          <a:lstStyle xmlns:a="http://schemas.openxmlformats.org/drawingml/2006/main"/>
          <a:p xmlns:a="http://schemas.openxmlformats.org/drawingml/2006/main">
            <a:pPr>
              <a:defRPr sz="3000" b="1">
                <a:solidFill>
                  <a:srgbClr val="173B31"/>
                </a:solidFill>
                <a:latin typeface="Arial"/>
                <a:ea typeface="Arial"/>
                <a:cs typeface="Arial"/>
              </a:defRPr>
            </a:pPr>
            <a:r>
              <a:rPr sz="3000" b="1">
                <a:solidFill>
                  <a:srgbClr val="173B31"/>
                </a:solidFill>
                <a:latin typeface="Arial"/>
                <a:ea typeface="Arial"/>
                <a:cs typeface="Arial"/>
              </a:rPr>
              <a:t>89</a:t>
            </a:r>
          </a:p>
        </p:txBody>
      </p:sp>
      <p:sp>
        <p:nvSpPr>
          <p:cNvPr id="21" name="">
            <a:extLst xmlns:a="http://schemas.openxmlformats.org/drawingml/2006/main">
              <a:ext uri="{FF2B5EF4-FFF2-40B4-BE49-F238E27FC236}">
                <a16:creationId xmlns:a16="http://schemas.microsoft.com/office/drawing/2014/main" id="{3B2446CF-74D9-4A64-A0C9-B0FB36A743D6}"/>
              </a:ext>
            </a:extLst>
          </p:cNvPr>
          <p:cNvSpPr>
            <a:spLocks xmlns:a="http://schemas.openxmlformats.org/drawingml/2006/main" noGrp="1"/>
          </p:cNvSpPr>
          <p:nvPr/>
        </p:nvSpPr>
        <p:spPr>
          <a:xfrm xmlns:a="http://schemas.openxmlformats.org/drawingml/2006/main">
            <a:off x="8134350" y="2857500"/>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66736D"/>
                </a:solidFill>
                <a:latin typeface="Arial"/>
                <a:ea typeface="Arial"/>
                <a:cs typeface="Arial"/>
              </a:defRPr>
            </a:pPr>
            <a:r>
              <a:rPr sz="1200" b="0">
                <a:solidFill>
                  <a:srgbClr val="66736D"/>
                </a:solidFill>
                <a:latin typeface="Arial"/>
                <a:ea typeface="Arial"/>
                <a:cs typeface="Arial"/>
              </a:rPr>
              <a:t>activity / service labels</a:t>
            </a:r>
          </a:p>
        </p:txBody>
      </p:sp>
      <p:graphicFrame>
        <p:nvGraphicFramePr>
          <p:cNvPr id="48" name="Chart"/>
          <p:cNvGraphicFramePr/>
          <p:nvPr/>
        </p:nvGraphicFramePr>
        <p:xfrm>
          <a:off xmlns:a="http://schemas.openxmlformats.org/drawingml/2006/main" x="552450" y="3886200"/>
          <a:ext xmlns:a="http://schemas.openxmlformats.org/drawingml/2006/main" cx="6705600" cy="2238375"/>
        </p:xfrm>
        <a:graphic xmlns:a="http://schemas.openxmlformats.org/drawingml/2006/main">
          <a:graphicData uri="http://schemas.openxmlformats.org/drawingml/2006/chart">
            <c:chart xmlns:r="http://schemas.openxmlformats.org/officeDocument/2006/relationships" xmlns:c="http://schemas.openxmlformats.org/drawingml/2006/chart" r:id="R89a24962094c406f"/>
          </a:graphicData>
        </a:graphic>
      </p:graphicFrame>
      <p:sp>
        <p:nvSpPr>
          <p:cNvPr id="23" name="">
            <a:extLst xmlns:a="http://schemas.openxmlformats.org/drawingml/2006/main">
              <a:ext uri="{FF2B5EF4-FFF2-40B4-BE49-F238E27FC236}">
                <a16:creationId xmlns:a16="http://schemas.microsoft.com/office/drawing/2014/main" id="{48D50B55-9096-4B3A-B719-DA5C482FFF14}"/>
              </a:ext>
            </a:extLst>
          </p:cNvPr>
          <p:cNvSpPr>
            <a:spLocks xmlns:a="http://schemas.openxmlformats.org/drawingml/2006/main" noGrp="1"/>
          </p:cNvSpPr>
          <p:nvPr/>
        </p:nvSpPr>
        <p:spPr>
          <a:xfrm xmlns:a="http://schemas.openxmlformats.org/drawingml/2006/main">
            <a:off x="704850" y="3943350"/>
            <a:ext cx="590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392"/>
          </a:bodyPr>
          <a:lstStyle xmlns:a="http://schemas.openxmlformats.org/drawingml/2006/main"/>
          <a:p xmlns:a="http://schemas.openxmlformats.org/drawingml/2006/main">
            <a:pPr>
              <a:defRPr sz="1275" b="1">
                <a:solidFill>
                  <a:srgbClr val="173B31"/>
                </a:solidFill>
                <a:latin typeface="Arial"/>
                <a:ea typeface="Arial"/>
                <a:cs typeface="Arial"/>
              </a:defRPr>
            </a:pPr>
            <a:r>
              <a:rPr sz="1275" b="1">
                <a:solidFill>
                  <a:srgbClr val="173B31"/>
                </a:solidFill>
                <a:latin typeface="Arial"/>
                <a:ea typeface="Arial"/>
                <a:cs typeface="Arial"/>
              </a:rPr>
              <a:t>Regional coverage after exact deduplication</a:t>
            </a:r>
          </a:p>
        </p:txBody>
      </p:sp>
      <p:sp>
        <p:nvSpPr>
          <p:cNvPr id="24" name="">
            <a:extLst xmlns:a="http://schemas.openxmlformats.org/drawingml/2006/main">
              <a:ext uri="{FF2B5EF4-FFF2-40B4-BE49-F238E27FC236}">
                <a16:creationId xmlns:a16="http://schemas.microsoft.com/office/drawing/2014/main" id="{75270765-8CC8-4BFD-9250-7B251C5D6B09}"/>
              </a:ext>
            </a:extLst>
          </p:cNvPr>
          <p:cNvSpPr>
            <a:spLocks xmlns:a="http://schemas.openxmlformats.org/drawingml/2006/main" noGrp="1"/>
          </p:cNvSpPr>
          <p:nvPr/>
        </p:nvSpPr>
        <p:spPr>
          <a:xfrm xmlns:a="http://schemas.openxmlformats.org/drawingml/2006/main">
            <a:off x="7658100" y="3886200"/>
            <a:ext cx="3143250" cy="2238375"/>
          </a:xfrm>
          <a:prstGeom xmlns:a="http://schemas.openxmlformats.org/drawingml/2006/main" prst="roundRect">
            <a:avLst>
              <a:gd name="adj" fmla="val 3404"/>
            </a:avLst>
          </a:prstGeom>
          <a:solidFill xmlns:a="http://schemas.openxmlformats.org/drawingml/2006/main">
            <a:srgbClr val="F5E7CB"/>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B772062-F732-4D4A-A66F-45FA9A1BF116}"/>
              </a:ext>
            </a:extLst>
          </p:cNvPr>
          <p:cNvSpPr>
            <a:spLocks xmlns:a="http://schemas.openxmlformats.org/drawingml/2006/main" noGrp="1"/>
          </p:cNvSpPr>
          <p:nvPr/>
        </p:nvSpPr>
        <p:spPr>
          <a:xfrm xmlns:a="http://schemas.openxmlformats.org/drawingml/2006/main">
            <a:off x="7943850" y="4143375"/>
            <a:ext cx="2571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095"/>
          </a:bodyPr>
          <a:lstStyle xmlns:a="http://schemas.openxmlformats.org/drawingml/2006/main"/>
          <a:p xmlns:a="http://schemas.openxmlformats.org/drawingml/2006/main">
            <a:pPr>
              <a:defRPr sz="1575" b="1">
                <a:solidFill>
                  <a:srgbClr val="173B31"/>
                </a:solidFill>
                <a:latin typeface="Arial"/>
                <a:ea typeface="Arial"/>
                <a:cs typeface="Arial"/>
              </a:defRPr>
            </a:pPr>
            <a:r>
              <a:rPr sz="1575" b="1">
                <a:solidFill>
                  <a:srgbClr val="173B31"/>
                </a:solidFill>
                <a:latin typeface="Arial"/>
                <a:ea typeface="Arial"/>
                <a:cs typeface="Arial"/>
              </a:rPr>
              <a:t>Why we did not manufacture scale</a:t>
            </a:r>
          </a:p>
        </p:txBody>
      </p:sp>
      <p:sp>
        <p:nvSpPr>
          <p:cNvPr id="26" name="">
            <a:extLst xmlns:a="http://schemas.openxmlformats.org/drawingml/2006/main">
              <a:ext uri="{FF2B5EF4-FFF2-40B4-BE49-F238E27FC236}">
                <a16:creationId xmlns:a16="http://schemas.microsoft.com/office/drawing/2014/main" id="{E3D8C728-937F-42C9-8783-F191566EAD2D}"/>
              </a:ext>
            </a:extLst>
          </p:cNvPr>
          <p:cNvSpPr>
            <a:spLocks xmlns:a="http://schemas.openxmlformats.org/drawingml/2006/main" noGrp="1"/>
          </p:cNvSpPr>
          <p:nvPr/>
        </p:nvSpPr>
        <p:spPr>
          <a:xfrm xmlns:a="http://schemas.openxmlformats.org/drawingml/2006/main">
            <a:off x="7943850" y="4810125"/>
            <a:ext cx="2571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Synthetic rows would not repair unknown dates, geographic bias, missing bookings, or absent prices. The historical dataset remains the empirical core.</a:t>
            </a:r>
          </a:p>
        </p:txBody>
      </p:sp>
    </p:spTree>
    <p:extLst>
      <p:ext uri="{BB962C8B-B14F-4D97-AF65-F5344CB8AC3E}">
        <p14:creationId xmlns:p14="http://schemas.microsoft.com/office/powerpoint/2010/main" val="249721190"/>
      </p:ext>
    </p:extLst>
  </p:cSld>
</p:sld>
</file>

<file path=ppt/slides/slide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623E2A1D-47B4-4B20-87EC-FF6F5D4BEA9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642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C7DC1D-2A60-4BFC-85AB-9041D91489AC}"/>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SYSTEM</a:t>
            </a:r>
          </a:p>
        </p:txBody>
      </p:sp>
      <p:sp>
        <p:nvSpPr>
          <p:cNvPr id="3" name="">
            <a:extLst xmlns:a="http://schemas.openxmlformats.org/drawingml/2006/main">
              <a:ext uri="{FF2B5EF4-FFF2-40B4-BE49-F238E27FC236}">
                <a16:creationId xmlns:a16="http://schemas.microsoft.com/office/drawing/2014/main" id="{3AD9264C-EE9F-4A9C-AFE2-1C3DC9696623}"/>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One pipeline, four accountability boundaries.</a:t>
            </a:r>
          </a:p>
        </p:txBody>
      </p:sp>
      <p:sp>
        <p:nvSpPr>
          <p:cNvPr id="4" name="">
            <a:extLst xmlns:a="http://schemas.openxmlformats.org/drawingml/2006/main">
              <a:ext uri="{FF2B5EF4-FFF2-40B4-BE49-F238E27FC236}">
                <a16:creationId xmlns:a16="http://schemas.microsoft.com/office/drawing/2014/main" id="{85EDF7AE-84AE-4D8E-A483-8F25D7FFBE60}"/>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Each layer has a different job and a different trust level.</a:t>
            </a:r>
          </a:p>
        </p:txBody>
      </p:sp>
      <p:sp>
        <p:nvSpPr>
          <p:cNvPr id="5" name="">
            <a:extLst xmlns:a="http://schemas.openxmlformats.org/drawingml/2006/main">
              <a:ext uri="{FF2B5EF4-FFF2-40B4-BE49-F238E27FC236}">
                <a16:creationId xmlns:a16="http://schemas.microsoft.com/office/drawing/2014/main" id="{4500C8C6-DE79-4837-BAFA-783D5DC4B5A1}"/>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ECD928AB-9482-45D4-AF61-8B7BFAA65A66}"/>
              </a:ext>
            </a:extLst>
          </p:cNvPr>
          <p:cNvSpPr>
            <a:spLocks xmlns:a="http://schemas.openxmlformats.org/drawingml/2006/main" noGrp="1"/>
          </p:cNvSpPr>
          <p:nvPr/>
        </p:nvSpPr>
        <p:spPr>
          <a:xfrm xmlns:a="http://schemas.openxmlformats.org/drawingml/2006/main">
            <a:off x="2400300" y="2895600"/>
            <a:ext cx="857250" cy="76200"/>
          </a:xfrm>
          <a:prstGeom xmlns:a="http://schemas.openxmlformats.org/drawingml/2006/main" prst="roundRect">
            <a:avLst>
              <a:gd name="adj" fmla="val 50000"/>
            </a:avLst>
          </a:prstGeom>
          <a:solidFill xmlns:a="http://schemas.openxmlformats.org/drawingml/2006/main">
            <a:srgbClr val="D7D3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86CC8FA-AC84-44B9-A459-A40E0F2BF4A7}"/>
              </a:ext>
            </a:extLst>
          </p:cNvPr>
          <p:cNvSpPr>
            <a:spLocks xmlns:a="http://schemas.openxmlformats.org/drawingml/2006/main" noGrp="1"/>
          </p:cNvSpPr>
          <p:nvPr/>
        </p:nvSpPr>
        <p:spPr>
          <a:xfrm xmlns:a="http://schemas.openxmlformats.org/drawingml/2006/main">
            <a:off x="4667250" y="2895600"/>
            <a:ext cx="857250" cy="76200"/>
          </a:xfrm>
          <a:prstGeom xmlns:a="http://schemas.openxmlformats.org/drawingml/2006/main" prst="roundRect">
            <a:avLst>
              <a:gd name="adj" fmla="val 50000"/>
            </a:avLst>
          </a:prstGeom>
          <a:solidFill xmlns:a="http://schemas.openxmlformats.org/drawingml/2006/main">
            <a:srgbClr val="D7D3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162AFB1-5D69-469E-A3D2-BFD7C294FAE8}"/>
              </a:ext>
            </a:extLst>
          </p:cNvPr>
          <p:cNvSpPr>
            <a:spLocks xmlns:a="http://schemas.openxmlformats.org/drawingml/2006/main" noGrp="1"/>
          </p:cNvSpPr>
          <p:nvPr/>
        </p:nvSpPr>
        <p:spPr>
          <a:xfrm xmlns:a="http://schemas.openxmlformats.org/drawingml/2006/main">
            <a:off x="6934200" y="2895600"/>
            <a:ext cx="857250" cy="76200"/>
          </a:xfrm>
          <a:prstGeom xmlns:a="http://schemas.openxmlformats.org/drawingml/2006/main" prst="roundRect">
            <a:avLst>
              <a:gd name="adj" fmla="val 50000"/>
            </a:avLst>
          </a:prstGeom>
          <a:solidFill xmlns:a="http://schemas.openxmlformats.org/drawingml/2006/main">
            <a:srgbClr val="D7D3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C5E363-0CE0-4611-BC59-DCB4C775D906}"/>
              </a:ext>
            </a:extLst>
          </p:cNvPr>
          <p:cNvSpPr>
            <a:spLocks xmlns:a="http://schemas.openxmlformats.org/drawingml/2006/main" noGrp="1"/>
          </p:cNvSpPr>
          <p:nvPr/>
        </p:nvSpPr>
        <p:spPr>
          <a:xfrm xmlns:a="http://schemas.openxmlformats.org/drawingml/2006/main">
            <a:off x="9201150" y="2895600"/>
            <a:ext cx="857250" cy="76200"/>
          </a:xfrm>
          <a:prstGeom xmlns:a="http://schemas.openxmlformats.org/drawingml/2006/main" prst="roundRect">
            <a:avLst>
              <a:gd name="adj" fmla="val 50000"/>
            </a:avLst>
          </a:prstGeom>
          <a:solidFill xmlns:a="http://schemas.openxmlformats.org/drawingml/2006/main">
            <a:srgbClr val="D7D3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62AD61A-C316-4EB5-BB99-83874B67C31D}"/>
              </a:ext>
            </a:extLst>
          </p:cNvPr>
          <p:cNvSpPr>
            <a:spLocks xmlns:a="http://schemas.openxmlformats.org/drawingml/2006/main" noGrp="1"/>
          </p:cNvSpPr>
          <p:nvPr/>
        </p:nvSpPr>
        <p:spPr>
          <a:xfrm xmlns:a="http://schemas.openxmlformats.org/drawingml/2006/main">
            <a:off x="609600" y="2152650"/>
            <a:ext cx="1752600" cy="1885950"/>
          </a:xfrm>
          <a:prstGeom xmlns:a="http://schemas.openxmlformats.org/drawingml/2006/main" prst="roundRect">
            <a:avLst>
              <a:gd name="adj" fmla="val 4348"/>
            </a:avLst>
          </a:prstGeom>
          <a:solidFill xmlns:a="http://schemas.openxmlformats.org/drawingml/2006/main">
            <a:srgbClr val="F1D8D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2E31F77-83C2-470D-9BB8-D3B7505E5D50}"/>
              </a:ext>
            </a:extLst>
          </p:cNvPr>
          <p:cNvSpPr>
            <a:spLocks xmlns:a="http://schemas.openxmlformats.org/drawingml/2006/main" noGrp="1"/>
          </p:cNvSpPr>
          <p:nvPr/>
        </p:nvSpPr>
        <p:spPr>
          <a:xfrm xmlns:a="http://schemas.openxmlformats.org/drawingml/2006/main">
            <a:off x="800100" y="23431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196"/>
          </a:bodyPr>
          <a:lstStyle xmlns:a="http://schemas.openxmlformats.org/drawingml/2006/main"/>
          <a:p xmlns:a="http://schemas.openxmlformats.org/drawingml/2006/main">
            <a:pPr>
              <a:defRPr sz="1275" b="1">
                <a:solidFill>
                  <a:srgbClr val="C64235"/>
                </a:solidFill>
                <a:latin typeface="Arial"/>
                <a:ea typeface="Arial"/>
                <a:cs typeface="Arial"/>
              </a:defRPr>
            </a:pPr>
            <a:r>
              <a:rPr sz="1275" b="1">
                <a:solidFill>
                  <a:srgbClr val="C64235"/>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5B59D0C8-8F6A-4B6D-BBCB-78287F1D4E40}"/>
              </a:ext>
            </a:extLst>
          </p:cNvPr>
          <p:cNvSpPr>
            <a:spLocks xmlns:a="http://schemas.openxmlformats.org/drawingml/2006/main" noGrp="1"/>
          </p:cNvSpPr>
          <p:nvPr/>
        </p:nvSpPr>
        <p:spPr>
          <a:xfrm xmlns:a="http://schemas.openxmlformats.org/drawingml/2006/main">
            <a:off x="800100" y="2743200"/>
            <a:ext cx="1390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866"/>
          </a:bodyPr>
          <a:lstStyle xmlns:a="http://schemas.openxmlformats.org/drawingml/2006/main"/>
          <a:p xmlns:a="http://schemas.openxmlformats.org/drawingml/2006/main">
            <a:pPr>
              <a:defRPr sz="1650" b="1">
                <a:solidFill>
                  <a:srgbClr val="173B31"/>
                </a:solidFill>
                <a:latin typeface="Arial"/>
                <a:ea typeface="Arial"/>
                <a:cs typeface="Arial"/>
              </a:defRPr>
            </a:pPr>
            <a:r>
              <a:rPr sz="1650" b="1">
                <a:solidFill>
                  <a:srgbClr val="173B31"/>
                </a:solidFill>
                <a:latin typeface="Arial"/>
                <a:ea typeface="Arial"/>
                <a:cs typeface="Arial"/>
              </a:rPr>
              <a:t>Raw archive</a:t>
            </a:r>
          </a:p>
        </p:txBody>
      </p:sp>
      <p:sp>
        <p:nvSpPr>
          <p:cNvPr id="13" name="">
            <a:extLst xmlns:a="http://schemas.openxmlformats.org/drawingml/2006/main">
              <a:ext uri="{FF2B5EF4-FFF2-40B4-BE49-F238E27FC236}">
                <a16:creationId xmlns:a16="http://schemas.microsoft.com/office/drawing/2014/main" id="{4A71C9BB-E4B0-4044-89AE-2FB04FDBC3B2}"/>
              </a:ext>
            </a:extLst>
          </p:cNvPr>
          <p:cNvSpPr>
            <a:spLocks xmlns:a="http://schemas.openxmlformats.org/drawingml/2006/main" noGrp="1"/>
          </p:cNvSpPr>
          <p:nvPr/>
        </p:nvSpPr>
        <p:spPr>
          <a:xfrm xmlns:a="http://schemas.openxmlformats.org/drawingml/2006/main">
            <a:off x="800100" y="3257550"/>
            <a:ext cx="1390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037"/>
          </a:bodyPr>
          <a:lstStyle xmlns:a="http://schemas.openxmlformats.org/drawingml/2006/main"/>
          <a:p xmlns:a="http://schemas.openxmlformats.org/drawingml/2006/main">
            <a:pPr>
              <a:defRPr sz="1125" b="0">
                <a:solidFill>
                  <a:srgbClr val="1D2B27"/>
                </a:solidFill>
                <a:latin typeface="Arial"/>
                <a:ea typeface="Arial"/>
                <a:cs typeface="Arial"/>
              </a:defRPr>
            </a:pPr>
            <a:r>
              <a:rPr sz="1125" b="0">
                <a:solidFill>
                  <a:srgbClr val="1D2B27"/>
                </a:solidFill>
                <a:latin typeface="Arial"/>
                <a:ea typeface="Arial"/>
                <a:cs typeface="Arial"/>
              </a:rPr>
              <a:t>Four regional JSON files remain unchanged.</a:t>
            </a:r>
          </a:p>
        </p:txBody>
      </p:sp>
      <p:sp>
        <p:nvSpPr>
          <p:cNvPr id="14" name="">
            <a:extLst xmlns:a="http://schemas.openxmlformats.org/drawingml/2006/main">
              <a:ext uri="{FF2B5EF4-FFF2-40B4-BE49-F238E27FC236}">
                <a16:creationId xmlns:a16="http://schemas.microsoft.com/office/drawing/2014/main" id="{C418C8A6-00A9-4A0E-B53D-242D39E3D01C}"/>
              </a:ext>
            </a:extLst>
          </p:cNvPr>
          <p:cNvSpPr>
            <a:spLocks xmlns:a="http://schemas.openxmlformats.org/drawingml/2006/main" noGrp="1"/>
          </p:cNvSpPr>
          <p:nvPr/>
        </p:nvSpPr>
        <p:spPr>
          <a:xfrm xmlns:a="http://schemas.openxmlformats.org/drawingml/2006/main">
            <a:off x="2876550" y="2152650"/>
            <a:ext cx="1752600" cy="1885950"/>
          </a:xfrm>
          <a:prstGeom xmlns:a="http://schemas.openxmlformats.org/drawingml/2006/main" prst="roundRect">
            <a:avLst>
              <a:gd name="adj" fmla="val 4348"/>
            </a:avLst>
          </a:prstGeom>
          <a:solidFill xmlns:a="http://schemas.openxmlformats.org/drawingml/2006/main">
            <a:srgbClr val="F5E7CB"/>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4F85B72-54D7-4422-8514-81C67BF7AB8B}"/>
              </a:ext>
            </a:extLst>
          </p:cNvPr>
          <p:cNvSpPr>
            <a:spLocks xmlns:a="http://schemas.openxmlformats.org/drawingml/2006/main" noGrp="1"/>
          </p:cNvSpPr>
          <p:nvPr/>
        </p:nvSpPr>
        <p:spPr>
          <a:xfrm xmlns:a="http://schemas.openxmlformats.org/drawingml/2006/main">
            <a:off x="3067050" y="23431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196"/>
          </a:bodyPr>
          <a:lstStyle xmlns:a="http://schemas.openxmlformats.org/drawingml/2006/main"/>
          <a:p xmlns:a="http://schemas.openxmlformats.org/drawingml/2006/main">
            <a:pPr>
              <a:defRPr sz="1275" b="1">
                <a:solidFill>
                  <a:srgbClr val="C64235"/>
                </a:solidFill>
                <a:latin typeface="Arial"/>
                <a:ea typeface="Arial"/>
                <a:cs typeface="Arial"/>
              </a:defRPr>
            </a:pPr>
            <a:r>
              <a:rPr sz="1275" b="1">
                <a:solidFill>
                  <a:srgbClr val="C64235"/>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AAE596BD-3A0B-4F36-B07E-1512138F3C89}"/>
              </a:ext>
            </a:extLst>
          </p:cNvPr>
          <p:cNvSpPr>
            <a:spLocks xmlns:a="http://schemas.openxmlformats.org/drawingml/2006/main" noGrp="1"/>
          </p:cNvSpPr>
          <p:nvPr/>
        </p:nvSpPr>
        <p:spPr>
          <a:xfrm xmlns:a="http://schemas.openxmlformats.org/drawingml/2006/main">
            <a:off x="3067050" y="2743200"/>
            <a:ext cx="1390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173B31"/>
                </a:solidFill>
                <a:latin typeface="Arial"/>
                <a:ea typeface="Arial"/>
                <a:cs typeface="Arial"/>
              </a:defRPr>
            </a:pPr>
            <a:r>
              <a:rPr sz="1650" b="1">
                <a:solidFill>
                  <a:srgbClr val="173B31"/>
                </a:solidFill>
                <a:latin typeface="Arial"/>
                <a:ea typeface="Arial"/>
                <a:cs typeface="Arial"/>
              </a:rPr>
              <a:t>Python ETL</a:t>
            </a:r>
          </a:p>
        </p:txBody>
      </p:sp>
      <p:sp>
        <p:nvSpPr>
          <p:cNvPr id="17" name="">
            <a:extLst xmlns:a="http://schemas.openxmlformats.org/drawingml/2006/main">
              <a:ext uri="{FF2B5EF4-FFF2-40B4-BE49-F238E27FC236}">
                <a16:creationId xmlns:a16="http://schemas.microsoft.com/office/drawing/2014/main" id="{A93F42CF-087E-4E5E-989B-8C98C5EB2F98}"/>
              </a:ext>
            </a:extLst>
          </p:cNvPr>
          <p:cNvSpPr>
            <a:spLocks xmlns:a="http://schemas.openxmlformats.org/drawingml/2006/main" noGrp="1"/>
          </p:cNvSpPr>
          <p:nvPr/>
        </p:nvSpPr>
        <p:spPr>
          <a:xfrm xmlns:a="http://schemas.openxmlformats.org/drawingml/2006/main">
            <a:off x="3067050" y="3257550"/>
            <a:ext cx="1390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037"/>
          </a:bodyPr>
          <a:lstStyle xmlns:a="http://schemas.openxmlformats.org/drawingml/2006/main"/>
          <a:p xmlns:a="http://schemas.openxmlformats.org/drawingml/2006/main">
            <a:pPr>
              <a:defRPr sz="1125" b="0">
                <a:solidFill>
                  <a:srgbClr val="1D2B27"/>
                </a:solidFill>
                <a:latin typeface="Arial"/>
                <a:ea typeface="Arial"/>
                <a:cs typeface="Arial"/>
              </a:defRPr>
            </a:pPr>
            <a:r>
              <a:rPr sz="1125" b="0">
                <a:solidFill>
                  <a:srgbClr val="1D2B27"/>
                </a:solidFill>
                <a:latin typeface="Arial"/>
                <a:ea typeface="Arial"/>
                <a:cs typeface="Arial"/>
              </a:rPr>
              <a:t>Validation, exact deduplication and provenance.</a:t>
            </a:r>
          </a:p>
        </p:txBody>
      </p:sp>
      <p:sp>
        <p:nvSpPr>
          <p:cNvPr id="18" name="">
            <a:extLst xmlns:a="http://schemas.openxmlformats.org/drawingml/2006/main">
              <a:ext uri="{FF2B5EF4-FFF2-40B4-BE49-F238E27FC236}">
                <a16:creationId xmlns:a16="http://schemas.microsoft.com/office/drawing/2014/main" id="{EF81F6FA-BCA7-4653-A528-99E09C9D308F}"/>
              </a:ext>
            </a:extLst>
          </p:cNvPr>
          <p:cNvSpPr>
            <a:spLocks xmlns:a="http://schemas.openxmlformats.org/drawingml/2006/main" noGrp="1"/>
          </p:cNvSpPr>
          <p:nvPr/>
        </p:nvSpPr>
        <p:spPr>
          <a:xfrm xmlns:a="http://schemas.openxmlformats.org/drawingml/2006/main">
            <a:off x="5143500" y="2152650"/>
            <a:ext cx="1752600" cy="1885950"/>
          </a:xfrm>
          <a:prstGeom xmlns:a="http://schemas.openxmlformats.org/drawingml/2006/main" prst="roundRect">
            <a:avLst>
              <a:gd name="adj" fmla="val 4348"/>
            </a:avLst>
          </a:prstGeom>
          <a:solidFill xmlns:a="http://schemas.openxmlformats.org/drawingml/2006/main">
            <a:srgbClr val="DDECE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25575E9-3B7C-4A75-B781-20A006492880}"/>
              </a:ext>
            </a:extLst>
          </p:cNvPr>
          <p:cNvSpPr>
            <a:spLocks xmlns:a="http://schemas.openxmlformats.org/drawingml/2006/main" noGrp="1"/>
          </p:cNvSpPr>
          <p:nvPr/>
        </p:nvSpPr>
        <p:spPr>
          <a:xfrm xmlns:a="http://schemas.openxmlformats.org/drawingml/2006/main">
            <a:off x="5334000" y="23431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196"/>
          </a:bodyPr>
          <a:lstStyle xmlns:a="http://schemas.openxmlformats.org/drawingml/2006/main"/>
          <a:p xmlns:a="http://schemas.openxmlformats.org/drawingml/2006/main">
            <a:pPr>
              <a:defRPr sz="1275" b="1">
                <a:solidFill>
                  <a:srgbClr val="C64235"/>
                </a:solidFill>
                <a:latin typeface="Arial"/>
                <a:ea typeface="Arial"/>
                <a:cs typeface="Arial"/>
              </a:defRPr>
            </a:pPr>
            <a:r>
              <a:rPr sz="1275" b="1">
                <a:solidFill>
                  <a:srgbClr val="C64235"/>
                </a:solidFill>
                <a:latin typeface="Arial"/>
                <a:ea typeface="Arial"/>
                <a:cs typeface="Arial"/>
              </a:rPr>
              <a:t>03</a:t>
            </a:r>
          </a:p>
        </p:txBody>
      </p:sp>
      <p:sp>
        <p:nvSpPr>
          <p:cNvPr id="20" name="">
            <a:extLst xmlns:a="http://schemas.openxmlformats.org/drawingml/2006/main">
              <a:ext uri="{FF2B5EF4-FFF2-40B4-BE49-F238E27FC236}">
                <a16:creationId xmlns:a16="http://schemas.microsoft.com/office/drawing/2014/main" id="{65797CBD-B601-4495-9B08-E905DFC724D3}"/>
              </a:ext>
            </a:extLst>
          </p:cNvPr>
          <p:cNvSpPr>
            <a:spLocks xmlns:a="http://schemas.openxmlformats.org/drawingml/2006/main" noGrp="1"/>
          </p:cNvSpPr>
          <p:nvPr/>
        </p:nvSpPr>
        <p:spPr>
          <a:xfrm xmlns:a="http://schemas.openxmlformats.org/drawingml/2006/main">
            <a:off x="5334000" y="2743200"/>
            <a:ext cx="1390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173B31"/>
                </a:solidFill>
                <a:latin typeface="Arial"/>
                <a:ea typeface="Arial"/>
                <a:cs typeface="Arial"/>
              </a:defRPr>
            </a:pPr>
            <a:r>
              <a:rPr sz="1650" b="1">
                <a:solidFill>
                  <a:srgbClr val="173B31"/>
                </a:solidFill>
                <a:latin typeface="Arial"/>
                <a:ea typeface="Arial"/>
                <a:cs typeface="Arial"/>
              </a:rPr>
              <a:t>Supabase</a:t>
            </a:r>
          </a:p>
        </p:txBody>
      </p:sp>
      <p:sp>
        <p:nvSpPr>
          <p:cNvPr id="21" name="">
            <a:extLst xmlns:a="http://schemas.openxmlformats.org/drawingml/2006/main">
              <a:ext uri="{FF2B5EF4-FFF2-40B4-BE49-F238E27FC236}">
                <a16:creationId xmlns:a16="http://schemas.microsoft.com/office/drawing/2014/main" id="{872B0F95-952D-473E-A416-D00C4CF33DDC}"/>
              </a:ext>
            </a:extLst>
          </p:cNvPr>
          <p:cNvSpPr>
            <a:spLocks xmlns:a="http://schemas.openxmlformats.org/drawingml/2006/main" noGrp="1"/>
          </p:cNvSpPr>
          <p:nvPr/>
        </p:nvSpPr>
        <p:spPr>
          <a:xfrm xmlns:a="http://schemas.openxmlformats.org/drawingml/2006/main">
            <a:off x="5334000" y="3257550"/>
            <a:ext cx="1390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037"/>
          </a:bodyPr>
          <a:lstStyle xmlns:a="http://schemas.openxmlformats.org/drawingml/2006/main"/>
          <a:p xmlns:a="http://schemas.openxmlformats.org/drawingml/2006/main">
            <a:pPr>
              <a:defRPr sz="1125" b="0">
                <a:solidFill>
                  <a:srgbClr val="1D2B27"/>
                </a:solidFill>
                <a:latin typeface="Arial"/>
                <a:ea typeface="Arial"/>
                <a:cs typeface="Arial"/>
              </a:defRPr>
            </a:pPr>
            <a:r>
              <a:rPr sz="1125" b="0">
                <a:solidFill>
                  <a:srgbClr val="1D2B27"/>
                </a:solidFill>
                <a:latin typeface="Arial"/>
                <a:ea typeface="Arial"/>
                <a:cs typeface="Arial"/>
              </a:rPr>
              <a:t>Normalized PostgreSQL plus row-level security.</a:t>
            </a:r>
          </a:p>
        </p:txBody>
      </p:sp>
      <p:sp>
        <p:nvSpPr>
          <p:cNvPr id="22" name="">
            <a:extLst xmlns:a="http://schemas.openxmlformats.org/drawingml/2006/main">
              <a:ext uri="{FF2B5EF4-FFF2-40B4-BE49-F238E27FC236}">
                <a16:creationId xmlns:a16="http://schemas.microsoft.com/office/drawing/2014/main" id="{1790F27E-1D18-4B9D-84C4-A7F88CA6D9C7}"/>
              </a:ext>
            </a:extLst>
          </p:cNvPr>
          <p:cNvSpPr>
            <a:spLocks xmlns:a="http://schemas.openxmlformats.org/drawingml/2006/main" noGrp="1"/>
          </p:cNvSpPr>
          <p:nvPr/>
        </p:nvSpPr>
        <p:spPr>
          <a:xfrm xmlns:a="http://schemas.openxmlformats.org/drawingml/2006/main">
            <a:off x="7410450" y="2152650"/>
            <a:ext cx="1752600" cy="1885950"/>
          </a:xfrm>
          <a:prstGeom xmlns:a="http://schemas.openxmlformats.org/drawingml/2006/main" prst="roundRect">
            <a:avLst>
              <a:gd name="adj" fmla="val 4348"/>
            </a:avLst>
          </a:prstGeom>
          <a:solidFill xmlns:a="http://schemas.openxmlformats.org/drawingml/2006/main">
            <a:srgbClr val="DFE9F4"/>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7DFE6EF-F3C0-4D80-BD3F-93871CC48895}"/>
              </a:ext>
            </a:extLst>
          </p:cNvPr>
          <p:cNvSpPr>
            <a:spLocks xmlns:a="http://schemas.openxmlformats.org/drawingml/2006/main" noGrp="1"/>
          </p:cNvSpPr>
          <p:nvPr/>
        </p:nvSpPr>
        <p:spPr>
          <a:xfrm xmlns:a="http://schemas.openxmlformats.org/drawingml/2006/main">
            <a:off x="7600950" y="23431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196"/>
          </a:bodyPr>
          <a:lstStyle xmlns:a="http://schemas.openxmlformats.org/drawingml/2006/main"/>
          <a:p xmlns:a="http://schemas.openxmlformats.org/drawingml/2006/main">
            <a:pPr>
              <a:defRPr sz="1275" b="1">
                <a:solidFill>
                  <a:srgbClr val="C64235"/>
                </a:solidFill>
                <a:latin typeface="Arial"/>
                <a:ea typeface="Arial"/>
                <a:cs typeface="Arial"/>
              </a:defRPr>
            </a:pPr>
            <a:r>
              <a:rPr sz="1275" b="1">
                <a:solidFill>
                  <a:srgbClr val="C64235"/>
                </a:solidFill>
                <a:latin typeface="Arial"/>
                <a:ea typeface="Arial"/>
                <a:cs typeface="Arial"/>
              </a:rPr>
              <a:t>04</a:t>
            </a:r>
          </a:p>
        </p:txBody>
      </p:sp>
      <p:sp>
        <p:nvSpPr>
          <p:cNvPr id="24" name="">
            <a:extLst xmlns:a="http://schemas.openxmlformats.org/drawingml/2006/main">
              <a:ext uri="{FF2B5EF4-FFF2-40B4-BE49-F238E27FC236}">
                <a16:creationId xmlns:a16="http://schemas.microsoft.com/office/drawing/2014/main" id="{F64D4804-C670-4E33-BC39-631CFFE08AF1}"/>
              </a:ext>
            </a:extLst>
          </p:cNvPr>
          <p:cNvSpPr>
            <a:spLocks xmlns:a="http://schemas.openxmlformats.org/drawingml/2006/main" noGrp="1"/>
          </p:cNvSpPr>
          <p:nvPr/>
        </p:nvSpPr>
        <p:spPr>
          <a:xfrm xmlns:a="http://schemas.openxmlformats.org/drawingml/2006/main">
            <a:off x="7600950" y="2743200"/>
            <a:ext cx="1390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1">
                <a:solidFill>
                  <a:srgbClr val="173B31"/>
                </a:solidFill>
                <a:latin typeface="Arial"/>
                <a:ea typeface="Arial"/>
                <a:cs typeface="Arial"/>
              </a:defRPr>
            </a:pPr>
            <a:r>
              <a:rPr sz="1650" b="1">
                <a:solidFill>
                  <a:srgbClr val="173B31"/>
                </a:solidFill>
                <a:latin typeface="Arial"/>
                <a:ea typeface="Arial"/>
                <a:cs typeface="Arial"/>
              </a:rPr>
              <a:t>SQL + ML</a:t>
            </a:r>
          </a:p>
        </p:txBody>
      </p:sp>
      <p:sp>
        <p:nvSpPr>
          <p:cNvPr id="25" name="">
            <a:extLst xmlns:a="http://schemas.openxmlformats.org/drawingml/2006/main">
              <a:ext uri="{FF2B5EF4-FFF2-40B4-BE49-F238E27FC236}">
                <a16:creationId xmlns:a16="http://schemas.microsoft.com/office/drawing/2014/main" id="{EB04A974-565E-49D3-8CD2-88E7A8CA86C3}"/>
              </a:ext>
            </a:extLst>
          </p:cNvPr>
          <p:cNvSpPr>
            <a:spLocks xmlns:a="http://schemas.openxmlformats.org/drawingml/2006/main" noGrp="1"/>
          </p:cNvSpPr>
          <p:nvPr/>
        </p:nvSpPr>
        <p:spPr>
          <a:xfrm xmlns:a="http://schemas.openxmlformats.org/drawingml/2006/main">
            <a:off x="7600950" y="3257550"/>
            <a:ext cx="1390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037"/>
          </a:bodyPr>
          <a:lstStyle xmlns:a="http://schemas.openxmlformats.org/drawingml/2006/main"/>
          <a:p xmlns:a="http://schemas.openxmlformats.org/drawingml/2006/main">
            <a:pPr>
              <a:defRPr sz="1125" b="0">
                <a:solidFill>
                  <a:srgbClr val="1D2B27"/>
                </a:solidFill>
                <a:latin typeface="Arial"/>
                <a:ea typeface="Arial"/>
                <a:cs typeface="Arial"/>
              </a:defRPr>
            </a:pPr>
            <a:r>
              <a:rPr sz="1125" b="0">
                <a:solidFill>
                  <a:srgbClr val="1D2B27"/>
                </a:solidFill>
                <a:latin typeface="Arial"/>
                <a:ea typeface="Arial"/>
                <a:cs typeface="Arial"/>
              </a:rPr>
              <a:t>Views, feature store, grouped evaluation.</a:t>
            </a:r>
          </a:p>
        </p:txBody>
      </p:sp>
      <p:sp>
        <p:nvSpPr>
          <p:cNvPr id="26" name="">
            <a:extLst xmlns:a="http://schemas.openxmlformats.org/drawingml/2006/main">
              <a:ext uri="{FF2B5EF4-FFF2-40B4-BE49-F238E27FC236}">
                <a16:creationId xmlns:a16="http://schemas.microsoft.com/office/drawing/2014/main" id="{AA5553B4-FD8B-419C-9737-9E245E3AEF59}"/>
              </a:ext>
            </a:extLst>
          </p:cNvPr>
          <p:cNvSpPr>
            <a:spLocks xmlns:a="http://schemas.openxmlformats.org/drawingml/2006/main" noGrp="1"/>
          </p:cNvSpPr>
          <p:nvPr/>
        </p:nvSpPr>
        <p:spPr>
          <a:xfrm xmlns:a="http://schemas.openxmlformats.org/drawingml/2006/main">
            <a:off x="9677400" y="2152650"/>
            <a:ext cx="1752600" cy="1885950"/>
          </a:xfrm>
          <a:prstGeom xmlns:a="http://schemas.openxmlformats.org/drawingml/2006/main" prst="roundRect">
            <a:avLst>
              <a:gd name="adj" fmla="val 4348"/>
            </a:avLst>
          </a:prstGeom>
          <a:solidFill xmlns:a="http://schemas.openxmlformats.org/drawingml/2006/main">
            <a:srgbClr val="EFE4F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6185954-580C-4F75-B0E7-EE99EA9F6FAC}"/>
              </a:ext>
            </a:extLst>
          </p:cNvPr>
          <p:cNvSpPr>
            <a:spLocks xmlns:a="http://schemas.openxmlformats.org/drawingml/2006/main" noGrp="1"/>
          </p:cNvSpPr>
          <p:nvPr/>
        </p:nvSpPr>
        <p:spPr>
          <a:xfrm xmlns:a="http://schemas.openxmlformats.org/drawingml/2006/main">
            <a:off x="9867900" y="23431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196"/>
          </a:bodyPr>
          <a:lstStyle xmlns:a="http://schemas.openxmlformats.org/drawingml/2006/main"/>
          <a:p xmlns:a="http://schemas.openxmlformats.org/drawingml/2006/main">
            <a:pPr>
              <a:defRPr sz="1275" b="1">
                <a:solidFill>
                  <a:srgbClr val="C64235"/>
                </a:solidFill>
                <a:latin typeface="Arial"/>
                <a:ea typeface="Arial"/>
                <a:cs typeface="Arial"/>
              </a:defRPr>
            </a:pPr>
            <a:r>
              <a:rPr sz="1275" b="1">
                <a:solidFill>
                  <a:srgbClr val="C64235"/>
                </a:solidFill>
                <a:latin typeface="Arial"/>
                <a:ea typeface="Arial"/>
                <a:cs typeface="Arial"/>
              </a:rPr>
              <a:t>05</a:t>
            </a:r>
          </a:p>
        </p:txBody>
      </p:sp>
      <p:sp>
        <p:nvSpPr>
          <p:cNvPr id="28" name="">
            <a:extLst xmlns:a="http://schemas.openxmlformats.org/drawingml/2006/main">
              <a:ext uri="{FF2B5EF4-FFF2-40B4-BE49-F238E27FC236}">
                <a16:creationId xmlns:a16="http://schemas.microsoft.com/office/drawing/2014/main" id="{908C73A1-3385-45E8-93B2-C6A024AEAE86}"/>
              </a:ext>
            </a:extLst>
          </p:cNvPr>
          <p:cNvSpPr>
            <a:spLocks xmlns:a="http://schemas.openxmlformats.org/drawingml/2006/main" noGrp="1"/>
          </p:cNvSpPr>
          <p:nvPr/>
        </p:nvSpPr>
        <p:spPr>
          <a:xfrm xmlns:a="http://schemas.openxmlformats.org/drawingml/2006/main">
            <a:off x="9867900" y="2743200"/>
            <a:ext cx="1390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02"/>
          </a:bodyPr>
          <a:lstStyle xmlns:a="http://schemas.openxmlformats.org/drawingml/2006/main"/>
          <a:p xmlns:a="http://schemas.openxmlformats.org/drawingml/2006/main">
            <a:pPr>
              <a:defRPr sz="1650" b="1">
                <a:solidFill>
                  <a:srgbClr val="173B31"/>
                </a:solidFill>
                <a:latin typeface="Arial"/>
                <a:ea typeface="Arial"/>
                <a:cs typeface="Arial"/>
              </a:defRPr>
            </a:pPr>
            <a:r>
              <a:rPr sz="1650" b="1">
                <a:solidFill>
                  <a:srgbClr val="173B31"/>
                </a:solidFill>
                <a:latin typeface="Arial"/>
                <a:ea typeface="Arial"/>
                <a:cs typeface="Arial"/>
              </a:rPr>
              <a:t>Cloudflare UI</a:t>
            </a:r>
          </a:p>
        </p:txBody>
      </p:sp>
      <p:sp>
        <p:nvSpPr>
          <p:cNvPr id="29" name="">
            <a:extLst xmlns:a="http://schemas.openxmlformats.org/drawingml/2006/main">
              <a:ext uri="{FF2B5EF4-FFF2-40B4-BE49-F238E27FC236}">
                <a16:creationId xmlns:a16="http://schemas.microsoft.com/office/drawing/2014/main" id="{18B7CF75-5793-4ACA-BD3D-17401DA1CAAD}"/>
              </a:ext>
            </a:extLst>
          </p:cNvPr>
          <p:cNvSpPr>
            <a:spLocks xmlns:a="http://schemas.openxmlformats.org/drawingml/2006/main" noGrp="1"/>
          </p:cNvSpPr>
          <p:nvPr/>
        </p:nvSpPr>
        <p:spPr>
          <a:xfrm xmlns:a="http://schemas.openxmlformats.org/drawingml/2006/main">
            <a:off x="9867900" y="3257550"/>
            <a:ext cx="1390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983"/>
          </a:bodyPr>
          <a:lstStyle xmlns:a="http://schemas.openxmlformats.org/drawingml/2006/main"/>
          <a:p xmlns:a="http://schemas.openxmlformats.org/drawingml/2006/main">
            <a:pPr>
              <a:defRPr sz="1125" b="0">
                <a:solidFill>
                  <a:srgbClr val="1D2B27"/>
                </a:solidFill>
                <a:latin typeface="Arial"/>
                <a:ea typeface="Arial"/>
                <a:cs typeface="Arial"/>
              </a:defRPr>
            </a:pPr>
            <a:r>
              <a:rPr sz="1125" b="0">
                <a:solidFill>
                  <a:srgbClr val="1D2B27"/>
                </a:solidFill>
                <a:latin typeface="Arial"/>
                <a:ea typeface="Arial"/>
                <a:cs typeface="Arial"/>
              </a:rPr>
              <a:t>Read-only research pages and moderated forms.</a:t>
            </a:r>
          </a:p>
        </p:txBody>
      </p:sp>
      <p:sp>
        <p:nvSpPr>
          <p:cNvPr id="30" name="">
            <a:extLst xmlns:a="http://schemas.openxmlformats.org/drawingml/2006/main">
              <a:ext uri="{FF2B5EF4-FFF2-40B4-BE49-F238E27FC236}">
                <a16:creationId xmlns:a16="http://schemas.microsoft.com/office/drawing/2014/main" id="{BC00021C-8766-4DAC-A150-DF89D0ACD67E}"/>
              </a:ext>
            </a:extLst>
          </p:cNvPr>
          <p:cNvSpPr>
            <a:spLocks xmlns:a="http://schemas.openxmlformats.org/drawingml/2006/main" noGrp="1"/>
          </p:cNvSpPr>
          <p:nvPr/>
        </p:nvSpPr>
        <p:spPr>
          <a:xfrm xmlns:a="http://schemas.openxmlformats.org/drawingml/2006/main">
            <a:off x="819150" y="440055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C64235"/>
                </a:solidFill>
                <a:latin typeface="Arial"/>
                <a:ea typeface="Arial"/>
                <a:cs typeface="Arial"/>
              </a:defRPr>
            </a:pPr>
            <a:r>
              <a:rPr sz="1050" b="1">
                <a:solidFill>
                  <a:srgbClr val="C64235"/>
                </a:solidFill>
                <a:latin typeface="Arial"/>
                <a:ea typeface="Arial"/>
                <a:cs typeface="Arial"/>
              </a:rPr>
              <a:t>IMMUTABLE</a:t>
            </a:r>
          </a:p>
        </p:txBody>
      </p:sp>
      <p:sp>
        <p:nvSpPr>
          <p:cNvPr id="31" name="">
            <a:extLst xmlns:a="http://schemas.openxmlformats.org/drawingml/2006/main">
              <a:ext uri="{FF2B5EF4-FFF2-40B4-BE49-F238E27FC236}">
                <a16:creationId xmlns:a16="http://schemas.microsoft.com/office/drawing/2014/main" id="{12B0EFAB-79DD-4DA8-99F6-2BCA1798038A}"/>
              </a:ext>
            </a:extLst>
          </p:cNvPr>
          <p:cNvSpPr>
            <a:spLocks xmlns:a="http://schemas.openxmlformats.org/drawingml/2006/main" noGrp="1"/>
          </p:cNvSpPr>
          <p:nvPr/>
        </p:nvSpPr>
        <p:spPr>
          <a:xfrm xmlns:a="http://schemas.openxmlformats.org/drawingml/2006/main">
            <a:off x="3086100" y="4400550"/>
            <a:ext cx="1428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D89029"/>
                </a:solidFill>
                <a:latin typeface="Arial"/>
                <a:ea typeface="Arial"/>
                <a:cs typeface="Arial"/>
              </a:defRPr>
            </a:pPr>
            <a:r>
              <a:rPr sz="1050" b="1">
                <a:solidFill>
                  <a:srgbClr val="D89029"/>
                </a:solidFill>
                <a:latin typeface="Arial"/>
                <a:ea typeface="Arial"/>
                <a:cs typeface="Arial"/>
              </a:rPr>
              <a:t>REPRODUCIBLE</a:t>
            </a:r>
          </a:p>
        </p:txBody>
      </p:sp>
      <p:sp>
        <p:nvSpPr>
          <p:cNvPr id="32" name="">
            <a:extLst xmlns:a="http://schemas.openxmlformats.org/drawingml/2006/main">
              <a:ext uri="{FF2B5EF4-FFF2-40B4-BE49-F238E27FC236}">
                <a16:creationId xmlns:a16="http://schemas.microsoft.com/office/drawing/2014/main" id="{695E75BB-8CDE-481F-9AEF-788C7CC6DB16}"/>
              </a:ext>
            </a:extLst>
          </p:cNvPr>
          <p:cNvSpPr>
            <a:spLocks xmlns:a="http://schemas.openxmlformats.org/drawingml/2006/main" noGrp="1"/>
          </p:cNvSpPr>
          <p:nvPr/>
        </p:nvSpPr>
        <p:spPr>
          <a:xfrm xmlns:a="http://schemas.openxmlformats.org/drawingml/2006/main">
            <a:off x="5353050" y="440055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2D7A62"/>
                </a:solidFill>
                <a:latin typeface="Arial"/>
                <a:ea typeface="Arial"/>
                <a:cs typeface="Arial"/>
              </a:defRPr>
            </a:pPr>
            <a:r>
              <a:rPr sz="1050" b="1">
                <a:solidFill>
                  <a:srgbClr val="2D7A62"/>
                </a:solidFill>
                <a:latin typeface="Arial"/>
                <a:ea typeface="Arial"/>
                <a:cs typeface="Arial"/>
              </a:rPr>
              <a:t>CONTROLLED</a:t>
            </a:r>
          </a:p>
        </p:txBody>
      </p:sp>
      <p:sp>
        <p:nvSpPr>
          <p:cNvPr id="33" name="">
            <a:extLst xmlns:a="http://schemas.openxmlformats.org/drawingml/2006/main">
              <a:ext uri="{FF2B5EF4-FFF2-40B4-BE49-F238E27FC236}">
                <a16:creationId xmlns:a16="http://schemas.microsoft.com/office/drawing/2014/main" id="{86F8C33F-7B3A-483E-BCE7-C0E7B7789DB8}"/>
              </a:ext>
            </a:extLst>
          </p:cNvPr>
          <p:cNvSpPr>
            <a:spLocks xmlns:a="http://schemas.openxmlformats.org/drawingml/2006/main" noGrp="1"/>
          </p:cNvSpPr>
          <p:nvPr/>
        </p:nvSpPr>
        <p:spPr>
          <a:xfrm xmlns:a="http://schemas.openxmlformats.org/drawingml/2006/main">
            <a:off x="7620000" y="440055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4E79A7"/>
                </a:solidFill>
                <a:latin typeface="Arial"/>
                <a:ea typeface="Arial"/>
                <a:cs typeface="Arial"/>
              </a:defRPr>
            </a:pPr>
            <a:r>
              <a:rPr sz="1050" b="1">
                <a:solidFill>
                  <a:srgbClr val="4E79A7"/>
                </a:solidFill>
                <a:latin typeface="Arial"/>
                <a:ea typeface="Arial"/>
                <a:cs typeface="Arial"/>
              </a:rPr>
              <a:t>EVALUATED</a:t>
            </a:r>
          </a:p>
        </p:txBody>
      </p:sp>
      <p:sp>
        <p:nvSpPr>
          <p:cNvPr id="34" name="">
            <a:extLst xmlns:a="http://schemas.openxmlformats.org/drawingml/2006/main">
              <a:ext uri="{FF2B5EF4-FFF2-40B4-BE49-F238E27FC236}">
                <a16:creationId xmlns:a16="http://schemas.microsoft.com/office/drawing/2014/main" id="{8681FE76-EBD0-4DC0-BCC8-5009432D899C}"/>
              </a:ext>
            </a:extLst>
          </p:cNvPr>
          <p:cNvSpPr>
            <a:spLocks xmlns:a="http://schemas.openxmlformats.org/drawingml/2006/main" noGrp="1"/>
          </p:cNvSpPr>
          <p:nvPr/>
        </p:nvSpPr>
        <p:spPr>
          <a:xfrm xmlns:a="http://schemas.openxmlformats.org/drawingml/2006/main">
            <a:off x="9886950" y="4400550"/>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714"/>
          </a:bodyPr>
          <a:lstStyle xmlns:a="http://schemas.openxmlformats.org/drawingml/2006/main"/>
          <a:p xmlns:a="http://schemas.openxmlformats.org/drawingml/2006/main">
            <a:pPr>
              <a:defRPr sz="1050" b="1">
                <a:solidFill>
                  <a:srgbClr val="C64235"/>
                </a:solidFill>
                <a:latin typeface="Arial"/>
                <a:ea typeface="Arial"/>
                <a:cs typeface="Arial"/>
              </a:defRPr>
            </a:pPr>
            <a:r>
              <a:rPr sz="1050" b="1">
                <a:solidFill>
                  <a:srgbClr val="C64235"/>
                </a:solidFill>
                <a:latin typeface="Arial"/>
                <a:ea typeface="Arial"/>
                <a:cs typeface="Arial"/>
              </a:rPr>
              <a:t>EXPLAINED</a:t>
            </a:r>
          </a:p>
        </p:txBody>
      </p:sp>
      <p:sp>
        <p:nvSpPr>
          <p:cNvPr id="35" name="">
            <a:extLst xmlns:a="http://schemas.openxmlformats.org/drawingml/2006/main">
              <a:ext uri="{FF2B5EF4-FFF2-40B4-BE49-F238E27FC236}">
                <a16:creationId xmlns:a16="http://schemas.microsoft.com/office/drawing/2014/main" id="{2EC70B41-F741-4FE9-B796-E1E6BB1F7307}"/>
              </a:ext>
            </a:extLst>
          </p:cNvPr>
          <p:cNvSpPr>
            <a:spLocks xmlns:a="http://schemas.openxmlformats.org/drawingml/2006/main" noGrp="1"/>
          </p:cNvSpPr>
          <p:nvPr/>
        </p:nvSpPr>
        <p:spPr>
          <a:xfrm xmlns:a="http://schemas.openxmlformats.org/drawingml/2006/main">
            <a:off x="609600" y="5095875"/>
            <a:ext cx="10820400" cy="742950"/>
          </a:xfrm>
          <a:prstGeom xmlns:a="http://schemas.openxmlformats.org/drawingml/2006/main" prst="roundRect">
            <a:avLst>
              <a:gd name="adj" fmla="val 10256"/>
            </a:avLst>
          </a:prstGeom>
          <a:solidFill xmlns:a="http://schemas.openxmlformats.org/drawingml/2006/main">
            <a:srgbClr val="173B31"/>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DC99D62-F898-4BE2-9FA7-49291D539A53}"/>
              </a:ext>
            </a:extLst>
          </p:cNvPr>
          <p:cNvSpPr>
            <a:spLocks xmlns:a="http://schemas.openxmlformats.org/drawingml/2006/main" noGrp="1"/>
          </p:cNvSpPr>
          <p:nvPr/>
        </p:nvSpPr>
        <p:spPr>
          <a:xfrm xmlns:a="http://schemas.openxmlformats.org/drawingml/2006/main">
            <a:off x="895350" y="5295900"/>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611"/>
          </a:bodyPr>
          <a:lstStyle xmlns:a="http://schemas.openxmlformats.org/drawingml/2006/main"/>
          <a:p xmlns:a="http://schemas.openxmlformats.org/drawingml/2006/main">
            <a:pPr>
              <a:defRPr sz="1800" b="1">
                <a:solidFill>
                  <a:srgbClr val="FFFFFF"/>
                </a:solidFill>
                <a:latin typeface="Arial"/>
                <a:ea typeface="Arial"/>
                <a:cs typeface="Arial"/>
              </a:defRPr>
            </a:pPr>
            <a:r>
              <a:rPr sz="1800" b="1">
                <a:solidFill>
                  <a:srgbClr val="FFFFFF"/>
                </a:solidFill>
                <a:latin typeface="Arial"/>
                <a:ea typeface="Arial"/>
                <a:cs typeface="Arial"/>
              </a:rPr>
              <a:t>Historical KPIs and model results never mix with user-submitted venues.</a:t>
            </a:r>
          </a:p>
        </p:txBody>
      </p:sp>
    </p:spTree>
    <p:extLst>
      <p:ext uri="{BB962C8B-B14F-4D97-AF65-F5344CB8AC3E}">
        <p14:creationId xmlns:p14="http://schemas.microsoft.com/office/powerpoint/2010/main" val="1896710300"/>
      </p:ext>
    </p:extLst>
  </p:cSld>
</p:sld>
</file>

<file path=ppt/slides/slide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7D4592C0-2454-4393-B70E-F95196DE4D3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D7A6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47B766-E78A-4D7A-9E7E-55786FA0F5DA}"/>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DATABASE</a:t>
            </a:r>
          </a:p>
        </p:txBody>
      </p:sp>
      <p:sp>
        <p:nvSpPr>
          <p:cNvPr id="3" name="">
            <a:extLst xmlns:a="http://schemas.openxmlformats.org/drawingml/2006/main">
              <a:ext uri="{FF2B5EF4-FFF2-40B4-BE49-F238E27FC236}">
                <a16:creationId xmlns:a16="http://schemas.microsoft.com/office/drawing/2014/main" id="{3F2E3A4F-5A09-4649-A017-0A955AF83F75}"/>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The normalized model separates identity, ratings and activities.</a:t>
            </a:r>
          </a:p>
        </p:txBody>
      </p:sp>
      <p:sp>
        <p:nvSpPr>
          <p:cNvPr id="4" name="">
            <a:extLst xmlns:a="http://schemas.openxmlformats.org/drawingml/2006/main">
              <a:ext uri="{FF2B5EF4-FFF2-40B4-BE49-F238E27FC236}">
                <a16:creationId xmlns:a16="http://schemas.microsoft.com/office/drawing/2014/main" id="{399F220A-70FD-4265-B6D8-F4CD35A7209B}"/>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This avoids repeated arrays and lets SQL join only the facts needed for a question.</a:t>
            </a:r>
          </a:p>
        </p:txBody>
      </p:sp>
      <p:sp>
        <p:nvSpPr>
          <p:cNvPr id="5" name="">
            <a:extLst xmlns:a="http://schemas.openxmlformats.org/drawingml/2006/main">
              <a:ext uri="{FF2B5EF4-FFF2-40B4-BE49-F238E27FC236}">
                <a16:creationId xmlns:a16="http://schemas.microsoft.com/office/drawing/2014/main" id="{2E87DD71-43AC-4281-BEB6-37A21B7343A9}"/>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9249A258-BCF5-4C49-BE25-1A52F33C1577}"/>
              </a:ext>
            </a:extLst>
          </p:cNvPr>
          <p:cNvSpPr>
            <a:spLocks xmlns:a="http://schemas.openxmlformats.org/drawingml/2006/main" noGrp="1"/>
          </p:cNvSpPr>
          <p:nvPr/>
        </p:nvSpPr>
        <p:spPr>
          <a:xfrm xmlns:a="http://schemas.openxmlformats.org/drawingml/2006/main">
            <a:off x="3238500" y="2647950"/>
            <a:ext cx="1143000" cy="5715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C0F45E2-C8CF-47A6-9176-43E8A09F8442}"/>
              </a:ext>
            </a:extLst>
          </p:cNvPr>
          <p:cNvSpPr>
            <a:spLocks xmlns:a="http://schemas.openxmlformats.org/drawingml/2006/main" noGrp="1"/>
          </p:cNvSpPr>
          <p:nvPr/>
        </p:nvSpPr>
        <p:spPr>
          <a:xfrm xmlns:a="http://schemas.openxmlformats.org/drawingml/2006/main">
            <a:off x="3238500" y="3714750"/>
            <a:ext cx="1143000" cy="5715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C81685-F16B-45A2-8A18-9F8216129C7D}"/>
              </a:ext>
            </a:extLst>
          </p:cNvPr>
          <p:cNvSpPr>
            <a:spLocks xmlns:a="http://schemas.openxmlformats.org/drawingml/2006/main" noGrp="1"/>
          </p:cNvSpPr>
          <p:nvPr/>
        </p:nvSpPr>
        <p:spPr>
          <a:xfrm xmlns:a="http://schemas.openxmlformats.org/drawingml/2006/main">
            <a:off x="7029450" y="2647950"/>
            <a:ext cx="1238250" cy="5715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D1D77C-DB6F-4575-AC5B-16F9F7E8BE33}"/>
              </a:ext>
            </a:extLst>
          </p:cNvPr>
          <p:cNvSpPr>
            <a:spLocks xmlns:a="http://schemas.openxmlformats.org/drawingml/2006/main" noGrp="1"/>
          </p:cNvSpPr>
          <p:nvPr/>
        </p:nvSpPr>
        <p:spPr>
          <a:xfrm xmlns:a="http://schemas.openxmlformats.org/drawingml/2006/main">
            <a:off x="7029450" y="3714750"/>
            <a:ext cx="1238250" cy="5715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AD11D7D-F477-4C47-A248-77562F50DCB9}"/>
              </a:ext>
            </a:extLst>
          </p:cNvPr>
          <p:cNvSpPr>
            <a:spLocks xmlns:a="http://schemas.openxmlformats.org/drawingml/2006/main" noGrp="1"/>
          </p:cNvSpPr>
          <p:nvPr/>
        </p:nvSpPr>
        <p:spPr>
          <a:xfrm xmlns:a="http://schemas.openxmlformats.org/drawingml/2006/main">
            <a:off x="5667375" y="4210050"/>
            <a:ext cx="57150" cy="85725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473CE42-3C37-4E45-8A40-D3BC0305078E}"/>
              </a:ext>
            </a:extLst>
          </p:cNvPr>
          <p:cNvSpPr>
            <a:spLocks xmlns:a="http://schemas.openxmlformats.org/drawingml/2006/main" noGrp="1"/>
          </p:cNvSpPr>
          <p:nvPr/>
        </p:nvSpPr>
        <p:spPr>
          <a:xfrm xmlns:a="http://schemas.openxmlformats.org/drawingml/2006/main">
            <a:off x="5667375" y="5029200"/>
            <a:ext cx="2971800" cy="5715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1B004C3-09C4-41C9-8EFB-BD1A1F98970B}"/>
              </a:ext>
            </a:extLst>
          </p:cNvPr>
          <p:cNvSpPr>
            <a:spLocks xmlns:a="http://schemas.openxmlformats.org/drawingml/2006/main" noGrp="1"/>
          </p:cNvSpPr>
          <p:nvPr/>
        </p:nvSpPr>
        <p:spPr>
          <a:xfrm xmlns:a="http://schemas.openxmlformats.org/drawingml/2006/main">
            <a:off x="4381500" y="2247900"/>
            <a:ext cx="2647950" cy="1028700"/>
          </a:xfrm>
          <a:prstGeom xmlns:a="http://schemas.openxmlformats.org/drawingml/2006/main" prst="roundRect">
            <a:avLst>
              <a:gd name="adj" fmla="val 7407"/>
            </a:avLst>
          </a:prstGeom>
          <a:solidFill xmlns:a="http://schemas.openxmlformats.org/drawingml/2006/main">
            <a:srgbClr val="DDECE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4D1441D-9655-48F4-9EEF-75B1D9B16063}"/>
              </a:ext>
            </a:extLst>
          </p:cNvPr>
          <p:cNvSpPr>
            <a:spLocks xmlns:a="http://schemas.openxmlformats.org/drawingml/2006/main" noGrp="1"/>
          </p:cNvSpPr>
          <p:nvPr/>
        </p:nvSpPr>
        <p:spPr>
          <a:xfrm xmlns:a="http://schemas.openxmlformats.org/drawingml/2006/main">
            <a:off x="4552950" y="2381250"/>
            <a:ext cx="230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173B31"/>
                </a:solidFill>
                <a:latin typeface="Arial"/>
                <a:ea typeface="Arial"/>
                <a:cs typeface="Arial"/>
              </a:defRPr>
            </a:pPr>
            <a:r>
              <a:rPr sz="1425" b="1">
                <a:solidFill>
                  <a:srgbClr val="173B31"/>
                </a:solidFill>
                <a:latin typeface="Arial"/>
                <a:ea typeface="Arial"/>
                <a:cs typeface="Arial"/>
              </a:rPr>
              <a:t>venues</a:t>
            </a:r>
          </a:p>
        </p:txBody>
      </p:sp>
      <p:sp>
        <p:nvSpPr>
          <p:cNvPr id="14" name="">
            <a:extLst xmlns:a="http://schemas.openxmlformats.org/drawingml/2006/main">
              <a:ext uri="{FF2B5EF4-FFF2-40B4-BE49-F238E27FC236}">
                <a16:creationId xmlns:a16="http://schemas.microsoft.com/office/drawing/2014/main" id="{38798195-BE75-4875-AD80-243577731620}"/>
              </a:ext>
            </a:extLst>
          </p:cNvPr>
          <p:cNvSpPr>
            <a:spLocks xmlns:a="http://schemas.openxmlformats.org/drawingml/2006/main" noGrp="1"/>
          </p:cNvSpPr>
          <p:nvPr/>
        </p:nvSpPr>
        <p:spPr>
          <a:xfrm xmlns:a="http://schemas.openxmlformats.org/drawingml/2006/main">
            <a:off x="4552950" y="2724150"/>
            <a:ext cx="23050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PK venue_id  •  FK region</a:t>
            </a:r>
          </a:p>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name  •  coordinates  •  provenance</a:t>
            </a:r>
          </a:p>
        </p:txBody>
      </p:sp>
      <p:sp>
        <p:nvSpPr>
          <p:cNvPr id="15" name="">
            <a:extLst xmlns:a="http://schemas.openxmlformats.org/drawingml/2006/main">
              <a:ext uri="{FF2B5EF4-FFF2-40B4-BE49-F238E27FC236}">
                <a16:creationId xmlns:a16="http://schemas.microsoft.com/office/drawing/2014/main" id="{B721C968-57FA-4724-90E9-3CDE07C461D2}"/>
              </a:ext>
            </a:extLst>
          </p:cNvPr>
          <p:cNvSpPr>
            <a:spLocks xmlns:a="http://schemas.openxmlformats.org/drawingml/2006/main" noGrp="1"/>
          </p:cNvSpPr>
          <p:nvPr/>
        </p:nvSpPr>
        <p:spPr>
          <a:xfrm xmlns:a="http://schemas.openxmlformats.org/drawingml/2006/main">
            <a:off x="876300" y="2247900"/>
            <a:ext cx="2362200" cy="1028700"/>
          </a:xfrm>
          <a:prstGeom xmlns:a="http://schemas.openxmlformats.org/drawingml/2006/main" prst="roundRect">
            <a:avLst>
              <a:gd name="adj" fmla="val 7407"/>
            </a:avLst>
          </a:prstGeom>
          <a:solidFill xmlns:a="http://schemas.openxmlformats.org/drawingml/2006/main">
            <a:srgbClr val="F5E7C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4DDD86E-CC49-4ACD-9631-EA754F5A87C9}"/>
              </a:ext>
            </a:extLst>
          </p:cNvPr>
          <p:cNvSpPr>
            <a:spLocks xmlns:a="http://schemas.openxmlformats.org/drawingml/2006/main" noGrp="1"/>
          </p:cNvSpPr>
          <p:nvPr/>
        </p:nvSpPr>
        <p:spPr>
          <a:xfrm xmlns:a="http://schemas.openxmlformats.org/drawingml/2006/main">
            <a:off x="1047750" y="2381250"/>
            <a:ext cx="2019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173B31"/>
                </a:solidFill>
                <a:latin typeface="Arial"/>
                <a:ea typeface="Arial"/>
                <a:cs typeface="Arial"/>
              </a:defRPr>
            </a:pPr>
            <a:r>
              <a:rPr sz="1425" b="1">
                <a:solidFill>
                  <a:srgbClr val="173B31"/>
                </a:solidFill>
                <a:latin typeface="Arial"/>
                <a:ea typeface="Arial"/>
                <a:cs typeface="Arial"/>
              </a:rPr>
              <a:t>source_regions</a:t>
            </a:r>
          </a:p>
        </p:txBody>
      </p:sp>
      <p:sp>
        <p:nvSpPr>
          <p:cNvPr id="17" name="">
            <a:extLst xmlns:a="http://schemas.openxmlformats.org/drawingml/2006/main">
              <a:ext uri="{FF2B5EF4-FFF2-40B4-BE49-F238E27FC236}">
                <a16:creationId xmlns:a16="http://schemas.microsoft.com/office/drawing/2014/main" id="{C3810006-ACDD-44B5-BE01-C96FE58262CF}"/>
              </a:ext>
            </a:extLst>
          </p:cNvPr>
          <p:cNvSpPr>
            <a:spLocks xmlns:a="http://schemas.openxmlformats.org/drawingml/2006/main" noGrp="1"/>
          </p:cNvSpPr>
          <p:nvPr/>
        </p:nvSpPr>
        <p:spPr>
          <a:xfrm xmlns:a="http://schemas.openxmlformats.org/drawingml/2006/main">
            <a:off x="1047750" y="2724150"/>
            <a:ext cx="201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PK region</a:t>
            </a:r>
          </a:p>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display_name</a:t>
            </a:r>
          </a:p>
        </p:txBody>
      </p:sp>
      <p:sp>
        <p:nvSpPr>
          <p:cNvPr id="18" name="">
            <a:extLst xmlns:a="http://schemas.openxmlformats.org/drawingml/2006/main">
              <a:ext uri="{FF2B5EF4-FFF2-40B4-BE49-F238E27FC236}">
                <a16:creationId xmlns:a16="http://schemas.microsoft.com/office/drawing/2014/main" id="{4159AECA-1841-45A0-AF9A-EBDF5E738C6B}"/>
              </a:ext>
            </a:extLst>
          </p:cNvPr>
          <p:cNvSpPr>
            <a:spLocks xmlns:a="http://schemas.openxmlformats.org/drawingml/2006/main" noGrp="1"/>
          </p:cNvSpPr>
          <p:nvPr/>
        </p:nvSpPr>
        <p:spPr>
          <a:xfrm xmlns:a="http://schemas.openxmlformats.org/drawingml/2006/main">
            <a:off x="876300" y="3314700"/>
            <a:ext cx="2362200" cy="1028700"/>
          </a:xfrm>
          <a:prstGeom xmlns:a="http://schemas.openxmlformats.org/drawingml/2006/main" prst="roundRect">
            <a:avLst>
              <a:gd name="adj" fmla="val 7407"/>
            </a:avLst>
          </a:prstGeom>
          <a:solidFill xmlns:a="http://schemas.openxmlformats.org/drawingml/2006/main">
            <a:srgbClr val="F1D8D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72128514-C2EB-4130-80B1-42CD6C900900}"/>
              </a:ext>
            </a:extLst>
          </p:cNvPr>
          <p:cNvSpPr>
            <a:spLocks xmlns:a="http://schemas.openxmlformats.org/drawingml/2006/main" noGrp="1"/>
          </p:cNvSpPr>
          <p:nvPr/>
        </p:nvSpPr>
        <p:spPr>
          <a:xfrm xmlns:a="http://schemas.openxmlformats.org/drawingml/2006/main">
            <a:off x="1047750" y="3448050"/>
            <a:ext cx="2019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173B31"/>
                </a:solidFill>
                <a:latin typeface="Arial"/>
                <a:ea typeface="Arial"/>
                <a:cs typeface="Arial"/>
              </a:defRPr>
            </a:pPr>
            <a:r>
              <a:rPr sz="1425" b="1">
                <a:solidFill>
                  <a:srgbClr val="173B31"/>
                </a:solidFill>
                <a:latin typeface="Arial"/>
                <a:ea typeface="Arial"/>
                <a:cs typeface="Arial"/>
              </a:rPr>
              <a:t>venue_ratings</a:t>
            </a:r>
          </a:p>
        </p:txBody>
      </p:sp>
      <p:sp>
        <p:nvSpPr>
          <p:cNvPr id="20" name="">
            <a:extLst xmlns:a="http://schemas.openxmlformats.org/drawingml/2006/main">
              <a:ext uri="{FF2B5EF4-FFF2-40B4-BE49-F238E27FC236}">
                <a16:creationId xmlns:a16="http://schemas.microsoft.com/office/drawing/2014/main" id="{C2EA1D59-62BB-45C5-AE1E-EB014F2DFBFE}"/>
              </a:ext>
            </a:extLst>
          </p:cNvPr>
          <p:cNvSpPr>
            <a:spLocks xmlns:a="http://schemas.openxmlformats.org/drawingml/2006/main" noGrp="1"/>
          </p:cNvSpPr>
          <p:nvPr/>
        </p:nvSpPr>
        <p:spPr>
          <a:xfrm xmlns:a="http://schemas.openxmlformats.org/drawingml/2006/main">
            <a:off x="1047750" y="3790950"/>
            <a:ext cx="201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PK/FK venue_id</a:t>
            </a:r>
          </a:p>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avg_rating  •  rating_count</a:t>
            </a:r>
          </a:p>
        </p:txBody>
      </p:sp>
      <p:sp>
        <p:nvSpPr>
          <p:cNvPr id="21" name="">
            <a:extLst xmlns:a="http://schemas.openxmlformats.org/drawingml/2006/main">
              <a:ext uri="{FF2B5EF4-FFF2-40B4-BE49-F238E27FC236}">
                <a16:creationId xmlns:a16="http://schemas.microsoft.com/office/drawing/2014/main" id="{231F6154-84C9-4ABD-8DA4-BDE4CD56EA71}"/>
              </a:ext>
            </a:extLst>
          </p:cNvPr>
          <p:cNvSpPr>
            <a:spLocks xmlns:a="http://schemas.openxmlformats.org/drawingml/2006/main" noGrp="1"/>
          </p:cNvSpPr>
          <p:nvPr/>
        </p:nvSpPr>
        <p:spPr>
          <a:xfrm xmlns:a="http://schemas.openxmlformats.org/drawingml/2006/main">
            <a:off x="8267700" y="2247900"/>
            <a:ext cx="2476500" cy="1028700"/>
          </a:xfrm>
          <a:prstGeom xmlns:a="http://schemas.openxmlformats.org/drawingml/2006/main" prst="roundRect">
            <a:avLst>
              <a:gd name="adj" fmla="val 7407"/>
            </a:avLst>
          </a:prstGeom>
          <a:solidFill xmlns:a="http://schemas.openxmlformats.org/drawingml/2006/main">
            <a:srgbClr val="DFE9F4"/>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94E80F6-61F7-47E6-AF58-50CA2C7346FD}"/>
              </a:ext>
            </a:extLst>
          </p:cNvPr>
          <p:cNvSpPr>
            <a:spLocks xmlns:a="http://schemas.openxmlformats.org/drawingml/2006/main" noGrp="1"/>
          </p:cNvSpPr>
          <p:nvPr/>
        </p:nvSpPr>
        <p:spPr>
          <a:xfrm xmlns:a="http://schemas.openxmlformats.org/drawingml/2006/main">
            <a:off x="8439150" y="2381250"/>
            <a:ext cx="2133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173B31"/>
                </a:solidFill>
                <a:latin typeface="Arial"/>
                <a:ea typeface="Arial"/>
                <a:cs typeface="Arial"/>
              </a:defRPr>
            </a:pPr>
            <a:r>
              <a:rPr sz="1425" b="1">
                <a:solidFill>
                  <a:srgbClr val="173B31"/>
                </a:solidFill>
                <a:latin typeface="Arial"/>
                <a:ea typeface="Arial"/>
                <a:cs typeface="Arial"/>
              </a:rPr>
              <a:t>venue_activities</a:t>
            </a:r>
          </a:p>
        </p:txBody>
      </p:sp>
      <p:sp>
        <p:nvSpPr>
          <p:cNvPr id="23" name="">
            <a:extLst xmlns:a="http://schemas.openxmlformats.org/drawingml/2006/main">
              <a:ext uri="{FF2B5EF4-FFF2-40B4-BE49-F238E27FC236}">
                <a16:creationId xmlns:a16="http://schemas.microsoft.com/office/drawing/2014/main" id="{41BBA099-B0E1-4FDB-849D-272152DDE8A8}"/>
              </a:ext>
            </a:extLst>
          </p:cNvPr>
          <p:cNvSpPr>
            <a:spLocks xmlns:a="http://schemas.openxmlformats.org/drawingml/2006/main" noGrp="1"/>
          </p:cNvSpPr>
          <p:nvPr/>
        </p:nvSpPr>
        <p:spPr>
          <a:xfrm xmlns:a="http://schemas.openxmlformats.org/drawingml/2006/main">
            <a:off x="8439150" y="2724150"/>
            <a:ext cx="2133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PK venue_id + label</a:t>
            </a:r>
          </a:p>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bridge table</a:t>
            </a:r>
          </a:p>
        </p:txBody>
      </p:sp>
      <p:sp>
        <p:nvSpPr>
          <p:cNvPr id="24" name="">
            <a:extLst xmlns:a="http://schemas.openxmlformats.org/drawingml/2006/main">
              <a:ext uri="{FF2B5EF4-FFF2-40B4-BE49-F238E27FC236}">
                <a16:creationId xmlns:a16="http://schemas.microsoft.com/office/drawing/2014/main" id="{EAC26F92-E25D-4B79-80E2-F23C3D1F7F7B}"/>
              </a:ext>
            </a:extLst>
          </p:cNvPr>
          <p:cNvSpPr>
            <a:spLocks xmlns:a="http://schemas.openxmlformats.org/drawingml/2006/main" noGrp="1"/>
          </p:cNvSpPr>
          <p:nvPr/>
        </p:nvSpPr>
        <p:spPr>
          <a:xfrm xmlns:a="http://schemas.openxmlformats.org/drawingml/2006/main">
            <a:off x="8267700" y="3314700"/>
            <a:ext cx="2476500" cy="1028700"/>
          </a:xfrm>
          <a:prstGeom xmlns:a="http://schemas.openxmlformats.org/drawingml/2006/main" prst="roundRect">
            <a:avLst>
              <a:gd name="adj" fmla="val 7407"/>
            </a:avLst>
          </a:prstGeom>
          <a:solidFill xmlns:a="http://schemas.openxmlformats.org/drawingml/2006/main">
            <a:srgbClr val="EFE4F5"/>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D1227C6-B66F-41DE-8CAC-049C6D10BA66}"/>
              </a:ext>
            </a:extLst>
          </p:cNvPr>
          <p:cNvSpPr>
            <a:spLocks xmlns:a="http://schemas.openxmlformats.org/drawingml/2006/main" noGrp="1"/>
          </p:cNvSpPr>
          <p:nvPr/>
        </p:nvSpPr>
        <p:spPr>
          <a:xfrm xmlns:a="http://schemas.openxmlformats.org/drawingml/2006/main">
            <a:off x="8439150" y="3448050"/>
            <a:ext cx="2133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173B31"/>
                </a:solidFill>
                <a:latin typeface="Arial"/>
                <a:ea typeface="Arial"/>
                <a:cs typeface="Arial"/>
              </a:defRPr>
            </a:pPr>
            <a:r>
              <a:rPr sz="1425" b="1">
                <a:solidFill>
                  <a:srgbClr val="173B31"/>
                </a:solidFill>
                <a:latin typeface="Arial"/>
                <a:ea typeface="Arial"/>
                <a:cs typeface="Arial"/>
              </a:rPr>
              <a:t>activity_labels</a:t>
            </a:r>
          </a:p>
        </p:txBody>
      </p:sp>
      <p:sp>
        <p:nvSpPr>
          <p:cNvPr id="26" name="">
            <a:extLst xmlns:a="http://schemas.openxmlformats.org/drawingml/2006/main">
              <a:ext uri="{FF2B5EF4-FFF2-40B4-BE49-F238E27FC236}">
                <a16:creationId xmlns:a16="http://schemas.microsoft.com/office/drawing/2014/main" id="{E45C2DC4-590E-4413-B829-9C4EFB210D63}"/>
              </a:ext>
            </a:extLst>
          </p:cNvPr>
          <p:cNvSpPr>
            <a:spLocks xmlns:a="http://schemas.openxmlformats.org/drawingml/2006/main" noGrp="1"/>
          </p:cNvSpPr>
          <p:nvPr/>
        </p:nvSpPr>
        <p:spPr>
          <a:xfrm xmlns:a="http://schemas.openxmlformats.org/drawingml/2006/main">
            <a:off x="8439150" y="3790950"/>
            <a:ext cx="2133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PK label</a:t>
            </a:r>
          </a:p>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taxonomy_status</a:t>
            </a:r>
          </a:p>
        </p:txBody>
      </p:sp>
      <p:sp>
        <p:nvSpPr>
          <p:cNvPr id="27" name="">
            <a:extLst xmlns:a="http://schemas.openxmlformats.org/drawingml/2006/main">
              <a:ext uri="{FF2B5EF4-FFF2-40B4-BE49-F238E27FC236}">
                <a16:creationId xmlns:a16="http://schemas.microsoft.com/office/drawing/2014/main" id="{D780F09E-D75C-4BF9-A99B-AC79319CE7F8}"/>
              </a:ext>
            </a:extLst>
          </p:cNvPr>
          <p:cNvSpPr>
            <a:spLocks xmlns:a="http://schemas.openxmlformats.org/drawingml/2006/main" noGrp="1"/>
          </p:cNvSpPr>
          <p:nvPr/>
        </p:nvSpPr>
        <p:spPr>
          <a:xfrm xmlns:a="http://schemas.openxmlformats.org/drawingml/2006/main">
            <a:off x="4381500" y="5219700"/>
            <a:ext cx="2647950" cy="1028700"/>
          </a:xfrm>
          <a:prstGeom xmlns:a="http://schemas.openxmlformats.org/drawingml/2006/main" prst="roundRect">
            <a:avLst>
              <a:gd name="adj" fmla="val 7407"/>
            </a:avLst>
          </a:prstGeom>
          <a:solidFill xmlns:a="http://schemas.openxmlformats.org/drawingml/2006/main">
            <a:srgbClr val="FFFDF8"/>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D21BEEFD-3755-4FC2-A332-C8C37F3C48A2}"/>
              </a:ext>
            </a:extLst>
          </p:cNvPr>
          <p:cNvSpPr>
            <a:spLocks xmlns:a="http://schemas.openxmlformats.org/drawingml/2006/main" noGrp="1"/>
          </p:cNvSpPr>
          <p:nvPr/>
        </p:nvSpPr>
        <p:spPr>
          <a:xfrm xmlns:a="http://schemas.openxmlformats.org/drawingml/2006/main">
            <a:off x="4552950" y="5353050"/>
            <a:ext cx="230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173B31"/>
                </a:solidFill>
                <a:latin typeface="Arial"/>
                <a:ea typeface="Arial"/>
                <a:cs typeface="Arial"/>
              </a:defRPr>
            </a:pPr>
            <a:r>
              <a:rPr sz="1425" b="1">
                <a:solidFill>
                  <a:srgbClr val="173B31"/>
                </a:solidFill>
                <a:latin typeface="Arial"/>
                <a:ea typeface="Arial"/>
                <a:cs typeface="Arial"/>
              </a:rPr>
              <a:t>predictions</a:t>
            </a:r>
          </a:p>
        </p:txBody>
      </p:sp>
      <p:sp>
        <p:nvSpPr>
          <p:cNvPr id="29" name="">
            <a:extLst xmlns:a="http://schemas.openxmlformats.org/drawingml/2006/main">
              <a:ext uri="{FF2B5EF4-FFF2-40B4-BE49-F238E27FC236}">
                <a16:creationId xmlns:a16="http://schemas.microsoft.com/office/drawing/2014/main" id="{5691D948-BDE1-4225-97EF-D8E94EAAED71}"/>
              </a:ext>
            </a:extLst>
          </p:cNvPr>
          <p:cNvSpPr>
            <a:spLocks xmlns:a="http://schemas.openxmlformats.org/drawingml/2006/main" noGrp="1"/>
          </p:cNvSpPr>
          <p:nvPr/>
        </p:nvSpPr>
        <p:spPr>
          <a:xfrm xmlns:a="http://schemas.openxmlformats.org/drawingml/2006/main">
            <a:off x="4552950" y="5695950"/>
            <a:ext cx="23050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PK run_id + venue_id</a:t>
            </a:r>
          </a:p>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predicted_rating  •  split</a:t>
            </a:r>
          </a:p>
        </p:txBody>
      </p:sp>
      <p:sp>
        <p:nvSpPr>
          <p:cNvPr id="30" name="">
            <a:extLst xmlns:a="http://schemas.openxmlformats.org/drawingml/2006/main">
              <a:ext uri="{FF2B5EF4-FFF2-40B4-BE49-F238E27FC236}">
                <a16:creationId xmlns:a16="http://schemas.microsoft.com/office/drawing/2014/main" id="{D8C0A1C9-AEA7-4247-8E63-1BE42A15C599}"/>
              </a:ext>
            </a:extLst>
          </p:cNvPr>
          <p:cNvSpPr>
            <a:spLocks xmlns:a="http://schemas.openxmlformats.org/drawingml/2006/main" noGrp="1"/>
          </p:cNvSpPr>
          <p:nvPr/>
        </p:nvSpPr>
        <p:spPr>
          <a:xfrm xmlns:a="http://schemas.openxmlformats.org/drawingml/2006/main">
            <a:off x="8648700" y="4762500"/>
            <a:ext cx="2190750" cy="1028700"/>
          </a:xfrm>
          <a:prstGeom xmlns:a="http://schemas.openxmlformats.org/drawingml/2006/main" prst="roundRect">
            <a:avLst>
              <a:gd name="adj" fmla="val 7407"/>
            </a:avLst>
          </a:prstGeom>
          <a:solidFill xmlns:a="http://schemas.openxmlformats.org/drawingml/2006/main">
            <a:srgbClr val="FFFDF8"/>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619C54DF-3026-49D6-9E25-A64323AD9303}"/>
              </a:ext>
            </a:extLst>
          </p:cNvPr>
          <p:cNvSpPr>
            <a:spLocks xmlns:a="http://schemas.openxmlformats.org/drawingml/2006/main" noGrp="1"/>
          </p:cNvSpPr>
          <p:nvPr/>
        </p:nvSpPr>
        <p:spPr>
          <a:xfrm xmlns:a="http://schemas.openxmlformats.org/drawingml/2006/main">
            <a:off x="8820150" y="4895850"/>
            <a:ext cx="1847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173B31"/>
                </a:solidFill>
                <a:latin typeface="Arial"/>
                <a:ea typeface="Arial"/>
                <a:cs typeface="Arial"/>
              </a:defRPr>
            </a:pPr>
            <a:r>
              <a:rPr sz="1425" b="1">
                <a:solidFill>
                  <a:srgbClr val="173B31"/>
                </a:solidFill>
                <a:latin typeface="Arial"/>
                <a:ea typeface="Arial"/>
                <a:cs typeface="Arial"/>
              </a:rPr>
              <a:t>model_runs</a:t>
            </a:r>
          </a:p>
        </p:txBody>
      </p:sp>
      <p:sp>
        <p:nvSpPr>
          <p:cNvPr id="32" name="">
            <a:extLst xmlns:a="http://schemas.openxmlformats.org/drawingml/2006/main">
              <a:ext uri="{FF2B5EF4-FFF2-40B4-BE49-F238E27FC236}">
                <a16:creationId xmlns:a16="http://schemas.microsoft.com/office/drawing/2014/main" id="{E020F862-BB7C-45C6-A40E-530633E5E3D5}"/>
              </a:ext>
            </a:extLst>
          </p:cNvPr>
          <p:cNvSpPr>
            <a:spLocks xmlns:a="http://schemas.openxmlformats.org/drawingml/2006/main" noGrp="1"/>
          </p:cNvSpPr>
          <p:nvPr/>
        </p:nvSpPr>
        <p:spPr>
          <a:xfrm xmlns:a="http://schemas.openxmlformats.org/drawingml/2006/main">
            <a:off x="8820150" y="5238750"/>
            <a:ext cx="1847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PK run_id</a:t>
            </a:r>
          </a:p>
          <a:p xmlns:a="http://schemas.openxmlformats.org/drawingml/2006/main">
            <a:pPr>
              <a:defRPr sz="1050" b="0">
                <a:solidFill>
                  <a:srgbClr val="1D2B27"/>
                </a:solidFill>
                <a:latin typeface="Arial"/>
                <a:ea typeface="Arial"/>
                <a:cs typeface="Arial"/>
              </a:defRPr>
            </a:pPr>
            <a:r>
              <a:rPr sz="1050" b="0">
                <a:solidFill>
                  <a:srgbClr val="1D2B27"/>
                </a:solidFill>
                <a:latin typeface="Arial"/>
                <a:ea typeface="Arial"/>
                <a:cs typeface="Arial"/>
              </a:rPr>
              <a:t>metrics  •  parameters</a:t>
            </a:r>
          </a:p>
        </p:txBody>
      </p:sp>
      <p:sp>
        <p:nvSpPr>
          <p:cNvPr id="33" name="">
            <a:extLst xmlns:a="http://schemas.openxmlformats.org/drawingml/2006/main">
              <a:ext uri="{FF2B5EF4-FFF2-40B4-BE49-F238E27FC236}">
                <a16:creationId xmlns:a16="http://schemas.microsoft.com/office/drawing/2014/main" id="{5E161487-4E81-45FE-A057-961B29B33A38}"/>
              </a:ext>
            </a:extLst>
          </p:cNvPr>
          <p:cNvSpPr>
            <a:spLocks xmlns:a="http://schemas.openxmlformats.org/drawingml/2006/main" noGrp="1"/>
          </p:cNvSpPr>
          <p:nvPr/>
        </p:nvSpPr>
        <p:spPr>
          <a:xfrm xmlns:a="http://schemas.openxmlformats.org/drawingml/2006/main">
            <a:off x="742950" y="5257800"/>
            <a:ext cx="2667000" cy="342900"/>
          </a:xfrm>
          <a:prstGeom xmlns:a="http://schemas.openxmlformats.org/drawingml/2006/main" prst="roundRect">
            <a:avLst>
              <a:gd name="adj" fmla="val 22222"/>
            </a:avLst>
          </a:prstGeom>
          <a:solidFill xmlns:a="http://schemas.openxmlformats.org/drawingml/2006/main">
            <a:srgbClr val="173B31"/>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0223B657-E79B-45C8-8FC3-C309A52C9736}"/>
              </a:ext>
            </a:extLst>
          </p:cNvPr>
          <p:cNvSpPr>
            <a:spLocks xmlns:a="http://schemas.openxmlformats.org/drawingml/2006/main" noGrp="1"/>
          </p:cNvSpPr>
          <p:nvPr/>
        </p:nvSpPr>
        <p:spPr>
          <a:xfrm xmlns:a="http://schemas.openxmlformats.org/drawingml/2006/main">
            <a:off x="876300" y="5324475"/>
            <a:ext cx="2400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defRPr sz="1125" b="1">
                <a:solidFill>
                  <a:srgbClr val="FFFFFF"/>
                </a:solidFill>
                <a:latin typeface="Arial"/>
                <a:ea typeface="Arial"/>
                <a:cs typeface="Arial"/>
              </a:defRPr>
            </a:pPr>
            <a:r>
              <a:rPr sz="1125" b="1">
                <a:solidFill>
                  <a:srgbClr val="FFFFFF"/>
                </a:solidFill>
                <a:latin typeface="Arial"/>
                <a:ea typeface="Arial"/>
                <a:cs typeface="Arial"/>
              </a:rPr>
              <a:t>separate community path</a:t>
            </a:r>
          </a:p>
        </p:txBody>
      </p:sp>
      <p:sp>
        <p:nvSpPr>
          <p:cNvPr id="35" name="">
            <a:extLst xmlns:a="http://schemas.openxmlformats.org/drawingml/2006/main">
              <a:ext uri="{FF2B5EF4-FFF2-40B4-BE49-F238E27FC236}">
                <a16:creationId xmlns:a16="http://schemas.microsoft.com/office/drawing/2014/main" id="{A6B0DB1C-9036-464C-A06C-4C409F324728}"/>
              </a:ext>
            </a:extLst>
          </p:cNvPr>
          <p:cNvSpPr>
            <a:spLocks xmlns:a="http://schemas.openxmlformats.org/drawingml/2006/main" noGrp="1"/>
          </p:cNvSpPr>
          <p:nvPr/>
        </p:nvSpPr>
        <p:spPr>
          <a:xfrm xmlns:a="http://schemas.openxmlformats.org/drawingml/2006/main">
            <a:off x="742950" y="5695950"/>
            <a:ext cx="30670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1">
                <a:solidFill>
                  <a:srgbClr val="66736D"/>
                </a:solidFill>
                <a:latin typeface="Arial"/>
                <a:ea typeface="Arial"/>
                <a:cs typeface="Arial"/>
              </a:defRPr>
            </a:pPr>
            <a:r>
              <a:rPr sz="1200" b="1">
                <a:solidFill>
                  <a:srgbClr val="66736D"/>
                </a:solidFill>
                <a:latin typeface="Arial"/>
                <a:ea typeface="Arial"/>
                <a:cs typeface="Arial"/>
              </a:rPr>
              <a:t>submitted_venues + correction reports</a:t>
            </a:r>
          </a:p>
        </p:txBody>
      </p:sp>
    </p:spTree>
    <p:extLst>
      <p:ext uri="{BB962C8B-B14F-4D97-AF65-F5344CB8AC3E}">
        <p14:creationId xmlns:p14="http://schemas.microsoft.com/office/powerpoint/2010/main" val="1710094131"/>
      </p:ext>
    </p:extLst>
  </p:cSld>
</p:sld>
</file>

<file path=ppt/slides/slide6.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C2D439A-B576-47ED-8C53-3934AE1D373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D8902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45523F-7668-4E32-9BA6-BC52BE8DAE0B}"/>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DATABASE</a:t>
            </a:r>
          </a:p>
        </p:txBody>
      </p:sp>
      <p:sp>
        <p:nvSpPr>
          <p:cNvPr id="3" name="">
            <a:extLst xmlns:a="http://schemas.openxmlformats.org/drawingml/2006/main">
              <a:ext uri="{FF2B5EF4-FFF2-40B4-BE49-F238E27FC236}">
                <a16:creationId xmlns:a16="http://schemas.microsoft.com/office/drawing/2014/main" id="{D6F34097-86F1-4BF2-B01B-465639A70A51}"/>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Full ER evidence from the implemented Supabase schema.</a:t>
            </a:r>
          </a:p>
        </p:txBody>
      </p:sp>
      <p:sp>
        <p:nvSpPr>
          <p:cNvPr id="4" name="">
            <a:extLst xmlns:a="http://schemas.openxmlformats.org/drawingml/2006/main">
              <a:ext uri="{FF2B5EF4-FFF2-40B4-BE49-F238E27FC236}">
                <a16:creationId xmlns:a16="http://schemas.microsoft.com/office/drawing/2014/main" id="{05BE2400-ACE2-40FA-ACB7-2EA522226DBB}"/>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The supplied diagram is included as implementation evidence; the simplified model is better for explanation.</a:t>
            </a:r>
          </a:p>
        </p:txBody>
      </p:sp>
      <p:sp>
        <p:nvSpPr>
          <p:cNvPr id="5" name="">
            <a:extLst xmlns:a="http://schemas.openxmlformats.org/drawingml/2006/main">
              <a:ext uri="{FF2B5EF4-FFF2-40B4-BE49-F238E27FC236}">
                <a16:creationId xmlns:a16="http://schemas.microsoft.com/office/drawing/2014/main" id="{2A77B5DA-466B-4AC0-A0C4-0F09F1F87CE2}"/>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CDC11E57-5AE5-46C1-A572-00C0F8325783}"/>
              </a:ext>
            </a:extLst>
          </p:cNvPr>
          <p:cNvSpPr>
            <a:spLocks xmlns:a="http://schemas.openxmlformats.org/drawingml/2006/main" noGrp="1"/>
          </p:cNvSpPr>
          <p:nvPr/>
        </p:nvSpPr>
        <p:spPr>
          <a:xfrm xmlns:a="http://schemas.openxmlformats.org/drawingml/2006/main">
            <a:off x="514350" y="1847850"/>
            <a:ext cx="6248400" cy="4343400"/>
          </a:xfrm>
          <a:prstGeom xmlns:a="http://schemas.openxmlformats.org/drawingml/2006/main" prst="roundRect">
            <a:avLst>
              <a:gd name="adj" fmla="val 1754"/>
            </a:avLst>
          </a:prstGeom>
          <a:solidFill xmlns:a="http://schemas.openxmlformats.org/drawingml/2006/main">
            <a:srgbClr val="FFFFFF"/>
          </a:solidFill>
          <a:ln xmlns:a="http://schemas.openxmlformats.org/drawingml/2006/main" w="9525">
            <a:solidFill>
              <a:srgbClr val="D7D3C9"/>
            </a:solidFill>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b770e862bd72416d"/>
          <a:stretch xmlns:a="http://schemas.openxmlformats.org/drawingml/2006/main"/>
        </p:blipFill>
        <p:spPr>
          <a:xfrm xmlns:a="http://schemas.openxmlformats.org/drawingml/2006/main">
            <a:off x="1375628" y="2000250"/>
            <a:ext cx="4525844" cy="40386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863A965B-443F-40A2-91B0-D867379076D7}"/>
              </a:ext>
            </a:extLst>
          </p:cNvPr>
          <p:cNvSpPr>
            <a:spLocks xmlns:a="http://schemas.openxmlformats.org/drawingml/2006/main" noGrp="1"/>
          </p:cNvSpPr>
          <p:nvPr/>
        </p:nvSpPr>
        <p:spPr>
          <a:xfrm xmlns:a="http://schemas.openxmlformats.org/drawingml/2006/main">
            <a:off x="7200900" y="20383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How to read the full diagram</a:t>
            </a:r>
          </a:p>
        </p:txBody>
      </p:sp>
      <p:sp>
        <p:nvSpPr>
          <p:cNvPr id="9" name="">
            <a:extLst xmlns:a="http://schemas.openxmlformats.org/drawingml/2006/main">
              <a:ext uri="{FF2B5EF4-FFF2-40B4-BE49-F238E27FC236}">
                <a16:creationId xmlns:a16="http://schemas.microsoft.com/office/drawing/2014/main" id="{26B9459F-7AFC-4D9C-8889-9620FA373592}"/>
              </a:ext>
            </a:extLst>
          </p:cNvPr>
          <p:cNvSpPr>
            <a:spLocks xmlns:a="http://schemas.openxmlformats.org/drawingml/2006/main" noGrp="1"/>
          </p:cNvSpPr>
          <p:nvPr/>
        </p:nvSpPr>
        <p:spPr>
          <a:xfrm xmlns:a="http://schemas.openxmlformats.org/drawingml/2006/main">
            <a:off x="7219950" y="2628900"/>
            <a:ext cx="209550" cy="209550"/>
          </a:xfrm>
          <a:prstGeom xmlns:a="http://schemas.openxmlformats.org/drawingml/2006/main" prst="ellipse">
            <a:avLst/>
          </a:prstGeom>
          <a:solidFill xmlns:a="http://schemas.openxmlformats.org/drawingml/2006/main">
            <a:srgbClr val="C6423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9965010-AFB7-4840-9D31-09A40FBDB6C1}"/>
              </a:ext>
            </a:extLst>
          </p:cNvPr>
          <p:cNvSpPr>
            <a:spLocks xmlns:a="http://schemas.openxmlformats.org/drawingml/2006/main" noGrp="1"/>
          </p:cNvSpPr>
          <p:nvPr/>
        </p:nvSpPr>
        <p:spPr>
          <a:xfrm xmlns:a="http://schemas.openxmlformats.org/drawingml/2006/main">
            <a:off x="7600950" y="259080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555"/>
          </a:bodyPr>
          <a:lstStyle xmlns:a="http://schemas.openxmlformats.org/drawingml/2006/main"/>
          <a:p xmlns:a="http://schemas.openxmlformats.org/drawingml/2006/main">
            <a:pPr>
              <a:defRPr sz="1350" b="1">
                <a:solidFill>
                  <a:srgbClr val="173B31"/>
                </a:solidFill>
                <a:latin typeface="Arial"/>
                <a:ea typeface="Arial"/>
                <a:cs typeface="Arial"/>
              </a:defRPr>
            </a:pPr>
            <a:r>
              <a:rPr sz="1350" b="1">
                <a:solidFill>
                  <a:srgbClr val="173B31"/>
                </a:solidFill>
                <a:latin typeface="Arial"/>
                <a:ea typeface="Arial"/>
                <a:cs typeface="Arial"/>
              </a:rPr>
              <a:t>Historical core</a:t>
            </a:r>
          </a:p>
        </p:txBody>
      </p:sp>
      <p:sp>
        <p:nvSpPr>
          <p:cNvPr id="11" name="">
            <a:extLst xmlns:a="http://schemas.openxmlformats.org/drawingml/2006/main">
              <a:ext uri="{FF2B5EF4-FFF2-40B4-BE49-F238E27FC236}">
                <a16:creationId xmlns:a16="http://schemas.microsoft.com/office/drawing/2014/main" id="{1BF24AD5-757F-495E-879B-AEB81AF4D79E}"/>
              </a:ext>
            </a:extLst>
          </p:cNvPr>
          <p:cNvSpPr>
            <a:spLocks xmlns:a="http://schemas.openxmlformats.org/drawingml/2006/main" noGrp="1"/>
          </p:cNvSpPr>
          <p:nvPr/>
        </p:nvSpPr>
        <p:spPr>
          <a:xfrm xmlns:a="http://schemas.openxmlformats.org/drawingml/2006/main">
            <a:off x="7600950" y="28670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a:solidFill>
                  <a:srgbClr val="66736D"/>
                </a:solidFill>
                <a:latin typeface="Arial"/>
                <a:ea typeface="Arial"/>
                <a:cs typeface="Arial"/>
              </a:defRPr>
            </a:pPr>
            <a:r>
              <a:rPr sz="1125" b="0">
                <a:solidFill>
                  <a:srgbClr val="66736D"/>
                </a:solidFill>
                <a:latin typeface="Arial"/>
                <a:ea typeface="Arial"/>
                <a:cs typeface="Arial"/>
              </a:rPr>
              <a:t>venues, ratings, regions and activities</a:t>
            </a:r>
          </a:p>
        </p:txBody>
      </p:sp>
      <p:sp>
        <p:nvSpPr>
          <p:cNvPr id="12" name="">
            <a:extLst xmlns:a="http://schemas.openxmlformats.org/drawingml/2006/main">
              <a:ext uri="{FF2B5EF4-FFF2-40B4-BE49-F238E27FC236}">
                <a16:creationId xmlns:a16="http://schemas.microsoft.com/office/drawing/2014/main" id="{AA27BCB9-1D15-41AC-915F-03E499961140}"/>
              </a:ext>
            </a:extLst>
          </p:cNvPr>
          <p:cNvSpPr>
            <a:spLocks xmlns:a="http://schemas.openxmlformats.org/drawingml/2006/main" noGrp="1"/>
          </p:cNvSpPr>
          <p:nvPr/>
        </p:nvSpPr>
        <p:spPr>
          <a:xfrm xmlns:a="http://schemas.openxmlformats.org/drawingml/2006/main">
            <a:off x="7219950" y="3429000"/>
            <a:ext cx="209550" cy="209550"/>
          </a:xfrm>
          <a:prstGeom xmlns:a="http://schemas.openxmlformats.org/drawingml/2006/main" prst="ellipse">
            <a:avLst/>
          </a:prstGeom>
          <a:solidFill xmlns:a="http://schemas.openxmlformats.org/drawingml/2006/main">
            <a:srgbClr val="D8902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697B05D-7737-4495-A32D-FD934184F4BC}"/>
              </a:ext>
            </a:extLst>
          </p:cNvPr>
          <p:cNvSpPr>
            <a:spLocks xmlns:a="http://schemas.openxmlformats.org/drawingml/2006/main" noGrp="1"/>
          </p:cNvSpPr>
          <p:nvPr/>
        </p:nvSpPr>
        <p:spPr>
          <a:xfrm xmlns:a="http://schemas.openxmlformats.org/drawingml/2006/main">
            <a:off x="7600950" y="339090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555"/>
          </a:bodyPr>
          <a:lstStyle xmlns:a="http://schemas.openxmlformats.org/drawingml/2006/main"/>
          <a:p xmlns:a="http://schemas.openxmlformats.org/drawingml/2006/main">
            <a:pPr>
              <a:defRPr sz="1350" b="1">
                <a:solidFill>
                  <a:srgbClr val="173B31"/>
                </a:solidFill>
                <a:latin typeface="Arial"/>
                <a:ea typeface="Arial"/>
                <a:cs typeface="Arial"/>
              </a:defRPr>
            </a:pPr>
            <a:r>
              <a:rPr sz="1350" b="1">
                <a:solidFill>
                  <a:srgbClr val="173B31"/>
                </a:solidFill>
                <a:latin typeface="Arial"/>
                <a:ea typeface="Arial"/>
                <a:cs typeface="Arial"/>
              </a:rPr>
              <a:t>Model lineage</a:t>
            </a:r>
          </a:p>
        </p:txBody>
      </p:sp>
      <p:sp>
        <p:nvSpPr>
          <p:cNvPr id="14" name="">
            <a:extLst xmlns:a="http://schemas.openxmlformats.org/drawingml/2006/main">
              <a:ext uri="{FF2B5EF4-FFF2-40B4-BE49-F238E27FC236}">
                <a16:creationId xmlns:a16="http://schemas.microsoft.com/office/drawing/2014/main" id="{63823C43-1D83-4AC3-9916-8596011A2980}"/>
              </a:ext>
            </a:extLst>
          </p:cNvPr>
          <p:cNvSpPr>
            <a:spLocks xmlns:a="http://schemas.openxmlformats.org/drawingml/2006/main" noGrp="1"/>
          </p:cNvSpPr>
          <p:nvPr/>
        </p:nvSpPr>
        <p:spPr>
          <a:xfrm xmlns:a="http://schemas.openxmlformats.org/drawingml/2006/main">
            <a:off x="7600950" y="36671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a:solidFill>
                  <a:srgbClr val="66736D"/>
                </a:solidFill>
                <a:latin typeface="Arial"/>
                <a:ea typeface="Arial"/>
                <a:cs typeface="Arial"/>
              </a:defRPr>
            </a:pPr>
            <a:r>
              <a:rPr sz="1125" b="0">
                <a:solidFill>
                  <a:srgbClr val="66736D"/>
                </a:solidFill>
                <a:latin typeface="Arial"/>
                <a:ea typeface="Arial"/>
                <a:cs typeface="Arial"/>
              </a:rPr>
              <a:t>model_runs and predictions</a:t>
            </a:r>
          </a:p>
        </p:txBody>
      </p:sp>
      <p:sp>
        <p:nvSpPr>
          <p:cNvPr id="15" name="">
            <a:extLst xmlns:a="http://schemas.openxmlformats.org/drawingml/2006/main">
              <a:ext uri="{FF2B5EF4-FFF2-40B4-BE49-F238E27FC236}">
                <a16:creationId xmlns:a16="http://schemas.microsoft.com/office/drawing/2014/main" id="{22C87332-B027-472F-8EBE-F7AE0ABC3AD1}"/>
              </a:ext>
            </a:extLst>
          </p:cNvPr>
          <p:cNvSpPr>
            <a:spLocks xmlns:a="http://schemas.openxmlformats.org/drawingml/2006/main" noGrp="1"/>
          </p:cNvSpPr>
          <p:nvPr/>
        </p:nvSpPr>
        <p:spPr>
          <a:xfrm xmlns:a="http://schemas.openxmlformats.org/drawingml/2006/main">
            <a:off x="7219950" y="4229100"/>
            <a:ext cx="209550" cy="209550"/>
          </a:xfrm>
          <a:prstGeom xmlns:a="http://schemas.openxmlformats.org/drawingml/2006/main" prst="ellipse">
            <a:avLst/>
          </a:prstGeom>
          <a:solidFill xmlns:a="http://schemas.openxmlformats.org/drawingml/2006/main">
            <a:srgbClr val="2D7A6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B1467EA-EB9F-4E88-BEFA-83941ED6207F}"/>
              </a:ext>
            </a:extLst>
          </p:cNvPr>
          <p:cNvSpPr>
            <a:spLocks xmlns:a="http://schemas.openxmlformats.org/drawingml/2006/main" noGrp="1"/>
          </p:cNvSpPr>
          <p:nvPr/>
        </p:nvSpPr>
        <p:spPr>
          <a:xfrm xmlns:a="http://schemas.openxmlformats.org/drawingml/2006/main">
            <a:off x="7600950" y="419100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555"/>
          </a:bodyPr>
          <a:lstStyle xmlns:a="http://schemas.openxmlformats.org/drawingml/2006/main"/>
          <a:p xmlns:a="http://schemas.openxmlformats.org/drawingml/2006/main">
            <a:pPr>
              <a:defRPr sz="1350" b="1">
                <a:solidFill>
                  <a:srgbClr val="173B31"/>
                </a:solidFill>
                <a:latin typeface="Arial"/>
                <a:ea typeface="Arial"/>
                <a:cs typeface="Arial"/>
              </a:defRPr>
            </a:pPr>
            <a:r>
              <a:rPr sz="1350" b="1">
                <a:solidFill>
                  <a:srgbClr val="173B31"/>
                </a:solidFill>
                <a:latin typeface="Arial"/>
                <a:ea typeface="Arial"/>
                <a:cs typeface="Arial"/>
              </a:rPr>
              <a:t>Team workspace</a:t>
            </a:r>
          </a:p>
        </p:txBody>
      </p:sp>
      <p:sp>
        <p:nvSpPr>
          <p:cNvPr id="17" name="">
            <a:extLst xmlns:a="http://schemas.openxmlformats.org/drawingml/2006/main">
              <a:ext uri="{FF2B5EF4-FFF2-40B4-BE49-F238E27FC236}">
                <a16:creationId xmlns:a16="http://schemas.microsoft.com/office/drawing/2014/main" id="{AF269286-841A-4C8F-8E9E-5F80171A10DE}"/>
              </a:ext>
            </a:extLst>
          </p:cNvPr>
          <p:cNvSpPr>
            <a:spLocks xmlns:a="http://schemas.openxmlformats.org/drawingml/2006/main" noGrp="1"/>
          </p:cNvSpPr>
          <p:nvPr/>
        </p:nvSpPr>
        <p:spPr>
          <a:xfrm xmlns:a="http://schemas.openxmlformats.org/drawingml/2006/main">
            <a:off x="7600950" y="44672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a:solidFill>
                  <a:srgbClr val="66736D"/>
                </a:solidFill>
                <a:latin typeface="Arial"/>
                <a:ea typeface="Arial"/>
                <a:cs typeface="Arial"/>
              </a:defRPr>
            </a:pPr>
            <a:r>
              <a:rPr sz="1125" b="0">
                <a:solidFill>
                  <a:srgbClr val="66736D"/>
                </a:solidFill>
                <a:latin typeface="Arial"/>
                <a:ea typeface="Arial"/>
                <a:cs typeface="Arial"/>
              </a:rPr>
              <a:t>workspace_records and audit trail</a:t>
            </a:r>
          </a:p>
        </p:txBody>
      </p:sp>
      <p:sp>
        <p:nvSpPr>
          <p:cNvPr id="18" name="">
            <a:extLst xmlns:a="http://schemas.openxmlformats.org/drawingml/2006/main">
              <a:ext uri="{FF2B5EF4-FFF2-40B4-BE49-F238E27FC236}">
                <a16:creationId xmlns:a16="http://schemas.microsoft.com/office/drawing/2014/main" id="{676BE828-13C6-4EED-821A-EAEB9F65516F}"/>
              </a:ext>
            </a:extLst>
          </p:cNvPr>
          <p:cNvSpPr>
            <a:spLocks xmlns:a="http://schemas.openxmlformats.org/drawingml/2006/main" noGrp="1"/>
          </p:cNvSpPr>
          <p:nvPr/>
        </p:nvSpPr>
        <p:spPr>
          <a:xfrm xmlns:a="http://schemas.openxmlformats.org/drawingml/2006/main">
            <a:off x="7219950" y="5029200"/>
            <a:ext cx="209550" cy="209550"/>
          </a:xfrm>
          <a:prstGeom xmlns:a="http://schemas.openxmlformats.org/drawingml/2006/main" prst="ellipse">
            <a:avLst/>
          </a:prstGeom>
          <a:solidFill xmlns:a="http://schemas.openxmlformats.org/drawingml/2006/main">
            <a:srgbClr val="4E79A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F43AFA2-1EFC-4E1B-9770-BBC8EC66187A}"/>
              </a:ext>
            </a:extLst>
          </p:cNvPr>
          <p:cNvSpPr>
            <a:spLocks xmlns:a="http://schemas.openxmlformats.org/drawingml/2006/main" noGrp="1"/>
          </p:cNvSpPr>
          <p:nvPr/>
        </p:nvSpPr>
        <p:spPr>
          <a:xfrm xmlns:a="http://schemas.openxmlformats.org/drawingml/2006/main">
            <a:off x="7600950" y="499110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555"/>
          </a:bodyPr>
          <a:lstStyle xmlns:a="http://schemas.openxmlformats.org/drawingml/2006/main"/>
          <a:p xmlns:a="http://schemas.openxmlformats.org/drawingml/2006/main">
            <a:pPr>
              <a:defRPr sz="1350" b="1">
                <a:solidFill>
                  <a:srgbClr val="173B31"/>
                </a:solidFill>
                <a:latin typeface="Arial"/>
                <a:ea typeface="Arial"/>
                <a:cs typeface="Arial"/>
              </a:defRPr>
            </a:pPr>
            <a:r>
              <a:rPr sz="1350" b="1">
                <a:solidFill>
                  <a:srgbClr val="173B31"/>
                </a:solidFill>
                <a:latin typeface="Arial"/>
                <a:ea typeface="Arial"/>
                <a:cs typeface="Arial"/>
              </a:rPr>
              <a:t>Community path</a:t>
            </a:r>
          </a:p>
        </p:txBody>
      </p:sp>
      <p:sp>
        <p:nvSpPr>
          <p:cNvPr id="20" name="">
            <a:extLst xmlns:a="http://schemas.openxmlformats.org/drawingml/2006/main">
              <a:ext uri="{FF2B5EF4-FFF2-40B4-BE49-F238E27FC236}">
                <a16:creationId xmlns:a16="http://schemas.microsoft.com/office/drawing/2014/main" id="{87E8351D-30E6-4877-87CE-F7CFD94A9D72}"/>
              </a:ext>
            </a:extLst>
          </p:cNvPr>
          <p:cNvSpPr>
            <a:spLocks xmlns:a="http://schemas.openxmlformats.org/drawingml/2006/main" noGrp="1"/>
          </p:cNvSpPr>
          <p:nvPr/>
        </p:nvSpPr>
        <p:spPr>
          <a:xfrm xmlns:a="http://schemas.openxmlformats.org/drawingml/2006/main">
            <a:off x="7600950" y="5267325"/>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0">
                <a:solidFill>
                  <a:srgbClr val="66736D"/>
                </a:solidFill>
                <a:latin typeface="Arial"/>
                <a:ea typeface="Arial"/>
                <a:cs typeface="Arial"/>
              </a:defRPr>
            </a:pPr>
            <a:r>
              <a:rPr sz="1125" b="0">
                <a:solidFill>
                  <a:srgbClr val="66736D"/>
                </a:solidFill>
                <a:latin typeface="Arial"/>
                <a:ea typeface="Arial"/>
                <a:cs typeface="Arial"/>
              </a:rPr>
              <a:t>submitted venues and correction reports</a:t>
            </a:r>
          </a:p>
        </p:txBody>
      </p:sp>
      <p:sp>
        <p:nvSpPr>
          <p:cNvPr id="21" name="">
            <a:extLst xmlns:a="http://schemas.openxmlformats.org/drawingml/2006/main">
              <a:ext uri="{FF2B5EF4-FFF2-40B4-BE49-F238E27FC236}">
                <a16:creationId xmlns:a16="http://schemas.microsoft.com/office/drawing/2014/main" id="{F1CA5B2E-325F-4134-9224-E660A177D503}"/>
              </a:ext>
            </a:extLst>
          </p:cNvPr>
          <p:cNvSpPr>
            <a:spLocks xmlns:a="http://schemas.openxmlformats.org/drawingml/2006/main" noGrp="1"/>
          </p:cNvSpPr>
          <p:nvPr/>
        </p:nvSpPr>
        <p:spPr>
          <a:xfrm xmlns:a="http://schemas.openxmlformats.org/drawingml/2006/main">
            <a:off x="7200900" y="5715000"/>
            <a:ext cx="3733800" cy="457200"/>
          </a:xfrm>
          <a:prstGeom xmlns:a="http://schemas.openxmlformats.org/drawingml/2006/main" prst="roundRect">
            <a:avLst>
              <a:gd name="adj" fmla="val 16667"/>
            </a:avLst>
          </a:prstGeom>
          <a:solidFill xmlns:a="http://schemas.openxmlformats.org/drawingml/2006/main">
            <a:srgbClr val="173B31"/>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956F966-B256-47FB-87FA-0D3E6CD7800A}"/>
              </a:ext>
            </a:extLst>
          </p:cNvPr>
          <p:cNvSpPr>
            <a:spLocks xmlns:a="http://schemas.openxmlformats.org/drawingml/2006/main" noGrp="1"/>
          </p:cNvSpPr>
          <p:nvPr/>
        </p:nvSpPr>
        <p:spPr>
          <a:xfrm xmlns:a="http://schemas.openxmlformats.org/drawingml/2006/main">
            <a:off x="7410450" y="5829300"/>
            <a:ext cx="333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defRPr sz="1125" b="1">
                <a:solidFill>
                  <a:srgbClr val="FFFFFF"/>
                </a:solidFill>
                <a:latin typeface="Arial"/>
                <a:ea typeface="Arial"/>
                <a:cs typeface="Arial"/>
              </a:defRPr>
            </a:pPr>
            <a:r>
              <a:rPr sz="1125" b="1">
                <a:solidFill>
                  <a:srgbClr val="FFFFFF"/>
                </a:solidFill>
                <a:latin typeface="Arial"/>
                <a:ea typeface="Arial"/>
                <a:cs typeface="Arial"/>
              </a:rPr>
              <a:t>Constraints enforce valid states before analysis.</a:t>
            </a:r>
          </a:p>
        </p:txBody>
      </p:sp>
    </p:spTree>
    <p:extLst>
      <p:ext uri="{BB962C8B-B14F-4D97-AF65-F5344CB8AC3E}">
        <p14:creationId xmlns:p14="http://schemas.microsoft.com/office/powerpoint/2010/main" val="964893274"/>
      </p:ext>
    </p:extLst>
  </p:cSld>
</p:sld>
</file>

<file path=ppt/slides/slide7.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76409EB-DB91-4A28-91C8-05C92D46E0A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642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2203D6-8A14-4BFD-93A6-62657E2225EB}"/>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PIPELINE</a:t>
            </a:r>
          </a:p>
        </p:txBody>
      </p:sp>
      <p:sp>
        <p:nvSpPr>
          <p:cNvPr id="3" name="">
            <a:extLst xmlns:a="http://schemas.openxmlformats.org/drawingml/2006/main">
              <a:ext uri="{FF2B5EF4-FFF2-40B4-BE49-F238E27FC236}">
                <a16:creationId xmlns:a16="http://schemas.microsoft.com/office/drawing/2014/main" id="{FF0B6609-AF36-4152-BA45-9BD352A8A454}"/>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ETL turns untrusted files into reproducible evidence.</a:t>
            </a:r>
          </a:p>
        </p:txBody>
      </p:sp>
      <p:sp>
        <p:nvSpPr>
          <p:cNvPr id="4" name="">
            <a:extLst xmlns:a="http://schemas.openxmlformats.org/drawingml/2006/main">
              <a:ext uri="{FF2B5EF4-FFF2-40B4-BE49-F238E27FC236}">
                <a16:creationId xmlns:a16="http://schemas.microsoft.com/office/drawing/2014/main" id="{F8319ADE-9EC2-40E6-912E-A9CCF4C9B93B}"/>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Raw files never change; every downstream record keeps its source.</a:t>
            </a:r>
          </a:p>
        </p:txBody>
      </p:sp>
      <p:sp>
        <p:nvSpPr>
          <p:cNvPr id="5" name="">
            <a:extLst xmlns:a="http://schemas.openxmlformats.org/drawingml/2006/main">
              <a:ext uri="{FF2B5EF4-FFF2-40B4-BE49-F238E27FC236}">
                <a16:creationId xmlns:a16="http://schemas.microsoft.com/office/drawing/2014/main" id="{36864AEB-6D91-42C4-B4F4-949D69F672E5}"/>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07</a:t>
            </a:r>
          </a:p>
        </p:txBody>
      </p:sp>
      <p:sp>
        <p:nvSpPr>
          <p:cNvPr id="6" name="">
            <a:extLst xmlns:a="http://schemas.openxmlformats.org/drawingml/2006/main">
              <a:ext uri="{FF2B5EF4-FFF2-40B4-BE49-F238E27FC236}">
                <a16:creationId xmlns:a16="http://schemas.microsoft.com/office/drawing/2014/main" id="{A97D0B5A-0749-496D-8A07-DD9E3557EA27}"/>
              </a:ext>
            </a:extLst>
          </p:cNvPr>
          <p:cNvSpPr>
            <a:spLocks xmlns:a="http://schemas.openxmlformats.org/drawingml/2006/main" noGrp="1"/>
          </p:cNvSpPr>
          <p:nvPr/>
        </p:nvSpPr>
        <p:spPr>
          <a:xfrm xmlns:a="http://schemas.openxmlformats.org/drawingml/2006/main">
            <a:off x="685800" y="1981200"/>
            <a:ext cx="419100" cy="419100"/>
          </a:xfrm>
          <a:prstGeom xmlns:a="http://schemas.openxmlformats.org/drawingml/2006/main" prst="ellipse">
            <a:avLst/>
          </a:prstGeom>
          <a:solidFill xmlns:a="http://schemas.openxmlformats.org/drawingml/2006/main">
            <a:srgbClr val="173B3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64BA8A7-B28A-48B7-8689-954A2F5C7B48}"/>
              </a:ext>
            </a:extLst>
          </p:cNvPr>
          <p:cNvSpPr>
            <a:spLocks xmlns:a="http://schemas.openxmlformats.org/drawingml/2006/main" noGrp="1"/>
          </p:cNvSpPr>
          <p:nvPr/>
        </p:nvSpPr>
        <p:spPr>
          <a:xfrm xmlns:a="http://schemas.openxmlformats.org/drawingml/2006/main">
            <a:off x="800100" y="20288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1">
                <a:solidFill>
                  <a:srgbClr val="FFFFFF"/>
                </a:solidFill>
                <a:latin typeface="Arial"/>
                <a:ea typeface="Arial"/>
                <a:cs typeface="Arial"/>
              </a:defRPr>
            </a:pPr>
            <a:r>
              <a:rPr sz="975" b="1">
                <a:solidFill>
                  <a:srgbClr val="FFFFFF"/>
                </a:solidFill>
                <a:latin typeface="Arial"/>
                <a:ea typeface="Arial"/>
                <a:cs typeface="Arial"/>
              </a:rPr>
              <a:t>1</a:t>
            </a:r>
          </a:p>
        </p:txBody>
      </p:sp>
      <p:sp>
        <p:nvSpPr>
          <p:cNvPr id="8" name="">
            <a:extLst xmlns:a="http://schemas.openxmlformats.org/drawingml/2006/main">
              <a:ext uri="{FF2B5EF4-FFF2-40B4-BE49-F238E27FC236}">
                <a16:creationId xmlns:a16="http://schemas.microsoft.com/office/drawing/2014/main" id="{FBB969E9-DDC9-4011-85B7-23CF54F3C8B2}"/>
              </a:ext>
            </a:extLst>
          </p:cNvPr>
          <p:cNvSpPr>
            <a:spLocks xmlns:a="http://schemas.openxmlformats.org/drawingml/2006/main" noGrp="1"/>
          </p:cNvSpPr>
          <p:nvPr/>
        </p:nvSpPr>
        <p:spPr>
          <a:xfrm xmlns:a="http://schemas.openxmlformats.org/drawingml/2006/main">
            <a:off x="1257300" y="1943100"/>
            <a:ext cx="9525000" cy="647700"/>
          </a:xfrm>
          <a:prstGeom xmlns:a="http://schemas.openxmlformats.org/drawingml/2006/main" prst="roundRect">
            <a:avLst>
              <a:gd name="adj" fmla="val 11765"/>
            </a:avLst>
          </a:prstGeom>
          <a:solidFill xmlns:a="http://schemas.openxmlformats.org/drawingml/2006/main">
            <a:srgbClr val="F1D8D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D64D859-9EA7-4F1E-884F-2763DB7A61EA}"/>
              </a:ext>
            </a:extLst>
          </p:cNvPr>
          <p:cNvSpPr>
            <a:spLocks xmlns:a="http://schemas.openxmlformats.org/drawingml/2006/main" noGrp="1"/>
          </p:cNvSpPr>
          <p:nvPr/>
        </p:nvSpPr>
        <p:spPr>
          <a:xfrm xmlns:a="http://schemas.openxmlformats.org/drawingml/2006/main">
            <a:off x="1504950" y="2085975"/>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825"/>
          </a:bodyPr>
          <a:lstStyle xmlns:a="http://schemas.openxmlformats.org/drawingml/2006/main"/>
          <a:p xmlns:a="http://schemas.openxmlformats.org/drawingml/2006/main">
            <a:pPr>
              <a:defRPr sz="1575" b="1">
                <a:solidFill>
                  <a:srgbClr val="173B31"/>
                </a:solidFill>
                <a:latin typeface="Arial"/>
                <a:ea typeface="Arial"/>
                <a:cs typeface="Arial"/>
              </a:defRPr>
            </a:pPr>
            <a:r>
              <a:rPr sz="1575" b="1">
                <a:solidFill>
                  <a:srgbClr val="173B31"/>
                </a:solidFill>
                <a:latin typeface="Arial"/>
                <a:ea typeface="Arial"/>
                <a:cs typeface="Arial"/>
              </a:rPr>
              <a:t>Archive</a:t>
            </a:r>
          </a:p>
        </p:txBody>
      </p:sp>
      <p:sp>
        <p:nvSpPr>
          <p:cNvPr id="10" name="">
            <a:extLst xmlns:a="http://schemas.openxmlformats.org/drawingml/2006/main">
              <a:ext uri="{FF2B5EF4-FFF2-40B4-BE49-F238E27FC236}">
                <a16:creationId xmlns:a16="http://schemas.microsoft.com/office/drawing/2014/main" id="{B9F97D4C-6315-4D4E-8E3D-B5766EF3FB90}"/>
              </a:ext>
            </a:extLst>
          </p:cNvPr>
          <p:cNvSpPr>
            <a:spLocks xmlns:a="http://schemas.openxmlformats.org/drawingml/2006/main" noGrp="1"/>
          </p:cNvSpPr>
          <p:nvPr/>
        </p:nvSpPr>
        <p:spPr>
          <a:xfrm xmlns:a="http://schemas.openxmlformats.org/drawingml/2006/main">
            <a:off x="3238500" y="2095500"/>
            <a:ext cx="716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Hash each source file and preserve it unchanged.</a:t>
            </a:r>
          </a:p>
        </p:txBody>
      </p:sp>
      <p:sp>
        <p:nvSpPr>
          <p:cNvPr id="11" name="">
            <a:extLst xmlns:a="http://schemas.openxmlformats.org/drawingml/2006/main">
              <a:ext uri="{FF2B5EF4-FFF2-40B4-BE49-F238E27FC236}">
                <a16:creationId xmlns:a16="http://schemas.microsoft.com/office/drawing/2014/main" id="{31CE504F-EF62-4A2E-93D0-61527F6AC876}"/>
              </a:ext>
            </a:extLst>
          </p:cNvPr>
          <p:cNvSpPr>
            <a:spLocks xmlns:a="http://schemas.openxmlformats.org/drawingml/2006/main" noGrp="1"/>
          </p:cNvSpPr>
          <p:nvPr/>
        </p:nvSpPr>
        <p:spPr>
          <a:xfrm xmlns:a="http://schemas.openxmlformats.org/drawingml/2006/main">
            <a:off x="685800" y="2781300"/>
            <a:ext cx="419100" cy="419100"/>
          </a:xfrm>
          <a:prstGeom xmlns:a="http://schemas.openxmlformats.org/drawingml/2006/main" prst="ellipse">
            <a:avLst/>
          </a:prstGeom>
          <a:solidFill xmlns:a="http://schemas.openxmlformats.org/drawingml/2006/main">
            <a:srgbClr val="173B31"/>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27183BE-03C0-40E7-ACED-889D71DEF531}"/>
              </a:ext>
            </a:extLst>
          </p:cNvPr>
          <p:cNvSpPr>
            <a:spLocks xmlns:a="http://schemas.openxmlformats.org/drawingml/2006/main" noGrp="1"/>
          </p:cNvSpPr>
          <p:nvPr/>
        </p:nvSpPr>
        <p:spPr>
          <a:xfrm xmlns:a="http://schemas.openxmlformats.org/drawingml/2006/main">
            <a:off x="800100" y="28289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1">
                <a:solidFill>
                  <a:srgbClr val="FFFFFF"/>
                </a:solidFill>
                <a:latin typeface="Arial"/>
                <a:ea typeface="Arial"/>
                <a:cs typeface="Arial"/>
              </a:defRPr>
            </a:pPr>
            <a:r>
              <a:rPr sz="975" b="1">
                <a:solidFill>
                  <a:srgbClr val="FFFFF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0839990B-F56A-438F-98B0-026CE3518A85}"/>
              </a:ext>
            </a:extLst>
          </p:cNvPr>
          <p:cNvSpPr>
            <a:spLocks xmlns:a="http://schemas.openxmlformats.org/drawingml/2006/main" noGrp="1"/>
          </p:cNvSpPr>
          <p:nvPr/>
        </p:nvSpPr>
        <p:spPr>
          <a:xfrm xmlns:a="http://schemas.openxmlformats.org/drawingml/2006/main">
            <a:off x="1257300" y="2743200"/>
            <a:ext cx="9525000" cy="647700"/>
          </a:xfrm>
          <a:prstGeom xmlns:a="http://schemas.openxmlformats.org/drawingml/2006/main" prst="roundRect">
            <a:avLst>
              <a:gd name="adj" fmla="val 11765"/>
            </a:avLst>
          </a:prstGeom>
          <a:solidFill xmlns:a="http://schemas.openxmlformats.org/drawingml/2006/main">
            <a:srgbClr val="F5E7C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69AD427-661F-457D-B01E-065747AECD9E}"/>
              </a:ext>
            </a:extLst>
          </p:cNvPr>
          <p:cNvSpPr>
            <a:spLocks xmlns:a="http://schemas.openxmlformats.org/drawingml/2006/main" noGrp="1"/>
          </p:cNvSpPr>
          <p:nvPr/>
        </p:nvSpPr>
        <p:spPr>
          <a:xfrm xmlns:a="http://schemas.openxmlformats.org/drawingml/2006/main">
            <a:off x="1504950" y="2886075"/>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825"/>
          </a:bodyPr>
          <a:lstStyle xmlns:a="http://schemas.openxmlformats.org/drawingml/2006/main"/>
          <a:p xmlns:a="http://schemas.openxmlformats.org/drawingml/2006/main">
            <a:pPr>
              <a:defRPr sz="1575" b="1">
                <a:solidFill>
                  <a:srgbClr val="173B31"/>
                </a:solidFill>
                <a:latin typeface="Arial"/>
                <a:ea typeface="Arial"/>
                <a:cs typeface="Arial"/>
              </a:defRPr>
            </a:pPr>
            <a:r>
              <a:rPr sz="1575" b="1">
                <a:solidFill>
                  <a:srgbClr val="173B31"/>
                </a:solidFill>
                <a:latin typeface="Arial"/>
                <a:ea typeface="Arial"/>
                <a:cs typeface="Arial"/>
              </a:rPr>
              <a:t>Profile</a:t>
            </a:r>
          </a:p>
        </p:txBody>
      </p:sp>
      <p:sp>
        <p:nvSpPr>
          <p:cNvPr id="15" name="">
            <a:extLst xmlns:a="http://schemas.openxmlformats.org/drawingml/2006/main">
              <a:ext uri="{FF2B5EF4-FFF2-40B4-BE49-F238E27FC236}">
                <a16:creationId xmlns:a16="http://schemas.microsoft.com/office/drawing/2014/main" id="{2B4B12D5-6859-4630-B1AF-30C0AD9E475B}"/>
              </a:ext>
            </a:extLst>
          </p:cNvPr>
          <p:cNvSpPr>
            <a:spLocks xmlns:a="http://schemas.openxmlformats.org/drawingml/2006/main" noGrp="1"/>
          </p:cNvSpPr>
          <p:nvPr/>
        </p:nvSpPr>
        <p:spPr>
          <a:xfrm xmlns:a="http://schemas.openxmlformats.org/drawingml/2006/main">
            <a:off x="3238500" y="2895600"/>
            <a:ext cx="716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Count rows, columns, nulls, duplicates, regions and labels.</a:t>
            </a:r>
          </a:p>
        </p:txBody>
      </p:sp>
      <p:sp>
        <p:nvSpPr>
          <p:cNvPr id="16" name="">
            <a:extLst xmlns:a="http://schemas.openxmlformats.org/drawingml/2006/main">
              <a:ext uri="{FF2B5EF4-FFF2-40B4-BE49-F238E27FC236}">
                <a16:creationId xmlns:a16="http://schemas.microsoft.com/office/drawing/2014/main" id="{18D6A4E1-2F11-4935-B591-3EF01F7E5B4A}"/>
              </a:ext>
            </a:extLst>
          </p:cNvPr>
          <p:cNvSpPr>
            <a:spLocks xmlns:a="http://schemas.openxmlformats.org/drawingml/2006/main" noGrp="1"/>
          </p:cNvSpPr>
          <p:nvPr/>
        </p:nvSpPr>
        <p:spPr>
          <a:xfrm xmlns:a="http://schemas.openxmlformats.org/drawingml/2006/main">
            <a:off x="685800" y="3581400"/>
            <a:ext cx="419100" cy="419100"/>
          </a:xfrm>
          <a:prstGeom xmlns:a="http://schemas.openxmlformats.org/drawingml/2006/main" prst="ellipse">
            <a:avLst/>
          </a:prstGeom>
          <a:solidFill xmlns:a="http://schemas.openxmlformats.org/drawingml/2006/main">
            <a:srgbClr val="173B31"/>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58D1BED-9E8C-4737-B6F2-1AF970AD5C96}"/>
              </a:ext>
            </a:extLst>
          </p:cNvPr>
          <p:cNvSpPr>
            <a:spLocks xmlns:a="http://schemas.openxmlformats.org/drawingml/2006/main" noGrp="1"/>
          </p:cNvSpPr>
          <p:nvPr/>
        </p:nvSpPr>
        <p:spPr>
          <a:xfrm xmlns:a="http://schemas.openxmlformats.org/drawingml/2006/main">
            <a:off x="800100" y="36290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1">
                <a:solidFill>
                  <a:srgbClr val="FFFFFF"/>
                </a:solidFill>
                <a:latin typeface="Arial"/>
                <a:ea typeface="Arial"/>
                <a:cs typeface="Arial"/>
              </a:defRPr>
            </a:pPr>
            <a:r>
              <a:rPr sz="975" b="1">
                <a:solidFill>
                  <a:srgbClr val="FFFFFF"/>
                </a:solidFill>
                <a:latin typeface="Arial"/>
                <a:ea typeface="Arial"/>
                <a:cs typeface="Arial"/>
              </a:rPr>
              <a:t>3</a:t>
            </a:r>
          </a:p>
        </p:txBody>
      </p:sp>
      <p:sp>
        <p:nvSpPr>
          <p:cNvPr id="18" name="">
            <a:extLst xmlns:a="http://schemas.openxmlformats.org/drawingml/2006/main">
              <a:ext uri="{FF2B5EF4-FFF2-40B4-BE49-F238E27FC236}">
                <a16:creationId xmlns:a16="http://schemas.microsoft.com/office/drawing/2014/main" id="{B72E99ED-1DB5-4EEC-8478-533FFA3FBE56}"/>
              </a:ext>
            </a:extLst>
          </p:cNvPr>
          <p:cNvSpPr>
            <a:spLocks xmlns:a="http://schemas.openxmlformats.org/drawingml/2006/main" noGrp="1"/>
          </p:cNvSpPr>
          <p:nvPr/>
        </p:nvSpPr>
        <p:spPr>
          <a:xfrm xmlns:a="http://schemas.openxmlformats.org/drawingml/2006/main">
            <a:off x="1257300" y="3543300"/>
            <a:ext cx="9525000" cy="647700"/>
          </a:xfrm>
          <a:prstGeom xmlns:a="http://schemas.openxmlformats.org/drawingml/2006/main" prst="roundRect">
            <a:avLst>
              <a:gd name="adj" fmla="val 11765"/>
            </a:avLst>
          </a:prstGeom>
          <a:solidFill xmlns:a="http://schemas.openxmlformats.org/drawingml/2006/main">
            <a:srgbClr val="DDECE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05BFE58-6955-4C99-B96A-ADD673731F87}"/>
              </a:ext>
            </a:extLst>
          </p:cNvPr>
          <p:cNvSpPr>
            <a:spLocks xmlns:a="http://schemas.openxmlformats.org/drawingml/2006/main" noGrp="1"/>
          </p:cNvSpPr>
          <p:nvPr/>
        </p:nvSpPr>
        <p:spPr>
          <a:xfrm xmlns:a="http://schemas.openxmlformats.org/drawingml/2006/main">
            <a:off x="1504950" y="3686175"/>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825"/>
          </a:bodyPr>
          <a:lstStyle xmlns:a="http://schemas.openxmlformats.org/drawingml/2006/main"/>
          <a:p xmlns:a="http://schemas.openxmlformats.org/drawingml/2006/main">
            <a:pPr>
              <a:defRPr sz="1575" b="1">
                <a:solidFill>
                  <a:srgbClr val="173B31"/>
                </a:solidFill>
                <a:latin typeface="Arial"/>
                <a:ea typeface="Arial"/>
                <a:cs typeface="Arial"/>
              </a:defRPr>
            </a:pPr>
            <a:r>
              <a:rPr sz="1575" b="1">
                <a:solidFill>
                  <a:srgbClr val="173B31"/>
                </a:solidFill>
                <a:latin typeface="Arial"/>
                <a:ea typeface="Arial"/>
                <a:cs typeface="Arial"/>
              </a:rPr>
              <a:t>Clean</a:t>
            </a:r>
          </a:p>
        </p:txBody>
      </p:sp>
      <p:sp>
        <p:nvSpPr>
          <p:cNvPr id="20" name="">
            <a:extLst xmlns:a="http://schemas.openxmlformats.org/drawingml/2006/main">
              <a:ext uri="{FF2B5EF4-FFF2-40B4-BE49-F238E27FC236}">
                <a16:creationId xmlns:a16="http://schemas.microsoft.com/office/drawing/2014/main" id="{235E4A87-0A38-48F2-BD75-A1400F37A1AF}"/>
              </a:ext>
            </a:extLst>
          </p:cNvPr>
          <p:cNvSpPr>
            <a:spLocks xmlns:a="http://schemas.openxmlformats.org/drawingml/2006/main" noGrp="1"/>
          </p:cNvSpPr>
          <p:nvPr/>
        </p:nvSpPr>
        <p:spPr>
          <a:xfrm xmlns:a="http://schemas.openxmlformats.org/drawingml/2006/main">
            <a:off x="3238500" y="3695700"/>
            <a:ext cx="716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Normalize types and exact duplicates without inventing values.</a:t>
            </a:r>
          </a:p>
        </p:txBody>
      </p:sp>
      <p:sp>
        <p:nvSpPr>
          <p:cNvPr id="21" name="">
            <a:extLst xmlns:a="http://schemas.openxmlformats.org/drawingml/2006/main">
              <a:ext uri="{FF2B5EF4-FFF2-40B4-BE49-F238E27FC236}">
                <a16:creationId xmlns:a16="http://schemas.microsoft.com/office/drawing/2014/main" id="{036C1C82-1A8A-4618-AD27-1AC1CE7E6989}"/>
              </a:ext>
            </a:extLst>
          </p:cNvPr>
          <p:cNvSpPr>
            <a:spLocks xmlns:a="http://schemas.openxmlformats.org/drawingml/2006/main" noGrp="1"/>
          </p:cNvSpPr>
          <p:nvPr/>
        </p:nvSpPr>
        <p:spPr>
          <a:xfrm xmlns:a="http://schemas.openxmlformats.org/drawingml/2006/main">
            <a:off x="685800" y="4381500"/>
            <a:ext cx="419100" cy="419100"/>
          </a:xfrm>
          <a:prstGeom xmlns:a="http://schemas.openxmlformats.org/drawingml/2006/main" prst="ellipse">
            <a:avLst/>
          </a:prstGeom>
          <a:solidFill xmlns:a="http://schemas.openxmlformats.org/drawingml/2006/main">
            <a:srgbClr val="173B31"/>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47F3AFE-4F29-4E41-9E2B-6B3E85161E8D}"/>
              </a:ext>
            </a:extLst>
          </p:cNvPr>
          <p:cNvSpPr>
            <a:spLocks xmlns:a="http://schemas.openxmlformats.org/drawingml/2006/main" noGrp="1"/>
          </p:cNvSpPr>
          <p:nvPr/>
        </p:nvSpPr>
        <p:spPr>
          <a:xfrm xmlns:a="http://schemas.openxmlformats.org/drawingml/2006/main">
            <a:off x="800100" y="44291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1">
                <a:solidFill>
                  <a:srgbClr val="FFFFFF"/>
                </a:solidFill>
                <a:latin typeface="Arial"/>
                <a:ea typeface="Arial"/>
                <a:cs typeface="Arial"/>
              </a:defRPr>
            </a:pPr>
            <a:r>
              <a:rPr sz="975" b="1">
                <a:solidFill>
                  <a:srgbClr val="FFFFFF"/>
                </a:solidFill>
                <a:latin typeface="Arial"/>
                <a:ea typeface="Arial"/>
                <a:cs typeface="Arial"/>
              </a:rPr>
              <a:t>4</a:t>
            </a:r>
          </a:p>
        </p:txBody>
      </p:sp>
      <p:sp>
        <p:nvSpPr>
          <p:cNvPr id="23" name="">
            <a:extLst xmlns:a="http://schemas.openxmlformats.org/drawingml/2006/main">
              <a:ext uri="{FF2B5EF4-FFF2-40B4-BE49-F238E27FC236}">
                <a16:creationId xmlns:a16="http://schemas.microsoft.com/office/drawing/2014/main" id="{82958A69-65FE-4A26-A7DC-D56F49D27FB0}"/>
              </a:ext>
            </a:extLst>
          </p:cNvPr>
          <p:cNvSpPr>
            <a:spLocks xmlns:a="http://schemas.openxmlformats.org/drawingml/2006/main" noGrp="1"/>
          </p:cNvSpPr>
          <p:nvPr/>
        </p:nvSpPr>
        <p:spPr>
          <a:xfrm xmlns:a="http://schemas.openxmlformats.org/drawingml/2006/main">
            <a:off x="1257300" y="4343400"/>
            <a:ext cx="9525000" cy="647700"/>
          </a:xfrm>
          <a:prstGeom xmlns:a="http://schemas.openxmlformats.org/drawingml/2006/main" prst="roundRect">
            <a:avLst>
              <a:gd name="adj" fmla="val 11765"/>
            </a:avLst>
          </a:prstGeom>
          <a:solidFill xmlns:a="http://schemas.openxmlformats.org/drawingml/2006/main">
            <a:srgbClr val="DFE9F4"/>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A40F1CF-6E4E-495B-B700-9568694CA721}"/>
              </a:ext>
            </a:extLst>
          </p:cNvPr>
          <p:cNvSpPr>
            <a:spLocks xmlns:a="http://schemas.openxmlformats.org/drawingml/2006/main" noGrp="1"/>
          </p:cNvSpPr>
          <p:nvPr/>
        </p:nvSpPr>
        <p:spPr>
          <a:xfrm xmlns:a="http://schemas.openxmlformats.org/drawingml/2006/main">
            <a:off x="1504950" y="4486275"/>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825"/>
          </a:bodyPr>
          <a:lstStyle xmlns:a="http://schemas.openxmlformats.org/drawingml/2006/main"/>
          <a:p xmlns:a="http://schemas.openxmlformats.org/drawingml/2006/main">
            <a:pPr>
              <a:defRPr sz="1575" b="1">
                <a:solidFill>
                  <a:srgbClr val="173B31"/>
                </a:solidFill>
                <a:latin typeface="Arial"/>
                <a:ea typeface="Arial"/>
                <a:cs typeface="Arial"/>
              </a:defRPr>
            </a:pPr>
            <a:r>
              <a:rPr sz="1575" b="1">
                <a:solidFill>
                  <a:srgbClr val="173B31"/>
                </a:solidFill>
                <a:latin typeface="Arial"/>
                <a:ea typeface="Arial"/>
                <a:cs typeface="Arial"/>
              </a:rPr>
              <a:t>Load</a:t>
            </a:r>
          </a:p>
        </p:txBody>
      </p:sp>
      <p:sp>
        <p:nvSpPr>
          <p:cNvPr id="25" name="">
            <a:extLst xmlns:a="http://schemas.openxmlformats.org/drawingml/2006/main">
              <a:ext uri="{FF2B5EF4-FFF2-40B4-BE49-F238E27FC236}">
                <a16:creationId xmlns:a16="http://schemas.microsoft.com/office/drawing/2014/main" id="{1403AEE7-589B-4B8F-A2B3-52E8438599FE}"/>
              </a:ext>
            </a:extLst>
          </p:cNvPr>
          <p:cNvSpPr>
            <a:spLocks xmlns:a="http://schemas.openxmlformats.org/drawingml/2006/main" noGrp="1"/>
          </p:cNvSpPr>
          <p:nvPr/>
        </p:nvSpPr>
        <p:spPr>
          <a:xfrm xmlns:a="http://schemas.openxmlformats.org/drawingml/2006/main">
            <a:off x="3238500" y="4495800"/>
            <a:ext cx="716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Write constrained relational tables inside one transaction.</a:t>
            </a:r>
          </a:p>
        </p:txBody>
      </p:sp>
      <p:sp>
        <p:nvSpPr>
          <p:cNvPr id="26" name="">
            <a:extLst xmlns:a="http://schemas.openxmlformats.org/drawingml/2006/main">
              <a:ext uri="{FF2B5EF4-FFF2-40B4-BE49-F238E27FC236}">
                <a16:creationId xmlns:a16="http://schemas.microsoft.com/office/drawing/2014/main" id="{E5661865-4AE4-4235-9FC3-12325248F926}"/>
              </a:ext>
            </a:extLst>
          </p:cNvPr>
          <p:cNvSpPr>
            <a:spLocks xmlns:a="http://schemas.openxmlformats.org/drawingml/2006/main" noGrp="1"/>
          </p:cNvSpPr>
          <p:nvPr/>
        </p:nvSpPr>
        <p:spPr>
          <a:xfrm xmlns:a="http://schemas.openxmlformats.org/drawingml/2006/main">
            <a:off x="685800" y="5181600"/>
            <a:ext cx="419100" cy="419100"/>
          </a:xfrm>
          <a:prstGeom xmlns:a="http://schemas.openxmlformats.org/drawingml/2006/main" prst="ellipse">
            <a:avLst/>
          </a:prstGeom>
          <a:solidFill xmlns:a="http://schemas.openxmlformats.org/drawingml/2006/main">
            <a:srgbClr val="173B31"/>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97A3C02-F86A-4741-A25F-FF8099236F57}"/>
              </a:ext>
            </a:extLst>
          </p:cNvPr>
          <p:cNvSpPr>
            <a:spLocks xmlns:a="http://schemas.openxmlformats.org/drawingml/2006/main" noGrp="1"/>
          </p:cNvSpPr>
          <p:nvPr/>
        </p:nvSpPr>
        <p:spPr>
          <a:xfrm xmlns:a="http://schemas.openxmlformats.org/drawingml/2006/main">
            <a:off x="800100" y="5229225"/>
            <a:ext cx="28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975" b="1">
                <a:solidFill>
                  <a:srgbClr val="FFFFFF"/>
                </a:solidFill>
                <a:latin typeface="Arial"/>
                <a:ea typeface="Arial"/>
                <a:cs typeface="Arial"/>
              </a:defRPr>
            </a:pPr>
            <a:r>
              <a:rPr sz="975" b="1">
                <a:solidFill>
                  <a:srgbClr val="FFFFFF"/>
                </a:solidFill>
                <a:latin typeface="Arial"/>
                <a:ea typeface="Arial"/>
                <a:cs typeface="Arial"/>
              </a:rPr>
              <a:t>5</a:t>
            </a:r>
          </a:p>
        </p:txBody>
      </p:sp>
      <p:sp>
        <p:nvSpPr>
          <p:cNvPr id="28" name="">
            <a:extLst xmlns:a="http://schemas.openxmlformats.org/drawingml/2006/main">
              <a:ext uri="{FF2B5EF4-FFF2-40B4-BE49-F238E27FC236}">
                <a16:creationId xmlns:a16="http://schemas.microsoft.com/office/drawing/2014/main" id="{07C7F7CC-EF5C-43B9-83C2-157893FB78CC}"/>
              </a:ext>
            </a:extLst>
          </p:cNvPr>
          <p:cNvSpPr>
            <a:spLocks xmlns:a="http://schemas.openxmlformats.org/drawingml/2006/main" noGrp="1"/>
          </p:cNvSpPr>
          <p:nvPr/>
        </p:nvSpPr>
        <p:spPr>
          <a:xfrm xmlns:a="http://schemas.openxmlformats.org/drawingml/2006/main">
            <a:off x="1257300" y="5143500"/>
            <a:ext cx="9525000" cy="647700"/>
          </a:xfrm>
          <a:prstGeom xmlns:a="http://schemas.openxmlformats.org/drawingml/2006/main" prst="roundRect">
            <a:avLst>
              <a:gd name="adj" fmla="val 11765"/>
            </a:avLst>
          </a:prstGeom>
          <a:solidFill xmlns:a="http://schemas.openxmlformats.org/drawingml/2006/main">
            <a:srgbClr val="EFE4F5"/>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BC29F8D-9BED-46EE-A2CE-14DCE28EC41E}"/>
              </a:ext>
            </a:extLst>
          </p:cNvPr>
          <p:cNvSpPr>
            <a:spLocks xmlns:a="http://schemas.openxmlformats.org/drawingml/2006/main" noGrp="1"/>
          </p:cNvSpPr>
          <p:nvPr/>
        </p:nvSpPr>
        <p:spPr>
          <a:xfrm xmlns:a="http://schemas.openxmlformats.org/drawingml/2006/main">
            <a:off x="1504950" y="5286375"/>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825"/>
          </a:bodyPr>
          <a:lstStyle xmlns:a="http://schemas.openxmlformats.org/drawingml/2006/main"/>
          <a:p xmlns:a="http://schemas.openxmlformats.org/drawingml/2006/main">
            <a:pPr>
              <a:defRPr sz="1575" b="1">
                <a:solidFill>
                  <a:srgbClr val="173B31"/>
                </a:solidFill>
                <a:latin typeface="Arial"/>
                <a:ea typeface="Arial"/>
                <a:cs typeface="Arial"/>
              </a:defRPr>
            </a:pPr>
            <a:r>
              <a:rPr sz="1575" b="1">
                <a:solidFill>
                  <a:srgbClr val="173B31"/>
                </a:solidFill>
                <a:latin typeface="Arial"/>
                <a:ea typeface="Arial"/>
                <a:cs typeface="Arial"/>
              </a:rPr>
              <a:t>Verify</a:t>
            </a:r>
          </a:p>
        </p:txBody>
      </p:sp>
      <p:sp>
        <p:nvSpPr>
          <p:cNvPr id="30" name="">
            <a:extLst xmlns:a="http://schemas.openxmlformats.org/drawingml/2006/main">
              <a:ext uri="{FF2B5EF4-FFF2-40B4-BE49-F238E27FC236}">
                <a16:creationId xmlns:a16="http://schemas.microsoft.com/office/drawing/2014/main" id="{A181C085-7613-4622-8A63-0F4A70916BAC}"/>
              </a:ext>
            </a:extLst>
          </p:cNvPr>
          <p:cNvSpPr>
            <a:spLocks xmlns:a="http://schemas.openxmlformats.org/drawingml/2006/main" noGrp="1"/>
          </p:cNvSpPr>
          <p:nvPr/>
        </p:nvSpPr>
        <p:spPr>
          <a:xfrm xmlns:a="http://schemas.openxmlformats.org/drawingml/2006/main">
            <a:off x="3238500" y="5295900"/>
            <a:ext cx="716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Compare database counts with the quality report and archive hash.</a:t>
            </a:r>
          </a:p>
        </p:txBody>
      </p:sp>
      <p:sp>
        <p:nvSpPr>
          <p:cNvPr id="31" name="">
            <a:extLst xmlns:a="http://schemas.openxmlformats.org/drawingml/2006/main">
              <a:ext uri="{FF2B5EF4-FFF2-40B4-BE49-F238E27FC236}">
                <a16:creationId xmlns:a16="http://schemas.microsoft.com/office/drawing/2014/main" id="{53F50B41-CDA3-4E8A-B744-76B03971C040}"/>
              </a:ext>
            </a:extLst>
          </p:cNvPr>
          <p:cNvSpPr>
            <a:spLocks xmlns:a="http://schemas.openxmlformats.org/drawingml/2006/main" noGrp="1"/>
          </p:cNvSpPr>
          <p:nvPr/>
        </p:nvSpPr>
        <p:spPr>
          <a:xfrm xmlns:a="http://schemas.openxmlformats.org/drawingml/2006/main">
            <a:off x="1257300" y="6019800"/>
            <a:ext cx="9391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a:solidFill>
                  <a:srgbClr val="C64235"/>
                </a:solidFill>
                <a:latin typeface="Arial"/>
                <a:ea typeface="Arial"/>
                <a:cs typeface="Arial"/>
              </a:defRPr>
            </a:pPr>
            <a:r>
              <a:rPr sz="1350" b="1">
                <a:solidFill>
                  <a:srgbClr val="C64235"/>
                </a:solidFill>
                <a:latin typeface="Arial"/>
                <a:ea typeface="Arial"/>
                <a:cs typeface="Arial"/>
              </a:rPr>
              <a:t>No silent imputation. No synthetic rows. No raw HTML in public features.</a:t>
            </a:r>
          </a:p>
        </p:txBody>
      </p:sp>
    </p:spTree>
    <p:extLst>
      <p:ext uri="{BB962C8B-B14F-4D97-AF65-F5344CB8AC3E}">
        <p14:creationId xmlns:p14="http://schemas.microsoft.com/office/powerpoint/2010/main" val="1965878097"/>
      </p:ext>
    </p:extLst>
  </p:cSld>
</p:sld>
</file>

<file path=ppt/slides/slide8.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EC370F6-9DAE-42ED-AE61-215ED8FE829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D7A6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8CA3C3-CD8E-4301-B1E7-936BFBC3A00A}"/>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ANALYSIS</a:t>
            </a:r>
          </a:p>
        </p:txBody>
      </p:sp>
      <p:sp>
        <p:nvSpPr>
          <p:cNvPr id="3" name="">
            <a:extLst xmlns:a="http://schemas.openxmlformats.org/drawingml/2006/main">
              <a:ext uri="{FF2B5EF4-FFF2-40B4-BE49-F238E27FC236}">
                <a16:creationId xmlns:a16="http://schemas.microsoft.com/office/drawing/2014/main" id="{6A05F5CF-BF4D-4EE1-A001-55716D6727F4}"/>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SQL is the analytical backbone.</a:t>
            </a:r>
          </a:p>
        </p:txBody>
      </p:sp>
      <p:sp>
        <p:nvSpPr>
          <p:cNvPr id="4" name="">
            <a:extLst xmlns:a="http://schemas.openxmlformats.org/drawingml/2006/main">
              <a:ext uri="{FF2B5EF4-FFF2-40B4-BE49-F238E27FC236}">
                <a16:creationId xmlns:a16="http://schemas.microsoft.com/office/drawing/2014/main" id="{FA510544-85E7-4182-9394-4374056D67AB}"/>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Reusable views answer the same questions that appear in the dashboard.</a:t>
            </a:r>
          </a:p>
        </p:txBody>
      </p:sp>
      <p:sp>
        <p:nvSpPr>
          <p:cNvPr id="5" name="">
            <a:extLst xmlns:a="http://schemas.openxmlformats.org/drawingml/2006/main">
              <a:ext uri="{FF2B5EF4-FFF2-40B4-BE49-F238E27FC236}">
                <a16:creationId xmlns:a16="http://schemas.microsoft.com/office/drawing/2014/main" id="{1C90081D-3B18-423B-AA69-B64E9B82007C}"/>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08</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dd0cf413c7434103"/>
          <a:srcRect xmlns:a="http://schemas.openxmlformats.org/drawingml/2006/main" l="0" t="5288" r="0" b="5288"/>
          <a:stretch xmlns:a="http://schemas.openxmlformats.org/drawingml/2006/main">
            <a:fillRect l="0" t="0" r="0" b="0"/>
          </a:stretch>
        </p:blipFill>
        <p:spPr>
          <a:xfrm xmlns:a="http://schemas.openxmlformats.org/drawingml/2006/main">
            <a:off x="552450" y="1924050"/>
            <a:ext cx="6667500" cy="4095750"/>
          </a:xfrm>
          <a:prstGeom xmlns:a="http://schemas.openxmlformats.org/drawingml/2006/main" prst="roundRect">
            <a:avLst>
              <a:gd name="adj" fmla="val 2791"/>
            </a:avLst>
          </a:prstGeom>
        </p:spPr>
      </p:pic>
      <p:sp>
        <p:nvSpPr>
          <p:cNvPr id="7" name="">
            <a:extLst xmlns:a="http://schemas.openxmlformats.org/drawingml/2006/main">
              <a:ext uri="{FF2B5EF4-FFF2-40B4-BE49-F238E27FC236}">
                <a16:creationId xmlns:a16="http://schemas.microsoft.com/office/drawing/2014/main" id="{BF495480-0FD0-4E72-967A-DDD53813050C}"/>
              </a:ext>
            </a:extLst>
          </p:cNvPr>
          <p:cNvSpPr>
            <a:spLocks xmlns:a="http://schemas.openxmlformats.org/drawingml/2006/main" noGrp="1"/>
          </p:cNvSpPr>
          <p:nvPr/>
        </p:nvSpPr>
        <p:spPr>
          <a:xfrm xmlns:a="http://schemas.openxmlformats.org/drawingml/2006/main">
            <a:off x="7677150" y="2057400"/>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defRPr sz="1650" b="1">
                <a:solidFill>
                  <a:srgbClr val="173B31"/>
                </a:solidFill>
                <a:latin typeface="Arial"/>
                <a:ea typeface="Arial"/>
                <a:cs typeface="Arial"/>
              </a:defRPr>
            </a:pPr>
            <a:r>
              <a:rPr sz="1650" b="1">
                <a:solidFill>
                  <a:srgbClr val="173B31"/>
                </a:solidFill>
                <a:latin typeface="Arial"/>
                <a:ea typeface="Arial"/>
                <a:cs typeface="Arial"/>
              </a:rPr>
              <a:t>Questions answered</a:t>
            </a:r>
          </a:p>
        </p:txBody>
      </p:sp>
      <p:sp>
        <p:nvSpPr>
          <p:cNvPr id="8" name="">
            <a:extLst xmlns:a="http://schemas.openxmlformats.org/drawingml/2006/main">
              <a:ext uri="{FF2B5EF4-FFF2-40B4-BE49-F238E27FC236}">
                <a16:creationId xmlns:a16="http://schemas.microsoft.com/office/drawing/2014/main" id="{BD5BACAB-0BBB-4839-96E3-CB2A5C4A82D3}"/>
              </a:ext>
            </a:extLst>
          </p:cNvPr>
          <p:cNvSpPr>
            <a:spLocks xmlns:a="http://schemas.openxmlformats.org/drawingml/2006/main" noGrp="1"/>
          </p:cNvSpPr>
          <p:nvPr/>
        </p:nvSpPr>
        <p:spPr>
          <a:xfrm xmlns:a="http://schemas.openxmlformats.org/drawingml/2006/main">
            <a:off x="7677150" y="2571750"/>
            <a:ext cx="247650" cy="247650"/>
          </a:xfrm>
          <a:prstGeom xmlns:a="http://schemas.openxmlformats.org/drawingml/2006/main" prst="ellipse">
            <a:avLst/>
          </a:prstGeom>
          <a:solidFill xmlns:a="http://schemas.openxmlformats.org/drawingml/2006/main">
            <a:srgbClr val="C64235"/>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B74FF0-8DAA-4B69-A656-FC5ADDA365B7}"/>
              </a:ext>
            </a:extLst>
          </p:cNvPr>
          <p:cNvSpPr>
            <a:spLocks xmlns:a="http://schemas.openxmlformats.org/drawingml/2006/main" noGrp="1"/>
          </p:cNvSpPr>
          <p:nvPr/>
        </p:nvSpPr>
        <p:spPr>
          <a:xfrm xmlns:a="http://schemas.openxmlformats.org/drawingml/2006/main">
            <a:off x="7762875" y="2619375"/>
            <a:ext cx="114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825" b="1">
                <a:solidFill>
                  <a:srgbClr val="FFFFFF"/>
                </a:solidFill>
                <a:latin typeface="Arial"/>
                <a:ea typeface="Arial"/>
                <a:cs typeface="Arial"/>
              </a:defRPr>
            </a:pPr>
            <a:r>
              <a:rPr sz="825" b="1">
                <a:solidFill>
                  <a:srgbClr val="FFFFFF"/>
                </a:solidFill>
                <a:latin typeface="Arial"/>
                <a:ea typeface="Arial"/>
                <a:cs typeface="Arial"/>
              </a:rPr>
              <a:t>1</a:t>
            </a:r>
          </a:p>
        </p:txBody>
      </p:sp>
      <p:sp>
        <p:nvSpPr>
          <p:cNvPr id="10" name="">
            <a:extLst xmlns:a="http://schemas.openxmlformats.org/drawingml/2006/main">
              <a:ext uri="{FF2B5EF4-FFF2-40B4-BE49-F238E27FC236}">
                <a16:creationId xmlns:a16="http://schemas.microsoft.com/office/drawing/2014/main" id="{38E7AA06-EC42-44E5-94CD-7D8940F0B0F8}"/>
              </a:ext>
            </a:extLst>
          </p:cNvPr>
          <p:cNvSpPr>
            <a:spLocks xmlns:a="http://schemas.openxmlformats.org/drawingml/2006/main" noGrp="1"/>
          </p:cNvSpPr>
          <p:nvPr/>
        </p:nvSpPr>
        <p:spPr>
          <a:xfrm xmlns:a="http://schemas.openxmlformats.org/drawingml/2006/main">
            <a:off x="8077200" y="2552700"/>
            <a:ext cx="3067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1">
                <a:solidFill>
                  <a:srgbClr val="1D2B27"/>
                </a:solidFill>
                <a:latin typeface="Arial"/>
                <a:ea typeface="Arial"/>
                <a:cs typeface="Arial"/>
              </a:defRPr>
            </a:pPr>
            <a:r>
              <a:rPr sz="1275" b="1">
                <a:solidFill>
                  <a:srgbClr val="1D2B27"/>
                </a:solidFill>
                <a:latin typeface="Arial"/>
                <a:ea typeface="Arial"/>
                <a:cs typeface="Arial"/>
              </a:rPr>
              <a:t>How many venues remain after exact deduplication?</a:t>
            </a:r>
          </a:p>
        </p:txBody>
      </p:sp>
      <p:sp>
        <p:nvSpPr>
          <p:cNvPr id="11" name="">
            <a:extLst xmlns:a="http://schemas.openxmlformats.org/drawingml/2006/main">
              <a:ext uri="{FF2B5EF4-FFF2-40B4-BE49-F238E27FC236}">
                <a16:creationId xmlns:a16="http://schemas.microsoft.com/office/drawing/2014/main" id="{4D833BB4-3B05-43BD-A8DC-01BBFF9DF89B}"/>
              </a:ext>
            </a:extLst>
          </p:cNvPr>
          <p:cNvSpPr>
            <a:spLocks xmlns:a="http://schemas.openxmlformats.org/drawingml/2006/main" noGrp="1"/>
          </p:cNvSpPr>
          <p:nvPr/>
        </p:nvSpPr>
        <p:spPr>
          <a:xfrm xmlns:a="http://schemas.openxmlformats.org/drawingml/2006/main">
            <a:off x="7677150" y="3314700"/>
            <a:ext cx="247650" cy="247650"/>
          </a:xfrm>
          <a:prstGeom xmlns:a="http://schemas.openxmlformats.org/drawingml/2006/main" prst="ellipse">
            <a:avLst/>
          </a:prstGeom>
          <a:solidFill xmlns:a="http://schemas.openxmlformats.org/drawingml/2006/main">
            <a:srgbClr val="2D7A6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F1C9E3C-506A-4938-AA1C-17A0EF683121}"/>
              </a:ext>
            </a:extLst>
          </p:cNvPr>
          <p:cNvSpPr>
            <a:spLocks xmlns:a="http://schemas.openxmlformats.org/drawingml/2006/main" noGrp="1"/>
          </p:cNvSpPr>
          <p:nvPr/>
        </p:nvSpPr>
        <p:spPr>
          <a:xfrm xmlns:a="http://schemas.openxmlformats.org/drawingml/2006/main">
            <a:off x="7762875" y="3362325"/>
            <a:ext cx="114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825" b="1">
                <a:solidFill>
                  <a:srgbClr val="FFFFFF"/>
                </a:solidFill>
                <a:latin typeface="Arial"/>
                <a:ea typeface="Arial"/>
                <a:cs typeface="Arial"/>
              </a:defRPr>
            </a:pPr>
            <a:r>
              <a:rPr sz="825" b="1">
                <a:solidFill>
                  <a:srgbClr val="FFFFF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FF511EA-D5C6-4F92-8E90-9746619DCC59}"/>
              </a:ext>
            </a:extLst>
          </p:cNvPr>
          <p:cNvSpPr>
            <a:spLocks xmlns:a="http://schemas.openxmlformats.org/drawingml/2006/main" noGrp="1"/>
          </p:cNvSpPr>
          <p:nvPr/>
        </p:nvSpPr>
        <p:spPr>
          <a:xfrm xmlns:a="http://schemas.openxmlformats.org/drawingml/2006/main">
            <a:off x="8077200" y="3295650"/>
            <a:ext cx="3067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Which regions have the greatest unrated share?</a:t>
            </a:r>
          </a:p>
        </p:txBody>
      </p:sp>
      <p:sp>
        <p:nvSpPr>
          <p:cNvPr id="14" name="">
            <a:extLst xmlns:a="http://schemas.openxmlformats.org/drawingml/2006/main">
              <a:ext uri="{FF2B5EF4-FFF2-40B4-BE49-F238E27FC236}">
                <a16:creationId xmlns:a16="http://schemas.microsoft.com/office/drawing/2014/main" id="{41595540-A547-4590-A2BB-88274DD2B851}"/>
              </a:ext>
            </a:extLst>
          </p:cNvPr>
          <p:cNvSpPr>
            <a:spLocks xmlns:a="http://schemas.openxmlformats.org/drawingml/2006/main" noGrp="1"/>
          </p:cNvSpPr>
          <p:nvPr/>
        </p:nvSpPr>
        <p:spPr>
          <a:xfrm xmlns:a="http://schemas.openxmlformats.org/drawingml/2006/main">
            <a:off x="7677150" y="4057650"/>
            <a:ext cx="247650" cy="247650"/>
          </a:xfrm>
          <a:prstGeom xmlns:a="http://schemas.openxmlformats.org/drawingml/2006/main" prst="ellipse">
            <a:avLst/>
          </a:prstGeom>
          <a:solidFill xmlns:a="http://schemas.openxmlformats.org/drawingml/2006/main">
            <a:srgbClr val="D8902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F578B1A-F5C3-497D-8CB0-B7666731DBCB}"/>
              </a:ext>
            </a:extLst>
          </p:cNvPr>
          <p:cNvSpPr>
            <a:spLocks xmlns:a="http://schemas.openxmlformats.org/drawingml/2006/main" noGrp="1"/>
          </p:cNvSpPr>
          <p:nvPr/>
        </p:nvSpPr>
        <p:spPr>
          <a:xfrm xmlns:a="http://schemas.openxmlformats.org/drawingml/2006/main">
            <a:off x="7762875" y="4105275"/>
            <a:ext cx="114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825" b="1">
                <a:solidFill>
                  <a:srgbClr val="FFFFFF"/>
                </a:solidFill>
                <a:latin typeface="Arial"/>
                <a:ea typeface="Arial"/>
                <a:cs typeface="Arial"/>
              </a:defRPr>
            </a:pPr>
            <a:r>
              <a:rPr sz="825" b="1">
                <a:solidFill>
                  <a:srgbClr val="FFFFFF"/>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6C0E5CC8-FDB7-469A-82F8-54C8B6F20037}"/>
              </a:ext>
            </a:extLst>
          </p:cNvPr>
          <p:cNvSpPr>
            <a:spLocks xmlns:a="http://schemas.openxmlformats.org/drawingml/2006/main" noGrp="1"/>
          </p:cNvSpPr>
          <p:nvPr/>
        </p:nvSpPr>
        <p:spPr>
          <a:xfrm xmlns:a="http://schemas.openxmlformats.org/drawingml/2006/main">
            <a:off x="8077200" y="4038600"/>
            <a:ext cx="3067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Which activities are most commonly recorded?</a:t>
            </a:r>
          </a:p>
        </p:txBody>
      </p:sp>
      <p:sp>
        <p:nvSpPr>
          <p:cNvPr id="17" name="">
            <a:extLst xmlns:a="http://schemas.openxmlformats.org/drawingml/2006/main">
              <a:ext uri="{FF2B5EF4-FFF2-40B4-BE49-F238E27FC236}">
                <a16:creationId xmlns:a16="http://schemas.microsoft.com/office/drawing/2014/main" id="{1DD10A35-CAF0-4F57-B32D-EC112ADCD7D3}"/>
              </a:ext>
            </a:extLst>
          </p:cNvPr>
          <p:cNvSpPr>
            <a:spLocks xmlns:a="http://schemas.openxmlformats.org/drawingml/2006/main" noGrp="1"/>
          </p:cNvSpPr>
          <p:nvPr/>
        </p:nvSpPr>
        <p:spPr>
          <a:xfrm xmlns:a="http://schemas.openxmlformats.org/drawingml/2006/main">
            <a:off x="7677150" y="4800600"/>
            <a:ext cx="247650" cy="247650"/>
          </a:xfrm>
          <a:prstGeom xmlns:a="http://schemas.openxmlformats.org/drawingml/2006/main" prst="ellipse">
            <a:avLst/>
          </a:prstGeom>
          <a:solidFill xmlns:a="http://schemas.openxmlformats.org/drawingml/2006/main">
            <a:srgbClr val="4E79A7"/>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8594CC8-B25C-4332-A68C-A474BF54B5B1}"/>
              </a:ext>
            </a:extLst>
          </p:cNvPr>
          <p:cNvSpPr>
            <a:spLocks xmlns:a="http://schemas.openxmlformats.org/drawingml/2006/main" noGrp="1"/>
          </p:cNvSpPr>
          <p:nvPr/>
        </p:nvSpPr>
        <p:spPr>
          <a:xfrm xmlns:a="http://schemas.openxmlformats.org/drawingml/2006/main">
            <a:off x="7762875" y="4848225"/>
            <a:ext cx="114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825" b="1">
                <a:solidFill>
                  <a:srgbClr val="FFFFFF"/>
                </a:solidFill>
                <a:latin typeface="Arial"/>
                <a:ea typeface="Arial"/>
                <a:cs typeface="Arial"/>
              </a:defRPr>
            </a:pPr>
            <a:r>
              <a:rPr sz="825" b="1">
                <a:solidFill>
                  <a:srgbClr val="FFFFFF"/>
                </a:solidFill>
                <a:latin typeface="Arial"/>
                <a:ea typeface="Arial"/>
                <a:cs typeface="Arial"/>
              </a:rPr>
              <a:t>4</a:t>
            </a:r>
          </a:p>
        </p:txBody>
      </p:sp>
      <p:sp>
        <p:nvSpPr>
          <p:cNvPr id="19" name="">
            <a:extLst xmlns:a="http://schemas.openxmlformats.org/drawingml/2006/main">
              <a:ext uri="{FF2B5EF4-FFF2-40B4-BE49-F238E27FC236}">
                <a16:creationId xmlns:a16="http://schemas.microsoft.com/office/drawing/2014/main" id="{FE85F68E-E3DD-45BF-9CC4-10EE519124C0}"/>
              </a:ext>
            </a:extLst>
          </p:cNvPr>
          <p:cNvSpPr>
            <a:spLocks xmlns:a="http://schemas.openxmlformats.org/drawingml/2006/main" noGrp="1"/>
          </p:cNvSpPr>
          <p:nvPr/>
        </p:nvSpPr>
        <p:spPr>
          <a:xfrm xmlns:a="http://schemas.openxmlformats.org/drawingml/2006/main">
            <a:off x="8077200" y="4781550"/>
            <a:ext cx="3067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1D2B27"/>
                </a:solidFill>
                <a:latin typeface="Arial"/>
                <a:ea typeface="Arial"/>
                <a:cs typeface="Arial"/>
              </a:defRPr>
            </a:pPr>
            <a:r>
              <a:rPr sz="1275" b="0">
                <a:solidFill>
                  <a:srgbClr val="1D2B27"/>
                </a:solidFill>
                <a:latin typeface="Arial"/>
                <a:ea typeface="Arial"/>
                <a:cs typeface="Arial"/>
              </a:rPr>
              <a:t>How are ratings distributed across the snapshot?</a:t>
            </a:r>
          </a:p>
        </p:txBody>
      </p:sp>
      <p:sp>
        <p:nvSpPr>
          <p:cNvPr id="20" name="">
            <a:extLst xmlns:a="http://schemas.openxmlformats.org/drawingml/2006/main">
              <a:ext uri="{FF2B5EF4-FFF2-40B4-BE49-F238E27FC236}">
                <a16:creationId xmlns:a16="http://schemas.microsoft.com/office/drawing/2014/main" id="{9FE2D4D5-A4D4-4C8F-B76D-CD2FD25D92F2}"/>
              </a:ext>
            </a:extLst>
          </p:cNvPr>
          <p:cNvSpPr>
            <a:spLocks xmlns:a="http://schemas.openxmlformats.org/drawingml/2006/main" noGrp="1"/>
          </p:cNvSpPr>
          <p:nvPr/>
        </p:nvSpPr>
        <p:spPr>
          <a:xfrm xmlns:a="http://schemas.openxmlformats.org/drawingml/2006/main">
            <a:off x="7677150" y="5572125"/>
            <a:ext cx="3257550" cy="447675"/>
          </a:xfrm>
          <a:prstGeom xmlns:a="http://schemas.openxmlformats.org/drawingml/2006/main" prst="roundRect">
            <a:avLst>
              <a:gd name="adj" fmla="val 17021"/>
            </a:avLst>
          </a:prstGeom>
          <a:solidFill xmlns:a="http://schemas.openxmlformats.org/drawingml/2006/main">
            <a:srgbClr val="173B31"/>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3170A7A-760F-4F79-8166-00A1B2BDBC83}"/>
              </a:ext>
            </a:extLst>
          </p:cNvPr>
          <p:cNvSpPr>
            <a:spLocks xmlns:a="http://schemas.openxmlformats.org/drawingml/2006/main" noGrp="1"/>
          </p:cNvSpPr>
          <p:nvPr/>
        </p:nvSpPr>
        <p:spPr>
          <a:xfrm xmlns:a="http://schemas.openxmlformats.org/drawingml/2006/main">
            <a:off x="7886700" y="5676900"/>
            <a:ext cx="283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000"/>
          </a:bodyPr>
          <a:lstStyle xmlns:a="http://schemas.openxmlformats.org/drawingml/2006/main"/>
          <a:p xmlns:a="http://schemas.openxmlformats.org/drawingml/2006/main">
            <a:pPr>
              <a:defRPr sz="1200" b="1">
                <a:solidFill>
                  <a:srgbClr val="FFFFFF"/>
                </a:solidFill>
                <a:latin typeface="Arial"/>
                <a:ea typeface="Arial"/>
                <a:cs typeface="Arial"/>
              </a:defRPr>
            </a:pPr>
            <a:r>
              <a:rPr sz="1200" b="1">
                <a:solidFill>
                  <a:srgbClr val="FFFFFF"/>
                </a:solidFill>
                <a:latin typeface="Arial"/>
                <a:ea typeface="Arial"/>
                <a:cs typeface="Arial"/>
              </a:rPr>
              <a:t>Every KPI is queried from Supabase.</a:t>
            </a:r>
          </a:p>
        </p:txBody>
      </p:sp>
    </p:spTree>
    <p:extLst>
      <p:ext uri="{BB962C8B-B14F-4D97-AF65-F5344CB8AC3E}">
        <p14:creationId xmlns:p14="http://schemas.microsoft.com/office/powerpoint/2010/main" val="1260270862"/>
      </p:ext>
    </p:extLst>
  </p:cSld>
</p:sld>
</file>

<file path=ppt/slides/slide9.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F0FB97E7-B306-477B-B93F-6B9D3B9157E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D8902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299F7A-D145-4216-BD64-906EA00062B4}"/>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MACHINE LEARNING</a:t>
            </a:r>
          </a:p>
        </p:txBody>
      </p:sp>
      <p:sp>
        <p:nvSpPr>
          <p:cNvPr id="3" name="">
            <a:extLst xmlns:a="http://schemas.openxmlformats.org/drawingml/2006/main">
              <a:ext uri="{FF2B5EF4-FFF2-40B4-BE49-F238E27FC236}">
                <a16:creationId xmlns:a16="http://schemas.microsoft.com/office/drawing/2014/main" id="{DD17BFC3-0A08-467E-8F2A-3FB036959FD8}"/>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The most important modelling work was preventing leakage.</a:t>
            </a:r>
          </a:p>
        </p:txBody>
      </p:sp>
      <p:sp>
        <p:nvSpPr>
          <p:cNvPr id="4" name="">
            <a:extLst xmlns:a="http://schemas.openxmlformats.org/drawingml/2006/main">
              <a:ext uri="{FF2B5EF4-FFF2-40B4-BE49-F238E27FC236}">
                <a16:creationId xmlns:a16="http://schemas.microsoft.com/office/drawing/2014/main" id="{D48F6F71-D607-4A8E-A4A4-2CEF34061667}"/>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The target is avgRating; target copies and identity fields are not features.</a:t>
            </a:r>
          </a:p>
        </p:txBody>
      </p:sp>
      <p:sp>
        <p:nvSpPr>
          <p:cNvPr id="5" name="">
            <a:extLst xmlns:a="http://schemas.openxmlformats.org/drawingml/2006/main">
              <a:ext uri="{FF2B5EF4-FFF2-40B4-BE49-F238E27FC236}">
                <a16:creationId xmlns:a16="http://schemas.microsoft.com/office/drawing/2014/main" id="{9A2609B3-963D-455D-B0DE-C7B29A10A36F}"/>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09</a:t>
            </a:r>
          </a:p>
        </p:txBody>
      </p:sp>
      <p:sp>
        <p:nvSpPr>
          <p:cNvPr id="6" name="">
            <a:extLst xmlns:a="http://schemas.openxmlformats.org/drawingml/2006/main">
              <a:ext uri="{FF2B5EF4-FFF2-40B4-BE49-F238E27FC236}">
                <a16:creationId xmlns:a16="http://schemas.microsoft.com/office/drawing/2014/main" id="{E36FA947-EC58-46AF-8E59-1E82085E943A}"/>
              </a:ext>
            </a:extLst>
          </p:cNvPr>
          <p:cNvSpPr>
            <a:spLocks xmlns:a="http://schemas.openxmlformats.org/drawingml/2006/main" noGrp="1"/>
          </p:cNvSpPr>
          <p:nvPr/>
        </p:nvSpPr>
        <p:spPr>
          <a:xfrm xmlns:a="http://schemas.openxmlformats.org/drawingml/2006/main">
            <a:off x="628650" y="2038350"/>
            <a:ext cx="4857750" cy="3333750"/>
          </a:xfrm>
          <a:prstGeom xmlns:a="http://schemas.openxmlformats.org/drawingml/2006/main" prst="roundRect">
            <a:avLst>
              <a:gd name="adj" fmla="val 2286"/>
            </a:avLst>
          </a:prstGeom>
          <a:solidFill xmlns:a="http://schemas.openxmlformats.org/drawingml/2006/main">
            <a:srgbClr val="DDECE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9FD8CA5-E092-4151-9B77-3A7C0DCAA6E3}"/>
              </a:ext>
            </a:extLst>
          </p:cNvPr>
          <p:cNvSpPr>
            <a:spLocks xmlns:a="http://schemas.openxmlformats.org/drawingml/2006/main" noGrp="1"/>
          </p:cNvSpPr>
          <p:nvPr/>
        </p:nvSpPr>
        <p:spPr>
          <a:xfrm xmlns:a="http://schemas.openxmlformats.org/drawingml/2006/main">
            <a:off x="914400" y="2324100"/>
            <a:ext cx="400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defRPr sz="1800" b="1">
                <a:solidFill>
                  <a:srgbClr val="173B31"/>
                </a:solidFill>
                <a:latin typeface="Arial"/>
                <a:ea typeface="Arial"/>
                <a:cs typeface="Arial"/>
              </a:defRPr>
            </a:pPr>
            <a:r>
              <a:rPr sz="1800" b="1">
                <a:solidFill>
                  <a:srgbClr val="173B31"/>
                </a:solidFill>
                <a:latin typeface="Arial"/>
                <a:ea typeface="Arial"/>
                <a:cs typeface="Arial"/>
              </a:rPr>
              <a:t>Allowed features</a:t>
            </a:r>
          </a:p>
        </p:txBody>
      </p:sp>
      <p:sp>
        <p:nvSpPr>
          <p:cNvPr id="8" name="">
            <a:extLst xmlns:a="http://schemas.openxmlformats.org/drawingml/2006/main">
              <a:ext uri="{FF2B5EF4-FFF2-40B4-BE49-F238E27FC236}">
                <a16:creationId xmlns:a16="http://schemas.microsoft.com/office/drawing/2014/main" id="{23FCA72E-105F-4AF9-BA74-55E85180AFF4}"/>
              </a:ext>
            </a:extLst>
          </p:cNvPr>
          <p:cNvSpPr>
            <a:spLocks xmlns:a="http://schemas.openxmlformats.org/drawingml/2006/main" noGrp="1"/>
          </p:cNvSpPr>
          <p:nvPr/>
        </p:nvSpPr>
        <p:spPr>
          <a:xfrm xmlns:a="http://schemas.openxmlformats.org/drawingml/2006/main">
            <a:off x="933450" y="2962275"/>
            <a:ext cx="171450" cy="171450"/>
          </a:xfrm>
          <a:prstGeom xmlns:a="http://schemas.openxmlformats.org/drawingml/2006/main" prst="ellipse">
            <a:avLst/>
          </a:prstGeom>
          <a:solidFill xmlns:a="http://schemas.openxmlformats.org/drawingml/2006/main">
            <a:srgbClr val="2D7A6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A5809AF-BE91-496E-906F-1536395622F2}"/>
              </a:ext>
            </a:extLst>
          </p:cNvPr>
          <p:cNvSpPr>
            <a:spLocks xmlns:a="http://schemas.openxmlformats.org/drawingml/2006/main" noGrp="1"/>
          </p:cNvSpPr>
          <p:nvPr/>
        </p:nvSpPr>
        <p:spPr>
          <a:xfrm xmlns:a="http://schemas.openxmlformats.org/drawingml/2006/main">
            <a:off x="962025" y="2962275"/>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Arial"/>
                <a:ea typeface="Arial"/>
                <a:cs typeface="Arial"/>
              </a:defRPr>
            </a:pPr>
            <a:r>
              <a:rPr sz="900" b="1">
                <a:solidFill>
                  <a:srgbClr val="FFFFFF"/>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DF72FF2B-15F0-4F53-BEB7-87FE1A94A513}"/>
              </a:ext>
            </a:extLst>
          </p:cNvPr>
          <p:cNvSpPr>
            <a:spLocks xmlns:a="http://schemas.openxmlformats.org/drawingml/2006/main" noGrp="1"/>
          </p:cNvSpPr>
          <p:nvPr/>
        </p:nvSpPr>
        <p:spPr>
          <a:xfrm xmlns:a="http://schemas.openxmlformats.org/drawingml/2006/main">
            <a:off x="1257300" y="29146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D2B27"/>
                </a:solidFill>
                <a:latin typeface="Arial"/>
                <a:ea typeface="Arial"/>
                <a:cs typeface="Arial"/>
              </a:defRPr>
            </a:pPr>
            <a:r>
              <a:rPr sz="1350" b="0">
                <a:solidFill>
                  <a:srgbClr val="1D2B27"/>
                </a:solidFill>
                <a:latin typeface="Arial"/>
                <a:ea typeface="Arial"/>
                <a:cs typeface="Arial"/>
              </a:rPr>
              <a:t>source region</a:t>
            </a:r>
          </a:p>
        </p:txBody>
      </p:sp>
      <p:sp>
        <p:nvSpPr>
          <p:cNvPr id="11" name="">
            <a:extLst xmlns:a="http://schemas.openxmlformats.org/drawingml/2006/main">
              <a:ext uri="{FF2B5EF4-FFF2-40B4-BE49-F238E27FC236}">
                <a16:creationId xmlns:a16="http://schemas.microsoft.com/office/drawing/2014/main" id="{B5A2E6DB-0F75-485D-821F-8190B0E73262}"/>
              </a:ext>
            </a:extLst>
          </p:cNvPr>
          <p:cNvSpPr>
            <a:spLocks xmlns:a="http://schemas.openxmlformats.org/drawingml/2006/main" noGrp="1"/>
          </p:cNvSpPr>
          <p:nvPr/>
        </p:nvSpPr>
        <p:spPr>
          <a:xfrm xmlns:a="http://schemas.openxmlformats.org/drawingml/2006/main">
            <a:off x="933450" y="3476625"/>
            <a:ext cx="171450" cy="171450"/>
          </a:xfrm>
          <a:prstGeom xmlns:a="http://schemas.openxmlformats.org/drawingml/2006/main" prst="ellipse">
            <a:avLst/>
          </a:prstGeom>
          <a:solidFill xmlns:a="http://schemas.openxmlformats.org/drawingml/2006/main">
            <a:srgbClr val="2D7A6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FA367B2-A420-463B-B8C9-E34CAD1E25E0}"/>
              </a:ext>
            </a:extLst>
          </p:cNvPr>
          <p:cNvSpPr>
            <a:spLocks xmlns:a="http://schemas.openxmlformats.org/drawingml/2006/main" noGrp="1"/>
          </p:cNvSpPr>
          <p:nvPr/>
        </p:nvSpPr>
        <p:spPr>
          <a:xfrm xmlns:a="http://schemas.openxmlformats.org/drawingml/2006/main">
            <a:off x="962025" y="3476625"/>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Arial"/>
                <a:ea typeface="Arial"/>
                <a:cs typeface="Arial"/>
              </a:defRPr>
            </a:pPr>
            <a:r>
              <a:rPr sz="900" b="1">
                <a:solidFill>
                  <a:srgbClr val="FFFFFF"/>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81BBEC59-A36D-4D4B-BDDB-60D52442B882}"/>
              </a:ext>
            </a:extLst>
          </p:cNvPr>
          <p:cNvSpPr>
            <a:spLocks xmlns:a="http://schemas.openxmlformats.org/drawingml/2006/main" noGrp="1"/>
          </p:cNvSpPr>
          <p:nvPr/>
        </p:nvSpPr>
        <p:spPr>
          <a:xfrm xmlns:a="http://schemas.openxmlformats.org/drawingml/2006/main">
            <a:off x="1257300" y="342900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D2B27"/>
                </a:solidFill>
                <a:latin typeface="Arial"/>
                <a:ea typeface="Arial"/>
                <a:cs typeface="Arial"/>
              </a:defRPr>
            </a:pPr>
            <a:r>
              <a:rPr sz="1350" b="0">
                <a:solidFill>
                  <a:srgbClr val="1D2B27"/>
                </a:solidFill>
                <a:latin typeface="Arial"/>
                <a:ea typeface="Arial"/>
                <a:cs typeface="Arial"/>
              </a:rPr>
              <a:t>latitude / longitude</a:t>
            </a:r>
          </a:p>
        </p:txBody>
      </p:sp>
      <p:sp>
        <p:nvSpPr>
          <p:cNvPr id="14" name="">
            <a:extLst xmlns:a="http://schemas.openxmlformats.org/drawingml/2006/main">
              <a:ext uri="{FF2B5EF4-FFF2-40B4-BE49-F238E27FC236}">
                <a16:creationId xmlns:a16="http://schemas.microsoft.com/office/drawing/2014/main" id="{940A1378-2C30-4E05-9686-FA44374858BE}"/>
              </a:ext>
            </a:extLst>
          </p:cNvPr>
          <p:cNvSpPr>
            <a:spLocks xmlns:a="http://schemas.openxmlformats.org/drawingml/2006/main" noGrp="1"/>
          </p:cNvSpPr>
          <p:nvPr/>
        </p:nvSpPr>
        <p:spPr>
          <a:xfrm xmlns:a="http://schemas.openxmlformats.org/drawingml/2006/main">
            <a:off x="933450" y="3990975"/>
            <a:ext cx="171450" cy="171450"/>
          </a:xfrm>
          <a:prstGeom xmlns:a="http://schemas.openxmlformats.org/drawingml/2006/main" prst="ellipse">
            <a:avLst/>
          </a:prstGeom>
          <a:solidFill xmlns:a="http://schemas.openxmlformats.org/drawingml/2006/main">
            <a:srgbClr val="2D7A6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3887F28-5D82-48D6-A343-29C9EB3DF5BC}"/>
              </a:ext>
            </a:extLst>
          </p:cNvPr>
          <p:cNvSpPr>
            <a:spLocks xmlns:a="http://schemas.openxmlformats.org/drawingml/2006/main" noGrp="1"/>
          </p:cNvSpPr>
          <p:nvPr/>
        </p:nvSpPr>
        <p:spPr>
          <a:xfrm xmlns:a="http://schemas.openxmlformats.org/drawingml/2006/main">
            <a:off x="962025" y="3990975"/>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Arial"/>
                <a:ea typeface="Arial"/>
                <a:cs typeface="Arial"/>
              </a:defRPr>
            </a:pPr>
            <a:r>
              <a:rPr sz="900" b="1">
                <a:solidFill>
                  <a:srgbClr val="FFFFFF"/>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221A1702-A02C-4751-A434-B11B1EFC1FE8}"/>
              </a:ext>
            </a:extLst>
          </p:cNvPr>
          <p:cNvSpPr>
            <a:spLocks xmlns:a="http://schemas.openxmlformats.org/drawingml/2006/main" noGrp="1"/>
          </p:cNvSpPr>
          <p:nvPr/>
        </p:nvSpPr>
        <p:spPr>
          <a:xfrm xmlns:a="http://schemas.openxmlformats.org/drawingml/2006/main">
            <a:off x="1257300" y="39433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D2B27"/>
                </a:solidFill>
                <a:latin typeface="Arial"/>
                <a:ea typeface="Arial"/>
                <a:cs typeface="Arial"/>
              </a:defRPr>
            </a:pPr>
            <a:r>
              <a:rPr sz="1350" b="0">
                <a:solidFill>
                  <a:srgbClr val="1D2B27"/>
                </a:solidFill>
                <a:latin typeface="Arial"/>
                <a:ea typeface="Arial"/>
                <a:cs typeface="Arial"/>
              </a:rPr>
              <a:t>multi-hot activity indicators</a:t>
            </a:r>
          </a:p>
        </p:txBody>
      </p:sp>
      <p:sp>
        <p:nvSpPr>
          <p:cNvPr id="17" name="">
            <a:extLst xmlns:a="http://schemas.openxmlformats.org/drawingml/2006/main">
              <a:ext uri="{FF2B5EF4-FFF2-40B4-BE49-F238E27FC236}">
                <a16:creationId xmlns:a16="http://schemas.microsoft.com/office/drawing/2014/main" id="{C919B2CD-0AA2-4A37-BE09-81EF7C93CC6A}"/>
              </a:ext>
            </a:extLst>
          </p:cNvPr>
          <p:cNvSpPr>
            <a:spLocks xmlns:a="http://schemas.openxmlformats.org/drawingml/2006/main" noGrp="1"/>
          </p:cNvSpPr>
          <p:nvPr/>
        </p:nvSpPr>
        <p:spPr>
          <a:xfrm xmlns:a="http://schemas.openxmlformats.org/drawingml/2006/main">
            <a:off x="933450" y="4505325"/>
            <a:ext cx="171450" cy="171450"/>
          </a:xfrm>
          <a:prstGeom xmlns:a="http://schemas.openxmlformats.org/drawingml/2006/main" prst="ellipse">
            <a:avLst/>
          </a:prstGeom>
          <a:solidFill xmlns:a="http://schemas.openxmlformats.org/drawingml/2006/main">
            <a:srgbClr val="2D7A6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7EE78DB-D91B-4A8B-9D2B-E8CD57AF2B3A}"/>
              </a:ext>
            </a:extLst>
          </p:cNvPr>
          <p:cNvSpPr>
            <a:spLocks xmlns:a="http://schemas.openxmlformats.org/drawingml/2006/main" noGrp="1"/>
          </p:cNvSpPr>
          <p:nvPr/>
        </p:nvSpPr>
        <p:spPr>
          <a:xfrm xmlns:a="http://schemas.openxmlformats.org/drawingml/2006/main">
            <a:off x="962025" y="4505325"/>
            <a:ext cx="1333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900" b="1">
                <a:solidFill>
                  <a:srgbClr val="FFFFFF"/>
                </a:solidFill>
                <a:latin typeface="Arial"/>
                <a:ea typeface="Arial"/>
                <a:cs typeface="Arial"/>
              </a:defRPr>
            </a:pPr>
            <a:r>
              <a:rPr sz="900" b="1">
                <a:solidFill>
                  <a:srgbClr val="FFFFF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4920E914-30A7-49C3-BA46-E4413549515D}"/>
              </a:ext>
            </a:extLst>
          </p:cNvPr>
          <p:cNvSpPr>
            <a:spLocks xmlns:a="http://schemas.openxmlformats.org/drawingml/2006/main" noGrp="1"/>
          </p:cNvSpPr>
          <p:nvPr/>
        </p:nvSpPr>
        <p:spPr>
          <a:xfrm xmlns:a="http://schemas.openxmlformats.org/drawingml/2006/main">
            <a:off x="1257300" y="445770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D2B27"/>
                </a:solidFill>
                <a:latin typeface="Arial"/>
                <a:ea typeface="Arial"/>
                <a:cs typeface="Arial"/>
              </a:defRPr>
            </a:pPr>
            <a:r>
              <a:rPr sz="1350" b="0">
                <a:solidFill>
                  <a:srgbClr val="1D2B27"/>
                </a:solidFill>
                <a:latin typeface="Arial"/>
                <a:ea typeface="Arial"/>
                <a:cs typeface="Arial"/>
              </a:rPr>
              <a:t>entity_group for split control</a:t>
            </a:r>
          </a:p>
        </p:txBody>
      </p:sp>
      <p:sp>
        <p:nvSpPr>
          <p:cNvPr id="20" name="">
            <a:extLst xmlns:a="http://schemas.openxmlformats.org/drawingml/2006/main">
              <a:ext uri="{FF2B5EF4-FFF2-40B4-BE49-F238E27FC236}">
                <a16:creationId xmlns:a16="http://schemas.microsoft.com/office/drawing/2014/main" id="{0CF410F0-A2C8-478B-AB69-1A5996B307B0}"/>
              </a:ext>
            </a:extLst>
          </p:cNvPr>
          <p:cNvSpPr>
            <a:spLocks xmlns:a="http://schemas.openxmlformats.org/drawingml/2006/main" noGrp="1"/>
          </p:cNvSpPr>
          <p:nvPr/>
        </p:nvSpPr>
        <p:spPr>
          <a:xfrm xmlns:a="http://schemas.openxmlformats.org/drawingml/2006/main">
            <a:off x="5905500" y="2038350"/>
            <a:ext cx="4857750" cy="3333750"/>
          </a:xfrm>
          <a:prstGeom xmlns:a="http://schemas.openxmlformats.org/drawingml/2006/main" prst="roundRect">
            <a:avLst>
              <a:gd name="adj" fmla="val 2286"/>
            </a:avLst>
          </a:prstGeom>
          <a:solidFill xmlns:a="http://schemas.openxmlformats.org/drawingml/2006/main">
            <a:srgbClr val="F1D8D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DD25E0B-DF81-4A28-9106-8BB3B99B10D0}"/>
              </a:ext>
            </a:extLst>
          </p:cNvPr>
          <p:cNvSpPr>
            <a:spLocks xmlns:a="http://schemas.openxmlformats.org/drawingml/2006/main" noGrp="1"/>
          </p:cNvSpPr>
          <p:nvPr/>
        </p:nvSpPr>
        <p:spPr>
          <a:xfrm xmlns:a="http://schemas.openxmlformats.org/drawingml/2006/main">
            <a:off x="6191250" y="2324100"/>
            <a:ext cx="4000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defRPr sz="1800" b="1">
                <a:solidFill>
                  <a:srgbClr val="173B31"/>
                </a:solidFill>
                <a:latin typeface="Arial"/>
                <a:ea typeface="Arial"/>
                <a:cs typeface="Arial"/>
              </a:defRPr>
            </a:pPr>
            <a:r>
              <a:rPr sz="1800" b="1">
                <a:solidFill>
                  <a:srgbClr val="173B31"/>
                </a:solidFill>
                <a:latin typeface="Arial"/>
                <a:ea typeface="Arial"/>
                <a:cs typeface="Arial"/>
              </a:rPr>
              <a:t>Excluded from the first model</a:t>
            </a:r>
          </a:p>
        </p:txBody>
      </p:sp>
      <p:sp>
        <p:nvSpPr>
          <p:cNvPr id="22" name="">
            <a:extLst xmlns:a="http://schemas.openxmlformats.org/drawingml/2006/main">
              <a:ext uri="{FF2B5EF4-FFF2-40B4-BE49-F238E27FC236}">
                <a16:creationId xmlns:a16="http://schemas.microsoft.com/office/drawing/2014/main" id="{A886B618-E918-4E7C-8395-2FD38D53EE02}"/>
              </a:ext>
            </a:extLst>
          </p:cNvPr>
          <p:cNvSpPr>
            <a:spLocks xmlns:a="http://schemas.openxmlformats.org/drawingml/2006/main" noGrp="1"/>
          </p:cNvSpPr>
          <p:nvPr/>
        </p:nvSpPr>
        <p:spPr>
          <a:xfrm xmlns:a="http://schemas.openxmlformats.org/drawingml/2006/main">
            <a:off x="6210300" y="2962275"/>
            <a:ext cx="171450" cy="171450"/>
          </a:xfrm>
          <a:prstGeom xmlns:a="http://schemas.openxmlformats.org/drawingml/2006/main" prst="ellipse">
            <a:avLst/>
          </a:prstGeom>
          <a:solidFill xmlns:a="http://schemas.openxmlformats.org/drawingml/2006/main">
            <a:srgbClr val="C6423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A619CBC-52E3-4050-8F3A-6677812E9A45}"/>
              </a:ext>
            </a:extLst>
          </p:cNvPr>
          <p:cNvSpPr>
            <a:spLocks xmlns:a="http://schemas.openxmlformats.org/drawingml/2006/main" noGrp="1"/>
          </p:cNvSpPr>
          <p:nvPr/>
        </p:nvSpPr>
        <p:spPr>
          <a:xfrm xmlns:a="http://schemas.openxmlformats.org/drawingml/2006/main">
            <a:off x="6248400" y="2943225"/>
            <a:ext cx="133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1050" b="1">
                <a:solidFill>
                  <a:srgbClr val="FFFFFF"/>
                </a:solidFill>
                <a:latin typeface="Arial"/>
                <a:ea typeface="Arial"/>
                <a:cs typeface="Arial"/>
              </a:defRPr>
            </a:pPr>
            <a:r>
              <a:rPr sz="1050" b="1">
                <a:solidFill>
                  <a:srgbClr val="FFFFFF"/>
                </a:solidFill>
                <a:latin typeface="Arial"/>
                <a:ea typeface="Arial"/>
                <a:cs typeface="Arial"/>
              </a:rPr>
              <a:t>×</a:t>
            </a:r>
          </a:p>
        </p:txBody>
      </p:sp>
      <p:sp>
        <p:nvSpPr>
          <p:cNvPr id="24" name="">
            <a:extLst xmlns:a="http://schemas.openxmlformats.org/drawingml/2006/main">
              <a:ext uri="{FF2B5EF4-FFF2-40B4-BE49-F238E27FC236}">
                <a16:creationId xmlns:a16="http://schemas.microsoft.com/office/drawing/2014/main" id="{26EAA8E0-1300-43FC-A843-BEB0C848F46F}"/>
              </a:ext>
            </a:extLst>
          </p:cNvPr>
          <p:cNvSpPr>
            <a:spLocks xmlns:a="http://schemas.openxmlformats.org/drawingml/2006/main" noGrp="1"/>
          </p:cNvSpPr>
          <p:nvPr/>
        </p:nvSpPr>
        <p:spPr>
          <a:xfrm xmlns:a="http://schemas.openxmlformats.org/drawingml/2006/main">
            <a:off x="6534150" y="29146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D2B27"/>
                </a:solidFill>
                <a:latin typeface="Arial"/>
                <a:ea typeface="Arial"/>
                <a:cs typeface="Arial"/>
              </a:defRPr>
            </a:pPr>
            <a:r>
              <a:rPr sz="1350" b="0">
                <a:solidFill>
                  <a:srgbClr val="1D2B27"/>
                </a:solidFill>
                <a:latin typeface="Arial"/>
                <a:ea typeface="Arial"/>
                <a:cs typeface="Arial"/>
              </a:rPr>
              <a:t>rating (truncated target copy)</a:t>
            </a:r>
          </a:p>
        </p:txBody>
      </p:sp>
      <p:sp>
        <p:nvSpPr>
          <p:cNvPr id="25" name="">
            <a:extLst xmlns:a="http://schemas.openxmlformats.org/drawingml/2006/main">
              <a:ext uri="{FF2B5EF4-FFF2-40B4-BE49-F238E27FC236}">
                <a16:creationId xmlns:a16="http://schemas.microsoft.com/office/drawing/2014/main" id="{9805AE36-4B1B-4044-8964-B4A65B30A346}"/>
              </a:ext>
            </a:extLst>
          </p:cNvPr>
          <p:cNvSpPr>
            <a:spLocks xmlns:a="http://schemas.openxmlformats.org/drawingml/2006/main" noGrp="1"/>
          </p:cNvSpPr>
          <p:nvPr/>
        </p:nvSpPr>
        <p:spPr>
          <a:xfrm xmlns:a="http://schemas.openxmlformats.org/drawingml/2006/main">
            <a:off x="6210300" y="3476625"/>
            <a:ext cx="171450" cy="171450"/>
          </a:xfrm>
          <a:prstGeom xmlns:a="http://schemas.openxmlformats.org/drawingml/2006/main" prst="ellipse">
            <a:avLst/>
          </a:prstGeom>
          <a:solidFill xmlns:a="http://schemas.openxmlformats.org/drawingml/2006/main">
            <a:srgbClr val="C64235"/>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6BD8D512-A6DD-4C04-B46B-E99C9EEB61D0}"/>
              </a:ext>
            </a:extLst>
          </p:cNvPr>
          <p:cNvSpPr>
            <a:spLocks xmlns:a="http://schemas.openxmlformats.org/drawingml/2006/main" noGrp="1"/>
          </p:cNvSpPr>
          <p:nvPr/>
        </p:nvSpPr>
        <p:spPr>
          <a:xfrm xmlns:a="http://schemas.openxmlformats.org/drawingml/2006/main">
            <a:off x="6248400" y="3457575"/>
            <a:ext cx="133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1050" b="1">
                <a:solidFill>
                  <a:srgbClr val="FFFFFF"/>
                </a:solidFill>
                <a:latin typeface="Arial"/>
                <a:ea typeface="Arial"/>
                <a:cs typeface="Arial"/>
              </a:defRPr>
            </a:pPr>
            <a:r>
              <a:rPr sz="1050" b="1">
                <a:solidFill>
                  <a:srgbClr val="FFFFFF"/>
                </a:solidFill>
                <a:latin typeface="Arial"/>
                <a:ea typeface="Arial"/>
                <a:cs typeface="Arial"/>
              </a:rPr>
              <a:t>×</a:t>
            </a:r>
          </a:p>
        </p:txBody>
      </p:sp>
      <p:sp>
        <p:nvSpPr>
          <p:cNvPr id="27" name="">
            <a:extLst xmlns:a="http://schemas.openxmlformats.org/drawingml/2006/main">
              <a:ext uri="{FF2B5EF4-FFF2-40B4-BE49-F238E27FC236}">
                <a16:creationId xmlns:a16="http://schemas.microsoft.com/office/drawing/2014/main" id="{72A3345A-1435-4B7D-B01C-F5BF213A22A8}"/>
              </a:ext>
            </a:extLst>
          </p:cNvPr>
          <p:cNvSpPr>
            <a:spLocks xmlns:a="http://schemas.openxmlformats.org/drawingml/2006/main" noGrp="1"/>
          </p:cNvSpPr>
          <p:nvPr/>
        </p:nvSpPr>
        <p:spPr>
          <a:xfrm xmlns:a="http://schemas.openxmlformats.org/drawingml/2006/main">
            <a:off x="6534150" y="342900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D2B27"/>
                </a:solidFill>
                <a:latin typeface="Arial"/>
                <a:ea typeface="Arial"/>
                <a:cs typeface="Arial"/>
              </a:defRPr>
            </a:pPr>
            <a:r>
              <a:rPr sz="1350" b="0">
                <a:solidFill>
                  <a:srgbClr val="1D2B27"/>
                </a:solidFill>
                <a:latin typeface="Arial"/>
                <a:ea typeface="Arial"/>
                <a:cs typeface="Arial"/>
              </a:rPr>
              <a:t>info HTML (repeats rating/count)</a:t>
            </a:r>
          </a:p>
        </p:txBody>
      </p:sp>
      <p:sp>
        <p:nvSpPr>
          <p:cNvPr id="28" name="">
            <a:extLst xmlns:a="http://schemas.openxmlformats.org/drawingml/2006/main">
              <a:ext uri="{FF2B5EF4-FFF2-40B4-BE49-F238E27FC236}">
                <a16:creationId xmlns:a16="http://schemas.microsoft.com/office/drawing/2014/main" id="{8315ACC8-BBE8-4160-909B-D649CA06166F}"/>
              </a:ext>
            </a:extLst>
          </p:cNvPr>
          <p:cNvSpPr>
            <a:spLocks xmlns:a="http://schemas.openxmlformats.org/drawingml/2006/main" noGrp="1"/>
          </p:cNvSpPr>
          <p:nvPr/>
        </p:nvSpPr>
        <p:spPr>
          <a:xfrm xmlns:a="http://schemas.openxmlformats.org/drawingml/2006/main">
            <a:off x="6210300" y="3990975"/>
            <a:ext cx="171450" cy="171450"/>
          </a:xfrm>
          <a:prstGeom xmlns:a="http://schemas.openxmlformats.org/drawingml/2006/main" prst="ellipse">
            <a:avLst/>
          </a:prstGeom>
          <a:solidFill xmlns:a="http://schemas.openxmlformats.org/drawingml/2006/main">
            <a:srgbClr val="C64235"/>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BDA9EBE-8BCA-4433-931B-52D6D3CB1F60}"/>
              </a:ext>
            </a:extLst>
          </p:cNvPr>
          <p:cNvSpPr>
            <a:spLocks xmlns:a="http://schemas.openxmlformats.org/drawingml/2006/main" noGrp="1"/>
          </p:cNvSpPr>
          <p:nvPr/>
        </p:nvSpPr>
        <p:spPr>
          <a:xfrm xmlns:a="http://schemas.openxmlformats.org/drawingml/2006/main">
            <a:off x="6248400" y="3971925"/>
            <a:ext cx="133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1050" b="1">
                <a:solidFill>
                  <a:srgbClr val="FFFFFF"/>
                </a:solidFill>
                <a:latin typeface="Arial"/>
                <a:ea typeface="Arial"/>
                <a:cs typeface="Arial"/>
              </a:defRPr>
            </a:pPr>
            <a:r>
              <a:rPr sz="1050" b="1">
                <a:solidFill>
                  <a:srgbClr val="FFFFFF"/>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504350DA-946C-42D1-A628-E66EC7BAC713}"/>
              </a:ext>
            </a:extLst>
          </p:cNvPr>
          <p:cNvSpPr>
            <a:spLocks xmlns:a="http://schemas.openxmlformats.org/drawingml/2006/main" noGrp="1"/>
          </p:cNvSpPr>
          <p:nvPr/>
        </p:nvSpPr>
        <p:spPr>
          <a:xfrm xmlns:a="http://schemas.openxmlformats.org/drawingml/2006/main">
            <a:off x="6534150" y="394335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D2B27"/>
                </a:solidFill>
                <a:latin typeface="Arial"/>
                <a:ea typeface="Arial"/>
                <a:cs typeface="Arial"/>
              </a:defRPr>
            </a:pPr>
            <a:r>
              <a:rPr sz="1350" b="0">
                <a:solidFill>
                  <a:srgbClr val="1D2B27"/>
                </a:solidFill>
                <a:latin typeface="Arial"/>
                <a:ea typeface="Arial"/>
                <a:cs typeface="Arial"/>
              </a:rPr>
              <a:t>name, links, icons and identifiers</a:t>
            </a:r>
          </a:p>
        </p:txBody>
      </p:sp>
      <p:sp>
        <p:nvSpPr>
          <p:cNvPr id="31" name="">
            <a:extLst xmlns:a="http://schemas.openxmlformats.org/drawingml/2006/main">
              <a:ext uri="{FF2B5EF4-FFF2-40B4-BE49-F238E27FC236}">
                <a16:creationId xmlns:a16="http://schemas.microsoft.com/office/drawing/2014/main" id="{EA8940F1-8828-4A98-845A-FD08163E71BD}"/>
              </a:ext>
            </a:extLst>
          </p:cNvPr>
          <p:cNvSpPr>
            <a:spLocks xmlns:a="http://schemas.openxmlformats.org/drawingml/2006/main" noGrp="1"/>
          </p:cNvSpPr>
          <p:nvPr/>
        </p:nvSpPr>
        <p:spPr>
          <a:xfrm xmlns:a="http://schemas.openxmlformats.org/drawingml/2006/main">
            <a:off x="6210300" y="4505325"/>
            <a:ext cx="171450" cy="171450"/>
          </a:xfrm>
          <a:prstGeom xmlns:a="http://schemas.openxmlformats.org/drawingml/2006/main" prst="ellipse">
            <a:avLst/>
          </a:prstGeom>
          <a:solidFill xmlns:a="http://schemas.openxmlformats.org/drawingml/2006/main">
            <a:srgbClr val="C64235"/>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7063F39E-9C2A-4EFC-8EC4-9C8FC1A35FD7}"/>
              </a:ext>
            </a:extLst>
          </p:cNvPr>
          <p:cNvSpPr>
            <a:spLocks xmlns:a="http://schemas.openxmlformats.org/drawingml/2006/main" noGrp="1"/>
          </p:cNvSpPr>
          <p:nvPr/>
        </p:nvSpPr>
        <p:spPr>
          <a:xfrm xmlns:a="http://schemas.openxmlformats.org/drawingml/2006/main">
            <a:off x="6248400" y="4486275"/>
            <a:ext cx="133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
          </a:bodyPr>
          <a:lstStyle xmlns:a="http://schemas.openxmlformats.org/drawingml/2006/main"/>
          <a:p xmlns:a="http://schemas.openxmlformats.org/drawingml/2006/main">
            <a:pPr>
              <a:defRPr sz="1050" b="1">
                <a:solidFill>
                  <a:srgbClr val="FFFFFF"/>
                </a:solidFill>
                <a:latin typeface="Arial"/>
                <a:ea typeface="Arial"/>
                <a:cs typeface="Arial"/>
              </a:defRPr>
            </a:pPr>
            <a:r>
              <a:rPr sz="1050" b="1">
                <a:solidFill>
                  <a:srgbClr val="FFFFFF"/>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1A0D8F0F-E36B-481B-86D5-BB5140A15288}"/>
              </a:ext>
            </a:extLst>
          </p:cNvPr>
          <p:cNvSpPr>
            <a:spLocks xmlns:a="http://schemas.openxmlformats.org/drawingml/2006/main" noGrp="1"/>
          </p:cNvSpPr>
          <p:nvPr/>
        </p:nvSpPr>
        <p:spPr>
          <a:xfrm xmlns:a="http://schemas.openxmlformats.org/drawingml/2006/main">
            <a:off x="6534150" y="4457700"/>
            <a:ext cx="3714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444"/>
          </a:bodyPr>
          <a:lstStyle xmlns:a="http://schemas.openxmlformats.org/drawingml/2006/main"/>
          <a:p xmlns:a="http://schemas.openxmlformats.org/drawingml/2006/main">
            <a:pPr>
              <a:defRPr sz="1350" b="0">
                <a:solidFill>
                  <a:srgbClr val="1D2B27"/>
                </a:solidFill>
                <a:latin typeface="Arial"/>
                <a:ea typeface="Arial"/>
                <a:cs typeface="Arial"/>
              </a:defRPr>
            </a:pPr>
            <a:r>
              <a:rPr sz="1350" b="0">
                <a:solidFill>
                  <a:srgbClr val="1D2B27"/>
                </a:solidFill>
                <a:latin typeface="Arial"/>
                <a:ea typeface="Arial"/>
                <a:cs typeface="Arial"/>
              </a:rPr>
              <a:t>ratingCount (sensitivity only)</a:t>
            </a:r>
          </a:p>
        </p:txBody>
      </p:sp>
      <p:sp>
        <p:nvSpPr>
          <p:cNvPr id="34" name="">
            <a:extLst xmlns:a="http://schemas.openxmlformats.org/drawingml/2006/main">
              <a:ext uri="{FF2B5EF4-FFF2-40B4-BE49-F238E27FC236}">
                <a16:creationId xmlns:a16="http://schemas.microsoft.com/office/drawing/2014/main" id="{DE6E130A-5DFE-4516-A27C-94800556ED57}"/>
              </a:ext>
            </a:extLst>
          </p:cNvPr>
          <p:cNvSpPr>
            <a:spLocks xmlns:a="http://schemas.openxmlformats.org/drawingml/2006/main" noGrp="1"/>
          </p:cNvSpPr>
          <p:nvPr/>
        </p:nvSpPr>
        <p:spPr>
          <a:xfrm xmlns:a="http://schemas.openxmlformats.org/drawingml/2006/main">
            <a:off x="1162050" y="5791200"/>
            <a:ext cx="952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6825"/>
          </a:bodyPr>
          <a:lstStyle xmlns:a="http://schemas.openxmlformats.org/drawingml/2006/main"/>
          <a:p xmlns:a="http://schemas.openxmlformats.org/drawingml/2006/main">
            <a:pPr>
              <a:defRPr sz="1575" b="1">
                <a:solidFill>
                  <a:srgbClr val="173B31"/>
                </a:solidFill>
                <a:latin typeface="Arial"/>
                <a:ea typeface="Arial"/>
                <a:cs typeface="Arial"/>
              </a:defRPr>
            </a:pPr>
            <a:r>
              <a:rPr sz="1575" b="1">
                <a:solidFill>
                  <a:srgbClr val="173B31"/>
                </a:solidFill>
                <a:latin typeface="Arial"/>
                <a:ea typeface="Arial"/>
                <a:cs typeface="Arial"/>
              </a:rPr>
              <a:t>Entity-grouped splitting produced zero group overlap between train and test.</a:t>
            </a:r>
          </a:p>
        </p:txBody>
      </p:sp>
    </p:spTree>
    <p:extLst>
      <p:ext uri="{BB962C8B-B14F-4D97-AF65-F5344CB8AC3E}">
        <p14:creationId xmlns:p14="http://schemas.microsoft.com/office/powerpoint/2010/main" val="697423918"/>
      </p:ext>
    </p:extLst>
  </p:cSld>
</p:sld>
</file>

<file path=ppt/slides/slide10.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9597D80-2DAB-4F1E-9BE1-FC34DF0E216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642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5490CC-5E6E-4846-9562-45EE370355BC}"/>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MACHINE LEARNING</a:t>
            </a:r>
          </a:p>
        </p:txBody>
      </p:sp>
      <p:sp>
        <p:nvSpPr>
          <p:cNvPr id="3" name="">
            <a:extLst xmlns:a="http://schemas.openxmlformats.org/drawingml/2006/main">
              <a:ext uri="{FF2B5EF4-FFF2-40B4-BE49-F238E27FC236}">
                <a16:creationId xmlns:a16="http://schemas.microsoft.com/office/drawing/2014/main" id="{4A08D775-132B-438C-A540-D8FDF28433B4}"/>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837"/>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The model improves on a simple baseline — modestly, not magically.</a:t>
            </a:r>
          </a:p>
        </p:txBody>
      </p:sp>
      <p:sp>
        <p:nvSpPr>
          <p:cNvPr id="4" name="">
            <a:extLst xmlns:a="http://schemas.openxmlformats.org/drawingml/2006/main">
              <a:ext uri="{FF2B5EF4-FFF2-40B4-BE49-F238E27FC236}">
                <a16:creationId xmlns:a16="http://schemas.microsoft.com/office/drawing/2014/main" id="{00C2AB83-A5F9-4F62-9C4B-DF748FB07D1D}"/>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Random Forest was selected through grouped cross-validation and tested on unseen entity groups.</a:t>
            </a:r>
          </a:p>
        </p:txBody>
      </p:sp>
      <p:sp>
        <p:nvSpPr>
          <p:cNvPr id="5" name="">
            <a:extLst xmlns:a="http://schemas.openxmlformats.org/drawingml/2006/main">
              <a:ext uri="{FF2B5EF4-FFF2-40B4-BE49-F238E27FC236}">
                <a16:creationId xmlns:a16="http://schemas.microsoft.com/office/drawing/2014/main" id="{833EF247-C86D-49B7-B64D-D151C16DFF6C}"/>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10</a:t>
            </a:r>
          </a:p>
        </p:txBody>
      </p:sp>
      <p:graphicFrame>
        <p:nvGraphicFramePr>
          <p:cNvPr id="19" name=""/>
          <p:cNvGraphicFramePr/>
          <p:nvPr/>
        </p:nvGraphicFramePr>
        <p:xfrm>
          <a:off xmlns:a="http://schemas.openxmlformats.org/drawingml/2006/main" x="552450" y="2076450"/>
          <a:ext xmlns:a="http://schemas.openxmlformats.org/drawingml/2006/main" cx="6915150" cy="2628900"/>
        </p:xfrm>
        <a:graphic xmlns:a="http://schemas.openxmlformats.org/drawingml/2006/main">
          <a:graphicData uri="http://schemas.openxmlformats.org/drawingml/2006/table">
            <a:tbl>
              <a:tblPr firstRow="1" bandRow="1"/>
              <a:tblGrid>
                <a:gridCol w="1728788"/>
                <a:gridCol w="1728788"/>
                <a:gridCol w="1728788"/>
                <a:gridCol w="1728788"/>
              </a:tblGrid>
              <a:tr h="657225">
                <a:tc>
                  <a:txBody>
                    <a:bodyPr/>
                    <a:lstStyle/>
                    <a:p>
                      <a:r>
                        <a:rPr sz="1350" b="1">
                          <a:solidFill>
                            <a:srgbClr val="FFFFFF"/>
                          </a:solidFill>
                          <a:latin typeface="Arial"/>
                          <a:ea typeface="Arial"/>
                          <a:cs typeface="Arial"/>
                        </a:rPr>
                        <a:t>Model</a:t>
                      </a:r>
                    </a:p>
                  </a:txBody>
                  <a:tcPr marL="91440" marR="91440" marT="45720" marB="45720">
                    <a:solidFill>
                      <a:srgbClr val="173B31"/>
                    </a:solidFill>
                  </a:tcPr>
                </a:tc>
                <a:tc>
                  <a:txBody>
                    <a:bodyPr/>
                    <a:lstStyle/>
                    <a:p>
                      <a:r>
                        <a:rPr sz="1350" b="1">
                          <a:solidFill>
                            <a:srgbClr val="FFFFFF"/>
                          </a:solidFill>
                          <a:latin typeface="Arial"/>
                          <a:ea typeface="Arial"/>
                          <a:cs typeface="Arial"/>
                        </a:rPr>
                        <a:t>MAE</a:t>
                      </a:r>
                    </a:p>
                  </a:txBody>
                  <a:tcPr marL="91440" marR="91440" marT="45720" marB="45720">
                    <a:solidFill>
                      <a:srgbClr val="173B31"/>
                    </a:solidFill>
                  </a:tcPr>
                </a:tc>
                <a:tc>
                  <a:txBody>
                    <a:bodyPr/>
                    <a:lstStyle/>
                    <a:p>
                      <a:r>
                        <a:rPr sz="1350" b="1">
                          <a:solidFill>
                            <a:srgbClr val="FFFFFF"/>
                          </a:solidFill>
                          <a:latin typeface="Arial"/>
                          <a:ea typeface="Arial"/>
                          <a:cs typeface="Arial"/>
                        </a:rPr>
                        <a:t>RMSE</a:t>
                      </a:r>
                    </a:p>
                  </a:txBody>
                  <a:tcPr marL="91440" marR="91440" marT="45720" marB="45720">
                    <a:solidFill>
                      <a:srgbClr val="173B31"/>
                    </a:solidFill>
                  </a:tcPr>
                </a:tc>
                <a:tc>
                  <a:txBody>
                    <a:bodyPr/>
                    <a:lstStyle/>
                    <a:p>
                      <a:r>
                        <a:rPr sz="1350" b="1">
                          <a:solidFill>
                            <a:srgbClr val="FFFFFF"/>
                          </a:solidFill>
                          <a:latin typeface="Arial"/>
                          <a:ea typeface="Arial"/>
                          <a:cs typeface="Arial"/>
                        </a:rPr>
                        <a:t>R²</a:t>
                      </a:r>
                    </a:p>
                  </a:txBody>
                  <a:tcPr marL="91440" marR="91440" marT="45720" marB="45720">
                    <a:solidFill>
                      <a:srgbClr val="173B31"/>
                    </a:solidFill>
                  </a:tcPr>
                </a:tc>
              </a:tr>
              <a:tr h="657225">
                <a:tc>
                  <a:txBody>
                    <a:bodyPr/>
                    <a:lstStyle/>
                    <a:p>
                      <a:r>
                        <a:rPr sz="1275" b="0">
                          <a:solidFill>
                            <a:srgbClr val="1D2B27"/>
                          </a:solidFill>
                          <a:latin typeface="Arial"/>
                          <a:ea typeface="Arial"/>
                          <a:cs typeface="Arial"/>
                        </a:rPr>
                        <a:t>Median baseline</a:t>
                      </a:r>
                    </a:p>
                  </a:txBody>
                  <a:tcPr marL="91440" marR="91440" marT="45720" marB="45720"/>
                </a:tc>
                <a:tc>
                  <a:txBody>
                    <a:bodyPr/>
                    <a:lstStyle/>
                    <a:p>
                      <a:r>
                        <a:rPr sz="1275" b="0">
                          <a:solidFill>
                            <a:srgbClr val="1D2B27"/>
                          </a:solidFill>
                          <a:latin typeface="Arial"/>
                          <a:ea typeface="Arial"/>
                          <a:cs typeface="Arial"/>
                        </a:rPr>
                        <a:t>0.517</a:t>
                      </a:r>
                    </a:p>
                  </a:txBody>
                  <a:tcPr marL="91440" marR="91440" marT="45720" marB="45720"/>
                </a:tc>
                <a:tc>
                  <a:txBody>
                    <a:bodyPr/>
                    <a:lstStyle/>
                    <a:p>
                      <a:r>
                        <a:rPr sz="1275" b="0">
                          <a:solidFill>
                            <a:srgbClr val="1D2B27"/>
                          </a:solidFill>
                          <a:latin typeface="Arial"/>
                          <a:ea typeface="Arial"/>
                          <a:cs typeface="Arial"/>
                        </a:rPr>
                        <a:t>—</a:t>
                      </a:r>
                    </a:p>
                  </a:txBody>
                  <a:tcPr marL="91440" marR="91440" marT="45720" marB="45720"/>
                </a:tc>
                <a:tc>
                  <a:txBody>
                    <a:bodyPr/>
                    <a:lstStyle/>
                    <a:p>
                      <a:r>
                        <a:rPr sz="1275" b="0">
                          <a:solidFill>
                            <a:srgbClr val="1D2B27"/>
                          </a:solidFill>
                          <a:latin typeface="Arial"/>
                          <a:ea typeface="Arial"/>
                          <a:cs typeface="Arial"/>
                        </a:rPr>
                        <a:t>—</a:t>
                      </a:r>
                    </a:p>
                  </a:txBody>
                  <a:tcPr marL="91440" marR="91440" marT="45720" marB="45720"/>
                </a:tc>
              </a:tr>
              <a:tr h="657225">
                <a:tc>
                  <a:txBody>
                    <a:bodyPr/>
                    <a:lstStyle/>
                    <a:p>
                      <a:r>
                        <a:rPr sz="1275" b="0">
                          <a:solidFill>
                            <a:srgbClr val="1D2B27"/>
                          </a:solidFill>
                          <a:latin typeface="Arial"/>
                          <a:ea typeface="Arial"/>
                          <a:cs typeface="Arial"/>
                        </a:rPr>
                        <a:t>Mean baseline</a:t>
                      </a:r>
                    </a:p>
                  </a:txBody>
                  <a:tcPr marL="91440" marR="91440" marT="45720" marB="45720"/>
                </a:tc>
                <a:tc>
                  <a:txBody>
                    <a:bodyPr/>
                    <a:lstStyle/>
                    <a:p>
                      <a:r>
                        <a:rPr sz="1275" b="0">
                          <a:solidFill>
                            <a:srgbClr val="1D2B27"/>
                          </a:solidFill>
                          <a:latin typeface="Arial"/>
                          <a:ea typeface="Arial"/>
                          <a:cs typeface="Arial"/>
                        </a:rPr>
                        <a:t>0.522</a:t>
                      </a:r>
                    </a:p>
                  </a:txBody>
                  <a:tcPr marL="91440" marR="91440" marT="45720" marB="45720"/>
                </a:tc>
                <a:tc>
                  <a:txBody>
                    <a:bodyPr/>
                    <a:lstStyle/>
                    <a:p>
                      <a:r>
                        <a:rPr sz="1275" b="0">
                          <a:solidFill>
                            <a:srgbClr val="1D2B27"/>
                          </a:solidFill>
                          <a:latin typeface="Arial"/>
                          <a:ea typeface="Arial"/>
                          <a:cs typeface="Arial"/>
                        </a:rPr>
                        <a:t>—</a:t>
                      </a:r>
                    </a:p>
                  </a:txBody>
                  <a:tcPr marL="91440" marR="91440" marT="45720" marB="45720"/>
                </a:tc>
                <a:tc>
                  <a:txBody>
                    <a:bodyPr/>
                    <a:lstStyle/>
                    <a:p>
                      <a:r>
                        <a:rPr sz="1275" b="0">
                          <a:solidFill>
                            <a:srgbClr val="1D2B27"/>
                          </a:solidFill>
                          <a:latin typeface="Arial"/>
                          <a:ea typeface="Arial"/>
                          <a:cs typeface="Arial"/>
                        </a:rPr>
                        <a:t>—</a:t>
                      </a:r>
                    </a:p>
                  </a:txBody>
                  <a:tcPr marL="91440" marR="91440" marT="45720" marB="45720"/>
                </a:tc>
              </a:tr>
              <a:tr h="657225">
                <a:tc>
                  <a:txBody>
                    <a:bodyPr/>
                    <a:lstStyle/>
                    <a:p>
                      <a:r>
                        <a:rPr sz="1275" b="1">
                          <a:solidFill>
                            <a:srgbClr val="1D2B27"/>
                          </a:solidFill>
                          <a:latin typeface="Arial"/>
                          <a:ea typeface="Arial"/>
                          <a:cs typeface="Arial"/>
                        </a:rPr>
                        <a:t>Random Forest</a:t>
                      </a:r>
                    </a:p>
                  </a:txBody>
                  <a:tcPr marL="91440" marR="91440" marT="45720" marB="45720">
                    <a:solidFill>
                      <a:srgbClr val="DDECE2"/>
                    </a:solidFill>
                  </a:tcPr>
                </a:tc>
                <a:tc>
                  <a:txBody>
                    <a:bodyPr/>
                    <a:lstStyle/>
                    <a:p>
                      <a:r>
                        <a:rPr sz="1275" b="1">
                          <a:solidFill>
                            <a:srgbClr val="1D2B27"/>
                          </a:solidFill>
                          <a:latin typeface="Arial"/>
                          <a:ea typeface="Arial"/>
                          <a:cs typeface="Arial"/>
                        </a:rPr>
                        <a:t>0.466</a:t>
                      </a:r>
                    </a:p>
                  </a:txBody>
                  <a:tcPr marL="91440" marR="91440" marT="45720" marB="45720">
                    <a:solidFill>
                      <a:srgbClr val="DDECE2"/>
                    </a:solidFill>
                  </a:tcPr>
                </a:tc>
                <a:tc>
                  <a:txBody>
                    <a:bodyPr/>
                    <a:lstStyle/>
                    <a:p>
                      <a:r>
                        <a:rPr sz="1275" b="1">
                          <a:solidFill>
                            <a:srgbClr val="1D2B27"/>
                          </a:solidFill>
                          <a:latin typeface="Arial"/>
                          <a:ea typeface="Arial"/>
                          <a:cs typeface="Arial"/>
                        </a:rPr>
                        <a:t>0.610</a:t>
                      </a:r>
                    </a:p>
                  </a:txBody>
                  <a:tcPr marL="91440" marR="91440" marT="45720" marB="45720">
                    <a:solidFill>
                      <a:srgbClr val="DDECE2"/>
                    </a:solidFill>
                  </a:tcPr>
                </a:tc>
                <a:tc>
                  <a:txBody>
                    <a:bodyPr/>
                    <a:lstStyle/>
                    <a:p>
                      <a:r>
                        <a:rPr sz="1275" b="1">
                          <a:solidFill>
                            <a:srgbClr val="1D2B27"/>
                          </a:solidFill>
                          <a:latin typeface="Arial"/>
                          <a:ea typeface="Arial"/>
                          <a:cs typeface="Arial"/>
                        </a:rPr>
                        <a:t>0.163</a:t>
                      </a:r>
                    </a:p>
                  </a:txBody>
                  <a:tcPr marL="91440" marR="91440" marT="45720" marB="45720">
                    <a:solidFill>
                      <a:srgbClr val="DDECE2"/>
                    </a:solidFill>
                  </a:tcPr>
                </a:tc>
              </a:tr>
            </a:tbl>
          </a:graphicData>
        </a:graphic>
      </p:graphicFrame>
      <p:sp>
        <p:nvSpPr>
          <p:cNvPr id="7" name="">
            <a:extLst xmlns:a="http://schemas.openxmlformats.org/drawingml/2006/main">
              <a:ext uri="{FF2B5EF4-FFF2-40B4-BE49-F238E27FC236}">
                <a16:creationId xmlns:a16="http://schemas.microsoft.com/office/drawing/2014/main" id="{33F227CA-CA42-45A9-A2B5-8FDDAA455BCB}"/>
              </a:ext>
            </a:extLst>
          </p:cNvPr>
          <p:cNvSpPr>
            <a:spLocks xmlns:a="http://schemas.openxmlformats.org/drawingml/2006/main" noGrp="1"/>
          </p:cNvSpPr>
          <p:nvPr/>
        </p:nvSpPr>
        <p:spPr>
          <a:xfrm xmlns:a="http://schemas.openxmlformats.org/drawingml/2006/main">
            <a:off x="7905750" y="2076450"/>
            <a:ext cx="2952750" cy="2628900"/>
          </a:xfrm>
          <a:prstGeom xmlns:a="http://schemas.openxmlformats.org/drawingml/2006/main" prst="roundRect">
            <a:avLst>
              <a:gd name="adj" fmla="val 2899"/>
            </a:avLst>
          </a:prstGeom>
          <a:solidFill xmlns:a="http://schemas.openxmlformats.org/drawingml/2006/main">
            <a:srgbClr val="F5E7CB"/>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C42784D-2B8F-43CF-B019-8E1631DABFF4}"/>
              </a:ext>
            </a:extLst>
          </p:cNvPr>
          <p:cNvSpPr>
            <a:spLocks xmlns:a="http://schemas.openxmlformats.org/drawingml/2006/main" noGrp="1"/>
          </p:cNvSpPr>
          <p:nvPr/>
        </p:nvSpPr>
        <p:spPr>
          <a:xfrm xmlns:a="http://schemas.openxmlformats.org/drawingml/2006/main">
            <a:off x="8191500" y="236220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350" b="1">
                <a:solidFill>
                  <a:srgbClr val="C64235"/>
                </a:solidFill>
                <a:latin typeface="Arial"/>
                <a:ea typeface="Arial"/>
                <a:cs typeface="Arial"/>
              </a:defRPr>
            </a:pPr>
            <a:r>
              <a:rPr sz="1350" b="1">
                <a:solidFill>
                  <a:srgbClr val="C64235"/>
                </a:solidFill>
                <a:latin typeface="Arial"/>
                <a:ea typeface="Arial"/>
                <a:cs typeface="Arial"/>
              </a:rPr>
              <a:t>Held-out test</a:t>
            </a:r>
          </a:p>
        </p:txBody>
      </p:sp>
      <p:sp>
        <p:nvSpPr>
          <p:cNvPr id="9" name="">
            <a:extLst xmlns:a="http://schemas.openxmlformats.org/drawingml/2006/main">
              <a:ext uri="{FF2B5EF4-FFF2-40B4-BE49-F238E27FC236}">
                <a16:creationId xmlns:a16="http://schemas.microsoft.com/office/drawing/2014/main" id="{B2BC7A54-8ECC-43B1-A600-D62E9C62DB6C}"/>
              </a:ext>
            </a:extLst>
          </p:cNvPr>
          <p:cNvSpPr>
            <a:spLocks xmlns:a="http://schemas.openxmlformats.org/drawingml/2006/main" noGrp="1"/>
          </p:cNvSpPr>
          <p:nvPr/>
        </p:nvSpPr>
        <p:spPr>
          <a:xfrm xmlns:a="http://schemas.openxmlformats.org/drawingml/2006/main">
            <a:off x="8191500" y="2762250"/>
            <a:ext cx="238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927"/>
          </a:bodyPr>
          <a:lstStyle xmlns:a="http://schemas.openxmlformats.org/drawingml/2006/main"/>
          <a:p xmlns:a="http://schemas.openxmlformats.org/drawingml/2006/main">
            <a:pPr>
              <a:defRPr sz="3450" b="1">
                <a:solidFill>
                  <a:srgbClr val="173B31"/>
                </a:solidFill>
                <a:latin typeface="Arial"/>
                <a:ea typeface="Arial"/>
                <a:cs typeface="Arial"/>
              </a:defRPr>
            </a:pPr>
            <a:r>
              <a:rPr sz="3450" b="1">
                <a:solidFill>
                  <a:srgbClr val="173B31"/>
                </a:solidFill>
                <a:latin typeface="Arial"/>
                <a:ea typeface="Arial"/>
                <a:cs typeface="Arial"/>
              </a:rPr>
              <a:t>639</a:t>
            </a:r>
          </a:p>
        </p:txBody>
      </p:sp>
      <p:sp>
        <p:nvSpPr>
          <p:cNvPr id="10" name="">
            <a:extLst xmlns:a="http://schemas.openxmlformats.org/drawingml/2006/main">
              <a:ext uri="{FF2B5EF4-FFF2-40B4-BE49-F238E27FC236}">
                <a16:creationId xmlns:a16="http://schemas.microsoft.com/office/drawing/2014/main" id="{D7D6CE67-98AB-4E96-9284-D1B39B90928F}"/>
              </a:ext>
            </a:extLst>
          </p:cNvPr>
          <p:cNvSpPr>
            <a:spLocks xmlns:a="http://schemas.openxmlformats.org/drawingml/2006/main" noGrp="1"/>
          </p:cNvSpPr>
          <p:nvPr/>
        </p:nvSpPr>
        <p:spPr>
          <a:xfrm xmlns:a="http://schemas.openxmlformats.org/drawingml/2006/main">
            <a:off x="8191500" y="3333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185"/>
          </a:bodyPr>
          <a:lstStyle xmlns:a="http://schemas.openxmlformats.org/drawingml/2006/main"/>
          <a:p xmlns:a="http://schemas.openxmlformats.org/drawingml/2006/main">
            <a:pPr>
              <a:defRPr sz="1350" b="0">
                <a:solidFill>
                  <a:srgbClr val="66736D"/>
                </a:solidFill>
                <a:latin typeface="Arial"/>
                <a:ea typeface="Arial"/>
                <a:cs typeface="Arial"/>
              </a:defRPr>
            </a:pPr>
            <a:r>
              <a:rPr sz="1350" b="0">
                <a:solidFill>
                  <a:srgbClr val="66736D"/>
                </a:solidFill>
                <a:latin typeface="Arial"/>
                <a:ea typeface="Arial"/>
                <a:cs typeface="Arial"/>
              </a:rPr>
              <a:t>venues</a:t>
            </a:r>
          </a:p>
        </p:txBody>
      </p:sp>
      <p:sp>
        <p:nvSpPr>
          <p:cNvPr id="11" name="">
            <a:extLst xmlns:a="http://schemas.openxmlformats.org/drawingml/2006/main">
              <a:ext uri="{FF2B5EF4-FFF2-40B4-BE49-F238E27FC236}">
                <a16:creationId xmlns:a16="http://schemas.microsoft.com/office/drawing/2014/main" id="{BC7CE3B5-17AB-47F8-92C8-568E68B7DA99}"/>
              </a:ext>
            </a:extLst>
          </p:cNvPr>
          <p:cNvSpPr>
            <a:spLocks xmlns:a="http://schemas.openxmlformats.org/drawingml/2006/main" noGrp="1"/>
          </p:cNvSpPr>
          <p:nvPr/>
        </p:nvSpPr>
        <p:spPr>
          <a:xfrm xmlns:a="http://schemas.openxmlformats.org/drawingml/2006/main">
            <a:off x="8191500" y="3800475"/>
            <a:ext cx="23241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Train: 2,547</a:t>
            </a:r>
          </a:p>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Unrated predictions: 511</a:t>
            </a:r>
          </a:p>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All predictions persisted: 3,697</a:t>
            </a:r>
          </a:p>
        </p:txBody>
      </p:sp>
      <p:sp>
        <p:nvSpPr>
          <p:cNvPr id="12" name="">
            <a:extLst xmlns:a="http://schemas.openxmlformats.org/drawingml/2006/main">
              <a:ext uri="{FF2B5EF4-FFF2-40B4-BE49-F238E27FC236}">
                <a16:creationId xmlns:a16="http://schemas.microsoft.com/office/drawing/2014/main" id="{7307FE4E-B5FB-4C37-BF3C-6652E3B6E6F9}"/>
              </a:ext>
            </a:extLst>
          </p:cNvPr>
          <p:cNvSpPr>
            <a:spLocks xmlns:a="http://schemas.openxmlformats.org/drawingml/2006/main" noGrp="1"/>
          </p:cNvSpPr>
          <p:nvPr/>
        </p:nvSpPr>
        <p:spPr>
          <a:xfrm xmlns:a="http://schemas.openxmlformats.org/drawingml/2006/main">
            <a:off x="552450" y="5105400"/>
            <a:ext cx="10306050" cy="781050"/>
          </a:xfrm>
          <a:prstGeom xmlns:a="http://schemas.openxmlformats.org/drawingml/2006/main" prst="roundRect">
            <a:avLst>
              <a:gd name="adj" fmla="val 9756"/>
            </a:avLst>
          </a:prstGeom>
          <a:solidFill xmlns:a="http://schemas.openxmlformats.org/drawingml/2006/main">
            <a:srgbClr val="173B3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8D290D3-711F-4B23-A03D-1B5674BF6567}"/>
              </a:ext>
            </a:extLst>
          </p:cNvPr>
          <p:cNvSpPr>
            <a:spLocks xmlns:a="http://schemas.openxmlformats.org/drawingml/2006/main" noGrp="1"/>
          </p:cNvSpPr>
          <p:nvPr/>
        </p:nvSpPr>
        <p:spPr>
          <a:xfrm xmlns:a="http://schemas.openxmlformats.org/drawingml/2006/main">
            <a:off x="819150" y="5314950"/>
            <a:ext cx="97917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855"/>
          </a:bodyPr>
          <a:lstStyle xmlns:a="http://schemas.openxmlformats.org/drawingml/2006/main"/>
          <a:p xmlns:a="http://schemas.openxmlformats.org/drawingml/2006/main">
            <a:pPr>
              <a:defRPr sz="1575" b="1">
                <a:solidFill>
                  <a:srgbClr val="FFFFFF"/>
                </a:solidFill>
                <a:latin typeface="Arial"/>
                <a:ea typeface="Arial"/>
                <a:cs typeface="Arial"/>
              </a:defRPr>
            </a:pPr>
            <a:r>
              <a:rPr sz="1575" b="1">
                <a:solidFill>
                  <a:srgbClr val="FFFFFF"/>
                </a:solidFill>
                <a:latin typeface="Arial"/>
                <a:ea typeface="Arial"/>
                <a:cs typeface="Arial"/>
              </a:rPr>
              <a:t>Interpretation: useful research signal, but R² = 0.163 means substantial rating variation remains unexplained.</a:t>
            </a:r>
          </a:p>
        </p:txBody>
      </p:sp>
    </p:spTree>
    <p:extLst>
      <p:ext uri="{BB962C8B-B14F-4D97-AF65-F5344CB8AC3E}">
        <p14:creationId xmlns:p14="http://schemas.microsoft.com/office/powerpoint/2010/main" val="2031683382"/>
      </p:ext>
    </p:extLst>
  </p:cSld>
</p:sld>
</file>

<file path=ppt/slides/slide11.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1BDB71B-261B-4BFF-9490-F6CE9478B29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D7A6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363CDF-E5E5-40E5-8A94-DC623AB3AF46}"/>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PRODUCT</a:t>
            </a:r>
          </a:p>
        </p:txBody>
      </p:sp>
      <p:sp>
        <p:nvSpPr>
          <p:cNvPr id="3" name="">
            <a:extLst xmlns:a="http://schemas.openxmlformats.org/drawingml/2006/main">
              <a:ext uri="{FF2B5EF4-FFF2-40B4-BE49-F238E27FC236}">
                <a16:creationId xmlns:a16="http://schemas.microsoft.com/office/drawing/2014/main" id="{B68E2C5A-B498-436D-8C0D-6819C4E859DC}"/>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529"/>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The dashboard converts technical work into a guided evidence trail.</a:t>
            </a:r>
          </a:p>
        </p:txBody>
      </p:sp>
      <p:sp>
        <p:nvSpPr>
          <p:cNvPr id="4" name="">
            <a:extLst xmlns:a="http://schemas.openxmlformats.org/drawingml/2006/main">
              <a:ext uri="{FF2B5EF4-FFF2-40B4-BE49-F238E27FC236}">
                <a16:creationId xmlns:a16="http://schemas.microsoft.com/office/drawing/2014/main" id="{DCDEDA4B-4D25-4897-ABC6-774487FAFC7E}"/>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Users can move from summary, to records, to geography, to model explanation.</a:t>
            </a:r>
          </a:p>
        </p:txBody>
      </p:sp>
      <p:sp>
        <p:nvSpPr>
          <p:cNvPr id="5" name="">
            <a:extLst xmlns:a="http://schemas.openxmlformats.org/drawingml/2006/main">
              <a:ext uri="{FF2B5EF4-FFF2-40B4-BE49-F238E27FC236}">
                <a16:creationId xmlns:a16="http://schemas.microsoft.com/office/drawing/2014/main" id="{63FD79B1-07C4-42E1-AE95-F1E9C0D4F46E}"/>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11</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7179acd0154459d"/>
          <a:srcRect xmlns:a="http://schemas.openxmlformats.org/drawingml/2006/main" l="0" t="24525" r="0" b="24525"/>
          <a:stretch xmlns:a="http://schemas.openxmlformats.org/drawingml/2006/main">
            <a:fillRect l="0" t="0" r="0" b="0"/>
          </a:stretch>
        </p:blipFill>
        <p:spPr>
          <a:xfrm xmlns:a="http://schemas.openxmlformats.org/drawingml/2006/main">
            <a:off x="552450" y="1943100"/>
            <a:ext cx="4953000" cy="1733550"/>
          </a:xfrm>
          <a:prstGeom xmlns:a="http://schemas.openxmlformats.org/drawingml/2006/main" prst="roundRect">
            <a:avLst>
              <a:gd name="adj" fmla="val 6593"/>
            </a:avLst>
          </a:prstGeom>
        </p:spPr>
      </p:pic>
      <p:sp>
        <p:nvSpPr>
          <p:cNvPr id="7" name="">
            <a:extLst xmlns:a="http://schemas.openxmlformats.org/drawingml/2006/main">
              <a:ext uri="{FF2B5EF4-FFF2-40B4-BE49-F238E27FC236}">
                <a16:creationId xmlns:a16="http://schemas.microsoft.com/office/drawing/2014/main" id="{31E01BC0-E74C-4B7E-8003-36816C78A651}"/>
              </a:ext>
            </a:extLst>
          </p:cNvPr>
          <p:cNvSpPr>
            <a:spLocks xmlns:a="http://schemas.openxmlformats.org/drawingml/2006/main" noGrp="1"/>
          </p:cNvSpPr>
          <p:nvPr/>
        </p:nvSpPr>
        <p:spPr>
          <a:xfrm xmlns:a="http://schemas.openxmlformats.org/drawingml/2006/main">
            <a:off x="552450" y="3343275"/>
            <a:ext cx="4953000" cy="333375"/>
          </a:xfrm>
          <a:prstGeom xmlns:a="http://schemas.openxmlformats.org/drawingml/2006/main" prst="rect">
            <a:avLst/>
          </a:prstGeom>
          <a:solidFill xmlns:a="http://schemas.openxmlformats.org/drawingml/2006/main">
            <a:srgbClr val="173B31"/>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73BD27E-9EE6-4E71-908A-99B48BC596AB}"/>
              </a:ext>
            </a:extLst>
          </p:cNvPr>
          <p:cNvSpPr>
            <a:spLocks xmlns:a="http://schemas.openxmlformats.org/drawingml/2006/main" noGrp="1"/>
          </p:cNvSpPr>
          <p:nvPr/>
        </p:nvSpPr>
        <p:spPr>
          <a:xfrm xmlns:a="http://schemas.openxmlformats.org/drawingml/2006/main">
            <a:off x="704850" y="3419475"/>
            <a:ext cx="457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defRPr sz="1050" b="1">
                <a:solidFill>
                  <a:srgbClr val="FFFFFF"/>
                </a:solidFill>
                <a:latin typeface="Arial"/>
                <a:ea typeface="Arial"/>
                <a:cs typeface="Arial"/>
              </a:defRPr>
            </a:pPr>
            <a:r>
              <a:rPr sz="1050" b="1">
                <a:solidFill>
                  <a:srgbClr val="FFFFFF"/>
                </a:solidFill>
                <a:latin typeface="Arial"/>
                <a:ea typeface="Arial"/>
                <a:cs typeface="Arial"/>
              </a:rPr>
              <a:t>1 · Overview</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106e40f33f24dcf"/>
          <a:srcRect xmlns:a="http://schemas.openxmlformats.org/drawingml/2006/main" l="0" t="24525" r="0" b="24525"/>
          <a:stretch xmlns:a="http://schemas.openxmlformats.org/drawingml/2006/main">
            <a:fillRect l="0" t="0" r="0" b="0"/>
          </a:stretch>
        </p:blipFill>
        <p:spPr>
          <a:xfrm xmlns:a="http://schemas.openxmlformats.org/drawingml/2006/main">
            <a:off x="5810250" y="1943100"/>
            <a:ext cx="4953000" cy="1733550"/>
          </a:xfrm>
          <a:prstGeom xmlns:a="http://schemas.openxmlformats.org/drawingml/2006/main" prst="roundRect">
            <a:avLst>
              <a:gd name="adj" fmla="val 6593"/>
            </a:avLst>
          </a:prstGeom>
        </p:spPr>
      </p:pic>
      <p:sp>
        <p:nvSpPr>
          <p:cNvPr id="10" name="">
            <a:extLst xmlns:a="http://schemas.openxmlformats.org/drawingml/2006/main">
              <a:ext uri="{FF2B5EF4-FFF2-40B4-BE49-F238E27FC236}">
                <a16:creationId xmlns:a16="http://schemas.microsoft.com/office/drawing/2014/main" id="{7952F65D-5869-4282-B880-F44058D94C0D}"/>
              </a:ext>
            </a:extLst>
          </p:cNvPr>
          <p:cNvSpPr>
            <a:spLocks xmlns:a="http://schemas.openxmlformats.org/drawingml/2006/main" noGrp="1"/>
          </p:cNvSpPr>
          <p:nvPr/>
        </p:nvSpPr>
        <p:spPr>
          <a:xfrm xmlns:a="http://schemas.openxmlformats.org/drawingml/2006/main">
            <a:off x="5810250" y="3343275"/>
            <a:ext cx="4953000" cy="333375"/>
          </a:xfrm>
          <a:prstGeom xmlns:a="http://schemas.openxmlformats.org/drawingml/2006/main" prst="rect">
            <a:avLst/>
          </a:prstGeom>
          <a:solidFill xmlns:a="http://schemas.openxmlformats.org/drawingml/2006/main">
            <a:srgbClr val="173B31"/>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D917ACD-519E-4FD7-B402-18F89F706918}"/>
              </a:ext>
            </a:extLst>
          </p:cNvPr>
          <p:cNvSpPr>
            <a:spLocks xmlns:a="http://schemas.openxmlformats.org/drawingml/2006/main" noGrp="1"/>
          </p:cNvSpPr>
          <p:nvPr/>
        </p:nvSpPr>
        <p:spPr>
          <a:xfrm xmlns:a="http://schemas.openxmlformats.org/drawingml/2006/main">
            <a:off x="5962650" y="3419475"/>
            <a:ext cx="457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defRPr sz="1050" b="1">
                <a:solidFill>
                  <a:srgbClr val="FFFFFF"/>
                </a:solidFill>
                <a:latin typeface="Arial"/>
                <a:ea typeface="Arial"/>
                <a:cs typeface="Arial"/>
              </a:defRPr>
            </a:pPr>
            <a:r>
              <a:rPr sz="1050" b="1">
                <a:solidFill>
                  <a:srgbClr val="FFFFFF"/>
                </a:solidFill>
                <a:latin typeface="Arial"/>
                <a:ea typeface="Arial"/>
                <a:cs typeface="Arial"/>
              </a:rPr>
              <a:t>2 · Venue explorer</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526a0bd1e224bbc"/>
          <a:srcRect xmlns:a="http://schemas.openxmlformats.org/drawingml/2006/main" l="0" t="24525" r="0" b="24525"/>
          <a:stretch xmlns:a="http://schemas.openxmlformats.org/drawingml/2006/main">
            <a:fillRect l="0" t="0" r="0" b="0"/>
          </a:stretch>
        </p:blipFill>
        <p:spPr>
          <a:xfrm xmlns:a="http://schemas.openxmlformats.org/drawingml/2006/main">
            <a:off x="552450" y="4171950"/>
            <a:ext cx="4953000" cy="1733550"/>
          </a:xfrm>
          <a:prstGeom xmlns:a="http://schemas.openxmlformats.org/drawingml/2006/main" prst="roundRect">
            <a:avLst>
              <a:gd name="adj" fmla="val 6593"/>
            </a:avLst>
          </a:prstGeom>
        </p:spPr>
      </p:pic>
      <p:sp>
        <p:nvSpPr>
          <p:cNvPr id="13" name="">
            <a:extLst xmlns:a="http://schemas.openxmlformats.org/drawingml/2006/main">
              <a:ext uri="{FF2B5EF4-FFF2-40B4-BE49-F238E27FC236}">
                <a16:creationId xmlns:a16="http://schemas.microsoft.com/office/drawing/2014/main" id="{E271AE3E-07AD-47A5-B6A7-743438912999}"/>
              </a:ext>
            </a:extLst>
          </p:cNvPr>
          <p:cNvSpPr>
            <a:spLocks xmlns:a="http://schemas.openxmlformats.org/drawingml/2006/main" noGrp="1"/>
          </p:cNvSpPr>
          <p:nvPr/>
        </p:nvSpPr>
        <p:spPr>
          <a:xfrm xmlns:a="http://schemas.openxmlformats.org/drawingml/2006/main">
            <a:off x="552450" y="5572125"/>
            <a:ext cx="4953000" cy="333375"/>
          </a:xfrm>
          <a:prstGeom xmlns:a="http://schemas.openxmlformats.org/drawingml/2006/main" prst="rect">
            <a:avLst/>
          </a:prstGeom>
          <a:solidFill xmlns:a="http://schemas.openxmlformats.org/drawingml/2006/main">
            <a:srgbClr val="173B31"/>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C82F080-260E-472A-A0FF-7B6B23E8A554}"/>
              </a:ext>
            </a:extLst>
          </p:cNvPr>
          <p:cNvSpPr>
            <a:spLocks xmlns:a="http://schemas.openxmlformats.org/drawingml/2006/main" noGrp="1"/>
          </p:cNvSpPr>
          <p:nvPr/>
        </p:nvSpPr>
        <p:spPr>
          <a:xfrm xmlns:a="http://schemas.openxmlformats.org/drawingml/2006/main">
            <a:off x="704850" y="5648325"/>
            <a:ext cx="457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defRPr sz="1050" b="1">
                <a:solidFill>
                  <a:srgbClr val="FFFFFF"/>
                </a:solidFill>
                <a:latin typeface="Arial"/>
                <a:ea typeface="Arial"/>
                <a:cs typeface="Arial"/>
              </a:defRPr>
            </a:pPr>
            <a:r>
              <a:rPr sz="1050" b="1">
                <a:solidFill>
                  <a:srgbClr val="FFFFFF"/>
                </a:solidFill>
                <a:latin typeface="Arial"/>
                <a:ea typeface="Arial"/>
                <a:cs typeface="Arial"/>
              </a:rPr>
              <a:t>3 · Interactive map</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624cbf18a6e4ed0"/>
          <a:srcRect xmlns:a="http://schemas.openxmlformats.org/drawingml/2006/main" l="0" t="24525" r="0" b="24525"/>
          <a:stretch xmlns:a="http://schemas.openxmlformats.org/drawingml/2006/main">
            <a:fillRect l="0" t="0" r="0" b="0"/>
          </a:stretch>
        </p:blipFill>
        <p:spPr>
          <a:xfrm xmlns:a="http://schemas.openxmlformats.org/drawingml/2006/main">
            <a:off x="5810250" y="4171950"/>
            <a:ext cx="4953000" cy="1733550"/>
          </a:xfrm>
          <a:prstGeom xmlns:a="http://schemas.openxmlformats.org/drawingml/2006/main" prst="roundRect">
            <a:avLst>
              <a:gd name="adj" fmla="val 6593"/>
            </a:avLst>
          </a:prstGeom>
        </p:spPr>
      </p:pic>
      <p:sp>
        <p:nvSpPr>
          <p:cNvPr id="16" name="">
            <a:extLst xmlns:a="http://schemas.openxmlformats.org/drawingml/2006/main">
              <a:ext uri="{FF2B5EF4-FFF2-40B4-BE49-F238E27FC236}">
                <a16:creationId xmlns:a16="http://schemas.microsoft.com/office/drawing/2014/main" id="{C94DE788-6BD3-4303-BE8B-8437C4EBFCBA}"/>
              </a:ext>
            </a:extLst>
          </p:cNvPr>
          <p:cNvSpPr>
            <a:spLocks xmlns:a="http://schemas.openxmlformats.org/drawingml/2006/main" noGrp="1"/>
          </p:cNvSpPr>
          <p:nvPr/>
        </p:nvSpPr>
        <p:spPr>
          <a:xfrm xmlns:a="http://schemas.openxmlformats.org/drawingml/2006/main">
            <a:off x="5810250" y="5572125"/>
            <a:ext cx="4953000" cy="333375"/>
          </a:xfrm>
          <a:prstGeom xmlns:a="http://schemas.openxmlformats.org/drawingml/2006/main" prst="rect">
            <a:avLst/>
          </a:prstGeom>
          <a:solidFill xmlns:a="http://schemas.openxmlformats.org/drawingml/2006/main">
            <a:srgbClr val="173B31"/>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2DBC815-994F-45B1-B2C9-9816067C00EC}"/>
              </a:ext>
            </a:extLst>
          </p:cNvPr>
          <p:cNvSpPr>
            <a:spLocks xmlns:a="http://schemas.openxmlformats.org/drawingml/2006/main" noGrp="1"/>
          </p:cNvSpPr>
          <p:nvPr/>
        </p:nvSpPr>
        <p:spPr>
          <a:xfrm xmlns:a="http://schemas.openxmlformats.org/drawingml/2006/main">
            <a:off x="5962650" y="5648325"/>
            <a:ext cx="457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defRPr sz="1050" b="1">
                <a:solidFill>
                  <a:srgbClr val="FFFFFF"/>
                </a:solidFill>
                <a:latin typeface="Arial"/>
                <a:ea typeface="Arial"/>
                <a:cs typeface="Arial"/>
              </a:defRPr>
            </a:pPr>
            <a:r>
              <a:rPr sz="1050" b="1">
                <a:solidFill>
                  <a:srgbClr val="FFFFFF"/>
                </a:solidFill>
                <a:latin typeface="Arial"/>
                <a:ea typeface="Arial"/>
                <a:cs typeface="Arial"/>
              </a:rPr>
              <a:t>4 · ML explanation</a:t>
            </a:r>
          </a:p>
        </p:txBody>
      </p:sp>
    </p:spTree>
    <p:extLst>
      <p:ext uri="{BB962C8B-B14F-4D97-AF65-F5344CB8AC3E}">
        <p14:creationId xmlns:p14="http://schemas.microsoft.com/office/powerpoint/2010/main" val="1507837201"/>
      </p:ext>
    </p:extLst>
  </p:cSld>
</p:sld>
</file>

<file path=ppt/slides/slide12.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9C80FFB5-6CB8-4623-936C-1D5DE9B994D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D8902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6269B2-3512-4016-8EC8-ECD1AA7ED4CF}"/>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COMMUNITY DATA</a:t>
            </a:r>
          </a:p>
        </p:txBody>
      </p:sp>
      <p:sp>
        <p:nvSpPr>
          <p:cNvPr id="3" name="">
            <a:extLst xmlns:a="http://schemas.openxmlformats.org/drawingml/2006/main">
              <a:ext uri="{FF2B5EF4-FFF2-40B4-BE49-F238E27FC236}">
                <a16:creationId xmlns:a16="http://schemas.microsoft.com/office/drawing/2014/main" id="{DA77BE79-51AD-4D2A-A062-AD83D2A8F3FB}"/>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Public contribution is allowed — direct database editing is not.</a:t>
            </a:r>
          </a:p>
        </p:txBody>
      </p:sp>
      <p:sp>
        <p:nvSpPr>
          <p:cNvPr id="4" name="">
            <a:extLst xmlns:a="http://schemas.openxmlformats.org/drawingml/2006/main">
              <a:ext uri="{FF2B5EF4-FFF2-40B4-BE49-F238E27FC236}">
                <a16:creationId xmlns:a16="http://schemas.microsoft.com/office/drawing/2014/main" id="{DA685698-D8F5-4F43-8D2B-62A99D521C8E}"/>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New venues are stored separately and start as pending.</a:t>
            </a:r>
          </a:p>
        </p:txBody>
      </p:sp>
      <p:sp>
        <p:nvSpPr>
          <p:cNvPr id="5" name="">
            <a:extLst xmlns:a="http://schemas.openxmlformats.org/drawingml/2006/main">
              <a:ext uri="{FF2B5EF4-FFF2-40B4-BE49-F238E27FC236}">
                <a16:creationId xmlns:a16="http://schemas.microsoft.com/office/drawing/2014/main" id="{EC3C8A1A-CAB7-4038-AD47-C80646B6934E}"/>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12</a:t>
            </a:r>
          </a:p>
        </p:txBody>
      </p:sp>
      <p:sp>
        <p:nvSpPr>
          <p:cNvPr id="6" name="">
            <a:extLst xmlns:a="http://schemas.openxmlformats.org/drawingml/2006/main">
              <a:ext uri="{FF2B5EF4-FFF2-40B4-BE49-F238E27FC236}">
                <a16:creationId xmlns:a16="http://schemas.microsoft.com/office/drawing/2014/main" id="{33CDE4D3-7849-4EC8-ABD8-737056792963}"/>
              </a:ext>
            </a:extLst>
          </p:cNvPr>
          <p:cNvSpPr>
            <a:spLocks xmlns:a="http://schemas.openxmlformats.org/drawingml/2006/main" noGrp="1"/>
          </p:cNvSpPr>
          <p:nvPr/>
        </p:nvSpPr>
        <p:spPr>
          <a:xfrm xmlns:a="http://schemas.openxmlformats.org/drawingml/2006/main">
            <a:off x="2895600" y="2971800"/>
            <a:ext cx="1104900" cy="66675"/>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291428-2F55-4B74-AC6A-82A37A0902CD}"/>
              </a:ext>
            </a:extLst>
          </p:cNvPr>
          <p:cNvSpPr>
            <a:spLocks xmlns:a="http://schemas.openxmlformats.org/drawingml/2006/main" noGrp="1"/>
          </p:cNvSpPr>
          <p:nvPr/>
        </p:nvSpPr>
        <p:spPr>
          <a:xfrm xmlns:a="http://schemas.openxmlformats.org/drawingml/2006/main">
            <a:off x="5562600" y="2971800"/>
            <a:ext cx="1104900" cy="66675"/>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41D632C-32BD-4681-ABDE-4F9CD51331FD}"/>
              </a:ext>
            </a:extLst>
          </p:cNvPr>
          <p:cNvSpPr>
            <a:spLocks xmlns:a="http://schemas.openxmlformats.org/drawingml/2006/main" noGrp="1"/>
          </p:cNvSpPr>
          <p:nvPr/>
        </p:nvSpPr>
        <p:spPr>
          <a:xfrm xmlns:a="http://schemas.openxmlformats.org/drawingml/2006/main">
            <a:off x="8229600" y="2971800"/>
            <a:ext cx="1104900" cy="66675"/>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6EA9DFA-EDA5-41E0-9BD2-37D5EE3BA621}"/>
              </a:ext>
            </a:extLst>
          </p:cNvPr>
          <p:cNvSpPr>
            <a:spLocks xmlns:a="http://schemas.openxmlformats.org/drawingml/2006/main" noGrp="1"/>
          </p:cNvSpPr>
          <p:nvPr/>
        </p:nvSpPr>
        <p:spPr>
          <a:xfrm xmlns:a="http://schemas.openxmlformats.org/drawingml/2006/main">
            <a:off x="647700" y="2381250"/>
            <a:ext cx="1943100" cy="1333500"/>
          </a:xfrm>
          <a:prstGeom xmlns:a="http://schemas.openxmlformats.org/drawingml/2006/main" prst="roundRect">
            <a:avLst>
              <a:gd name="adj" fmla="val 5714"/>
            </a:avLst>
          </a:prstGeom>
          <a:solidFill xmlns:a="http://schemas.openxmlformats.org/drawingml/2006/main">
            <a:srgbClr val="F5E7C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5D69106-F7CB-4A68-B71B-FF0F902FFE8F}"/>
              </a:ext>
            </a:extLst>
          </p:cNvPr>
          <p:cNvSpPr>
            <a:spLocks xmlns:a="http://schemas.openxmlformats.org/drawingml/2006/main" noGrp="1"/>
          </p:cNvSpPr>
          <p:nvPr/>
        </p:nvSpPr>
        <p:spPr>
          <a:xfrm xmlns:a="http://schemas.openxmlformats.org/drawingml/2006/main">
            <a:off x="857250" y="25717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Submit</a:t>
            </a:r>
          </a:p>
        </p:txBody>
      </p:sp>
      <p:sp>
        <p:nvSpPr>
          <p:cNvPr id="11" name="">
            <a:extLst xmlns:a="http://schemas.openxmlformats.org/drawingml/2006/main">
              <a:ext uri="{FF2B5EF4-FFF2-40B4-BE49-F238E27FC236}">
                <a16:creationId xmlns:a16="http://schemas.microsoft.com/office/drawing/2014/main" id="{3DD7E89B-E4FE-443D-B405-D11F6BF7ECD0}"/>
              </a:ext>
            </a:extLst>
          </p:cNvPr>
          <p:cNvSpPr>
            <a:spLocks xmlns:a="http://schemas.openxmlformats.org/drawingml/2006/main" noGrp="1"/>
          </p:cNvSpPr>
          <p:nvPr/>
        </p:nvSpPr>
        <p:spPr>
          <a:xfrm xmlns:a="http://schemas.openxmlformats.org/drawingml/2006/main">
            <a:off x="857250" y="3009900"/>
            <a:ext cx="152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Public form</a:t>
            </a:r>
          </a:p>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 Turnstile</a:t>
            </a:r>
          </a:p>
        </p:txBody>
      </p:sp>
      <p:sp>
        <p:nvSpPr>
          <p:cNvPr id="12" name="">
            <a:extLst xmlns:a="http://schemas.openxmlformats.org/drawingml/2006/main">
              <a:ext uri="{FF2B5EF4-FFF2-40B4-BE49-F238E27FC236}">
                <a16:creationId xmlns:a16="http://schemas.microsoft.com/office/drawing/2014/main" id="{F7EF14FF-9AEE-4D30-944E-6C8527191D08}"/>
              </a:ext>
            </a:extLst>
          </p:cNvPr>
          <p:cNvSpPr>
            <a:spLocks xmlns:a="http://schemas.openxmlformats.org/drawingml/2006/main" noGrp="1"/>
          </p:cNvSpPr>
          <p:nvPr/>
        </p:nvSpPr>
        <p:spPr>
          <a:xfrm xmlns:a="http://schemas.openxmlformats.org/drawingml/2006/main">
            <a:off x="4000500" y="2381250"/>
            <a:ext cx="1943100" cy="1333500"/>
          </a:xfrm>
          <a:prstGeom xmlns:a="http://schemas.openxmlformats.org/drawingml/2006/main" prst="roundRect">
            <a:avLst>
              <a:gd name="adj" fmla="val 5714"/>
            </a:avLst>
          </a:prstGeom>
          <a:solidFill xmlns:a="http://schemas.openxmlformats.org/drawingml/2006/main">
            <a:srgbClr val="F1D8D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E9F18A0-29F4-4A3D-B897-794327CE37CE}"/>
              </a:ext>
            </a:extLst>
          </p:cNvPr>
          <p:cNvSpPr>
            <a:spLocks xmlns:a="http://schemas.openxmlformats.org/drawingml/2006/main" noGrp="1"/>
          </p:cNvSpPr>
          <p:nvPr/>
        </p:nvSpPr>
        <p:spPr>
          <a:xfrm xmlns:a="http://schemas.openxmlformats.org/drawingml/2006/main">
            <a:off x="4210050" y="25717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Pending</a:t>
            </a:r>
          </a:p>
        </p:txBody>
      </p:sp>
      <p:sp>
        <p:nvSpPr>
          <p:cNvPr id="14" name="">
            <a:extLst xmlns:a="http://schemas.openxmlformats.org/drawingml/2006/main">
              <a:ext uri="{FF2B5EF4-FFF2-40B4-BE49-F238E27FC236}">
                <a16:creationId xmlns:a16="http://schemas.microsoft.com/office/drawing/2014/main" id="{A0637D12-DBD9-4855-A4CF-B99C38C56B55}"/>
              </a:ext>
            </a:extLst>
          </p:cNvPr>
          <p:cNvSpPr>
            <a:spLocks xmlns:a="http://schemas.openxmlformats.org/drawingml/2006/main" noGrp="1"/>
          </p:cNvSpPr>
          <p:nvPr/>
        </p:nvSpPr>
        <p:spPr>
          <a:xfrm xmlns:a="http://schemas.openxmlformats.org/drawingml/2006/main">
            <a:off x="4210050" y="3009900"/>
            <a:ext cx="152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Private until</a:t>
            </a:r>
          </a:p>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owner review</a:t>
            </a:r>
          </a:p>
        </p:txBody>
      </p:sp>
      <p:sp>
        <p:nvSpPr>
          <p:cNvPr id="15" name="">
            <a:extLst xmlns:a="http://schemas.openxmlformats.org/drawingml/2006/main">
              <a:ext uri="{FF2B5EF4-FFF2-40B4-BE49-F238E27FC236}">
                <a16:creationId xmlns:a16="http://schemas.microsoft.com/office/drawing/2014/main" id="{426995EE-9131-4468-BC27-6FFABA62366E}"/>
              </a:ext>
            </a:extLst>
          </p:cNvPr>
          <p:cNvSpPr>
            <a:spLocks xmlns:a="http://schemas.openxmlformats.org/drawingml/2006/main" noGrp="1"/>
          </p:cNvSpPr>
          <p:nvPr/>
        </p:nvSpPr>
        <p:spPr>
          <a:xfrm xmlns:a="http://schemas.openxmlformats.org/drawingml/2006/main">
            <a:off x="6667500" y="2381250"/>
            <a:ext cx="1943100" cy="1333500"/>
          </a:xfrm>
          <a:prstGeom xmlns:a="http://schemas.openxmlformats.org/drawingml/2006/main" prst="roundRect">
            <a:avLst>
              <a:gd name="adj" fmla="val 5714"/>
            </a:avLst>
          </a:prstGeom>
          <a:solidFill xmlns:a="http://schemas.openxmlformats.org/drawingml/2006/main">
            <a:srgbClr val="DDECE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292D356-1DF9-4B20-A058-BBE2AC77E12C}"/>
              </a:ext>
            </a:extLst>
          </p:cNvPr>
          <p:cNvSpPr>
            <a:spLocks xmlns:a="http://schemas.openxmlformats.org/drawingml/2006/main" noGrp="1"/>
          </p:cNvSpPr>
          <p:nvPr/>
        </p:nvSpPr>
        <p:spPr>
          <a:xfrm xmlns:a="http://schemas.openxmlformats.org/drawingml/2006/main">
            <a:off x="6877050" y="25717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Moderate</a:t>
            </a:r>
          </a:p>
        </p:txBody>
      </p:sp>
      <p:sp>
        <p:nvSpPr>
          <p:cNvPr id="17" name="">
            <a:extLst xmlns:a="http://schemas.openxmlformats.org/drawingml/2006/main">
              <a:ext uri="{FF2B5EF4-FFF2-40B4-BE49-F238E27FC236}">
                <a16:creationId xmlns:a16="http://schemas.microsoft.com/office/drawing/2014/main" id="{233479A3-B736-45F3-BD9A-1052DD989C0E}"/>
              </a:ext>
            </a:extLst>
          </p:cNvPr>
          <p:cNvSpPr>
            <a:spLocks xmlns:a="http://schemas.openxmlformats.org/drawingml/2006/main" noGrp="1"/>
          </p:cNvSpPr>
          <p:nvPr/>
        </p:nvSpPr>
        <p:spPr>
          <a:xfrm xmlns:a="http://schemas.openxmlformats.org/drawingml/2006/main">
            <a:off x="6877050" y="3009900"/>
            <a:ext cx="152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Approve, reject</a:t>
            </a:r>
          </a:p>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or add note</a:t>
            </a:r>
          </a:p>
        </p:txBody>
      </p:sp>
      <p:sp>
        <p:nvSpPr>
          <p:cNvPr id="18" name="">
            <a:extLst xmlns:a="http://schemas.openxmlformats.org/drawingml/2006/main">
              <a:ext uri="{FF2B5EF4-FFF2-40B4-BE49-F238E27FC236}">
                <a16:creationId xmlns:a16="http://schemas.microsoft.com/office/drawing/2014/main" id="{EEA1A1DA-9FB1-4037-8BCE-1BB83FBB37BF}"/>
              </a:ext>
            </a:extLst>
          </p:cNvPr>
          <p:cNvSpPr>
            <a:spLocks xmlns:a="http://schemas.openxmlformats.org/drawingml/2006/main" noGrp="1"/>
          </p:cNvSpPr>
          <p:nvPr/>
        </p:nvSpPr>
        <p:spPr>
          <a:xfrm xmlns:a="http://schemas.openxmlformats.org/drawingml/2006/main">
            <a:off x="9334500" y="2381250"/>
            <a:ext cx="1943100" cy="1333500"/>
          </a:xfrm>
          <a:prstGeom xmlns:a="http://schemas.openxmlformats.org/drawingml/2006/main" prst="roundRect">
            <a:avLst>
              <a:gd name="adj" fmla="val 5714"/>
            </a:avLst>
          </a:prstGeom>
          <a:solidFill xmlns:a="http://schemas.openxmlformats.org/drawingml/2006/main">
            <a:srgbClr val="DFE9F4"/>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E8E4D0E-BEDC-40FE-80E9-B0D23DFEFD44}"/>
              </a:ext>
            </a:extLst>
          </p:cNvPr>
          <p:cNvSpPr>
            <a:spLocks xmlns:a="http://schemas.openxmlformats.org/drawingml/2006/main" noGrp="1"/>
          </p:cNvSpPr>
          <p:nvPr/>
        </p:nvSpPr>
        <p:spPr>
          <a:xfrm xmlns:a="http://schemas.openxmlformats.org/drawingml/2006/main">
            <a:off x="9544050" y="257175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406"/>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Publish</a:t>
            </a:r>
          </a:p>
        </p:txBody>
      </p:sp>
      <p:sp>
        <p:nvSpPr>
          <p:cNvPr id="20" name="">
            <a:extLst xmlns:a="http://schemas.openxmlformats.org/drawingml/2006/main">
              <a:ext uri="{FF2B5EF4-FFF2-40B4-BE49-F238E27FC236}">
                <a16:creationId xmlns:a16="http://schemas.microsoft.com/office/drawing/2014/main" id="{139698C1-1BCB-4846-9732-4147A297B57C}"/>
              </a:ext>
            </a:extLst>
          </p:cNvPr>
          <p:cNvSpPr>
            <a:spLocks xmlns:a="http://schemas.openxmlformats.org/drawingml/2006/main" noGrp="1"/>
          </p:cNvSpPr>
          <p:nvPr/>
        </p:nvSpPr>
        <p:spPr>
          <a:xfrm xmlns:a="http://schemas.openxmlformats.org/drawingml/2006/main">
            <a:off x="9544050" y="3009900"/>
            <a:ext cx="152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Approved rows</a:t>
            </a:r>
          </a:p>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only via RLS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9d50b46894674e7f"/>
          <a:srcRect xmlns:a="http://schemas.openxmlformats.org/drawingml/2006/main" l="0" t="24596" r="0" b="24596"/>
          <a:stretch xmlns:a="http://schemas.openxmlformats.org/drawingml/2006/main">
            <a:fillRect l="0" t="0" r="0" b="0"/>
          </a:stretch>
        </p:blipFill>
        <p:spPr>
          <a:xfrm xmlns:a="http://schemas.openxmlformats.org/drawingml/2006/main">
            <a:off x="647700" y="4286250"/>
            <a:ext cx="4857750" cy="1695450"/>
          </a:xfrm>
          <a:prstGeom xmlns:a="http://schemas.openxmlformats.org/drawingml/2006/main" prst="roundRect">
            <a:avLst>
              <a:gd name="adj" fmla="val 6742"/>
            </a:avLst>
          </a:prstGeom>
        </p:spPr>
      </p:pic>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dfda7a55ec2842a3"/>
          <a:srcRect xmlns:a="http://schemas.openxmlformats.org/drawingml/2006/main" l="0" t="24588" r="0" b="24588"/>
          <a:stretch xmlns:a="http://schemas.openxmlformats.org/drawingml/2006/main">
            <a:fillRect l="0" t="0" r="0" b="0"/>
          </a:stretch>
        </p:blipFill>
        <p:spPr>
          <a:xfrm xmlns:a="http://schemas.openxmlformats.org/drawingml/2006/main">
            <a:off x="5924550" y="4286250"/>
            <a:ext cx="4857750" cy="1695450"/>
          </a:xfrm>
          <a:prstGeom xmlns:a="http://schemas.openxmlformats.org/drawingml/2006/main" prst="roundRect">
            <a:avLst>
              <a:gd name="adj" fmla="val 6742"/>
            </a:avLst>
          </a:prstGeom>
        </p:spPr>
      </p:pic>
      <p:sp>
        <p:nvSpPr>
          <p:cNvPr id="23" name="">
            <a:extLst xmlns:a="http://schemas.openxmlformats.org/drawingml/2006/main">
              <a:ext uri="{FF2B5EF4-FFF2-40B4-BE49-F238E27FC236}">
                <a16:creationId xmlns:a16="http://schemas.microsoft.com/office/drawing/2014/main" id="{8A732931-E8E3-49B1-9677-DC48610D8DC9}"/>
              </a:ext>
            </a:extLst>
          </p:cNvPr>
          <p:cNvSpPr>
            <a:spLocks xmlns:a="http://schemas.openxmlformats.org/drawingml/2006/main" noGrp="1"/>
          </p:cNvSpPr>
          <p:nvPr/>
        </p:nvSpPr>
        <p:spPr>
          <a:xfrm xmlns:a="http://schemas.openxmlformats.org/drawingml/2006/main">
            <a:off x="2857500" y="6096000"/>
            <a:ext cx="723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392"/>
          </a:bodyPr>
          <a:lstStyle xmlns:a="http://schemas.openxmlformats.org/drawingml/2006/main"/>
          <a:p xmlns:a="http://schemas.openxmlformats.org/drawingml/2006/main">
            <a:pPr>
              <a:defRPr sz="1275" b="1">
                <a:solidFill>
                  <a:srgbClr val="C64235"/>
                </a:solidFill>
                <a:latin typeface="Arial"/>
                <a:ea typeface="Arial"/>
                <a:cs typeface="Arial"/>
              </a:defRPr>
            </a:pPr>
            <a:r>
              <a:rPr sz="1275" b="1">
                <a:solidFill>
                  <a:srgbClr val="C64235"/>
                </a:solidFill>
                <a:latin typeface="Arial"/>
                <a:ea typeface="Arial"/>
                <a:cs typeface="Arial"/>
              </a:rPr>
              <a:t>Historical KPIs, features and predictions never include community rows.</a:t>
            </a:r>
          </a:p>
        </p:txBody>
      </p:sp>
    </p:spTree>
    <p:extLst>
      <p:ext uri="{BB962C8B-B14F-4D97-AF65-F5344CB8AC3E}">
        <p14:creationId xmlns:p14="http://schemas.microsoft.com/office/powerpoint/2010/main" val="1329518559"/>
      </p:ext>
    </p:extLst>
  </p:cSld>
</p:sld>
</file>

<file path=ppt/slides/slide13.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0549B77-E0CC-4D29-93CD-CAA0A46CDD0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642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27215E-31EC-4D47-BDE0-9527BAEBDF00}"/>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DEPLOYMENT</a:t>
            </a:r>
          </a:p>
        </p:txBody>
      </p:sp>
      <p:sp>
        <p:nvSpPr>
          <p:cNvPr id="3" name="">
            <a:extLst xmlns:a="http://schemas.openxmlformats.org/drawingml/2006/main">
              <a:ext uri="{FF2B5EF4-FFF2-40B4-BE49-F238E27FC236}">
                <a16:creationId xmlns:a16="http://schemas.microsoft.com/office/drawing/2014/main" id="{44DED46C-E022-4677-9866-5AB62D2068FD}"/>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Three services, one reproducible release path.</a:t>
            </a:r>
          </a:p>
        </p:txBody>
      </p:sp>
      <p:sp>
        <p:nvSpPr>
          <p:cNvPr id="4" name="">
            <a:extLst xmlns:a="http://schemas.openxmlformats.org/drawingml/2006/main">
              <a:ext uri="{FF2B5EF4-FFF2-40B4-BE49-F238E27FC236}">
                <a16:creationId xmlns:a16="http://schemas.microsoft.com/office/drawing/2014/main" id="{A637C7F8-21F8-43CA-9AE3-D53264ABF26F}"/>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GitHub stores source, Supabase stores data, and Cloudflare serves the public application.</a:t>
            </a:r>
          </a:p>
        </p:txBody>
      </p:sp>
      <p:sp>
        <p:nvSpPr>
          <p:cNvPr id="5" name="">
            <a:extLst xmlns:a="http://schemas.openxmlformats.org/drawingml/2006/main">
              <a:ext uri="{FF2B5EF4-FFF2-40B4-BE49-F238E27FC236}">
                <a16:creationId xmlns:a16="http://schemas.microsoft.com/office/drawing/2014/main" id="{0429AEBC-51B9-40FB-AD0F-6643EB922119}"/>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4DD8EBCB-7EBD-4FB2-B690-433CC0EB70FD}"/>
              </a:ext>
            </a:extLst>
          </p:cNvPr>
          <p:cNvSpPr>
            <a:spLocks xmlns:a="http://schemas.openxmlformats.org/drawingml/2006/main" noGrp="1"/>
          </p:cNvSpPr>
          <p:nvPr/>
        </p:nvSpPr>
        <p:spPr>
          <a:xfrm xmlns:a="http://schemas.openxmlformats.org/drawingml/2006/main">
            <a:off x="2533650" y="2952750"/>
            <a:ext cx="1524000" cy="7620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541FD1-FC6D-4C33-9B7A-B0B49EFCD492}"/>
              </a:ext>
            </a:extLst>
          </p:cNvPr>
          <p:cNvSpPr>
            <a:spLocks xmlns:a="http://schemas.openxmlformats.org/drawingml/2006/main" noGrp="1"/>
          </p:cNvSpPr>
          <p:nvPr/>
        </p:nvSpPr>
        <p:spPr>
          <a:xfrm xmlns:a="http://schemas.openxmlformats.org/drawingml/2006/main">
            <a:off x="5867400" y="2952750"/>
            <a:ext cx="1524000" cy="7620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EA4754-6B83-49D7-9B25-9427580F67B7}"/>
              </a:ext>
            </a:extLst>
          </p:cNvPr>
          <p:cNvSpPr>
            <a:spLocks xmlns:a="http://schemas.openxmlformats.org/drawingml/2006/main" noGrp="1"/>
          </p:cNvSpPr>
          <p:nvPr/>
        </p:nvSpPr>
        <p:spPr>
          <a:xfrm xmlns:a="http://schemas.openxmlformats.org/drawingml/2006/main">
            <a:off x="9201150" y="2952750"/>
            <a:ext cx="1333500" cy="76200"/>
          </a:xfrm>
          <a:prstGeom xmlns:a="http://schemas.openxmlformats.org/drawingml/2006/main" prst="rect">
            <a:avLst/>
          </a:prstGeom>
          <a:solidFill xmlns:a="http://schemas.openxmlformats.org/drawingml/2006/main">
            <a:srgbClr val="D7D3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1733A3-4B5B-4F01-A9CD-72DA1F957976}"/>
              </a:ext>
            </a:extLst>
          </p:cNvPr>
          <p:cNvSpPr>
            <a:spLocks xmlns:a="http://schemas.openxmlformats.org/drawingml/2006/main" noGrp="1"/>
          </p:cNvSpPr>
          <p:nvPr/>
        </p:nvSpPr>
        <p:spPr>
          <a:xfrm xmlns:a="http://schemas.openxmlformats.org/drawingml/2006/main">
            <a:off x="666750" y="2324100"/>
            <a:ext cx="1809750" cy="1371600"/>
          </a:xfrm>
          <a:prstGeom xmlns:a="http://schemas.openxmlformats.org/drawingml/2006/main" prst="roundRect">
            <a:avLst>
              <a:gd name="adj" fmla="val 5556"/>
            </a:avLst>
          </a:prstGeom>
          <a:solidFill xmlns:a="http://schemas.openxmlformats.org/drawingml/2006/main">
            <a:srgbClr val="173B3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E8D083-9D93-43DE-AA8D-F5D17DF1763B}"/>
              </a:ext>
            </a:extLst>
          </p:cNvPr>
          <p:cNvSpPr>
            <a:spLocks xmlns:a="http://schemas.openxmlformats.org/drawingml/2006/main" noGrp="1"/>
          </p:cNvSpPr>
          <p:nvPr/>
        </p:nvSpPr>
        <p:spPr>
          <a:xfrm xmlns:a="http://schemas.openxmlformats.org/drawingml/2006/main">
            <a:off x="838200" y="2533650"/>
            <a:ext cx="1466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GitHub</a:t>
            </a:r>
          </a:p>
        </p:txBody>
      </p:sp>
      <p:sp>
        <p:nvSpPr>
          <p:cNvPr id="11" name="">
            <a:extLst xmlns:a="http://schemas.openxmlformats.org/drawingml/2006/main">
              <a:ext uri="{FF2B5EF4-FFF2-40B4-BE49-F238E27FC236}">
                <a16:creationId xmlns:a16="http://schemas.microsoft.com/office/drawing/2014/main" id="{7D9A9AC3-EE3D-4ADB-82C4-659BCE64E95E}"/>
              </a:ext>
            </a:extLst>
          </p:cNvPr>
          <p:cNvSpPr>
            <a:spLocks xmlns:a="http://schemas.openxmlformats.org/drawingml/2006/main" noGrp="1"/>
          </p:cNvSpPr>
          <p:nvPr/>
        </p:nvSpPr>
        <p:spPr>
          <a:xfrm xmlns:a="http://schemas.openxmlformats.org/drawingml/2006/main">
            <a:off x="838200" y="2971800"/>
            <a:ext cx="1466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Versioned code</a:t>
            </a:r>
          </a:p>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Actions + tests</a:t>
            </a:r>
          </a:p>
        </p:txBody>
      </p:sp>
      <p:sp>
        <p:nvSpPr>
          <p:cNvPr id="12" name="">
            <a:extLst xmlns:a="http://schemas.openxmlformats.org/drawingml/2006/main">
              <a:ext uri="{FF2B5EF4-FFF2-40B4-BE49-F238E27FC236}">
                <a16:creationId xmlns:a16="http://schemas.microsoft.com/office/drawing/2014/main" id="{F9264A52-29F4-473C-B6CE-1CBE904C43D9}"/>
              </a:ext>
            </a:extLst>
          </p:cNvPr>
          <p:cNvSpPr>
            <a:spLocks xmlns:a="http://schemas.openxmlformats.org/drawingml/2006/main" noGrp="1"/>
          </p:cNvSpPr>
          <p:nvPr/>
        </p:nvSpPr>
        <p:spPr>
          <a:xfrm xmlns:a="http://schemas.openxmlformats.org/drawingml/2006/main">
            <a:off x="4057650" y="2324100"/>
            <a:ext cx="1809750" cy="1371600"/>
          </a:xfrm>
          <a:prstGeom xmlns:a="http://schemas.openxmlformats.org/drawingml/2006/main" prst="roundRect">
            <a:avLst>
              <a:gd name="adj" fmla="val 5556"/>
            </a:avLst>
          </a:prstGeom>
          <a:solidFill xmlns:a="http://schemas.openxmlformats.org/drawingml/2006/main">
            <a:srgbClr val="DDECE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B401F92-A76C-4361-A333-0F0E6FD066A1}"/>
              </a:ext>
            </a:extLst>
          </p:cNvPr>
          <p:cNvSpPr>
            <a:spLocks xmlns:a="http://schemas.openxmlformats.org/drawingml/2006/main" noGrp="1"/>
          </p:cNvSpPr>
          <p:nvPr/>
        </p:nvSpPr>
        <p:spPr>
          <a:xfrm xmlns:a="http://schemas.openxmlformats.org/drawingml/2006/main">
            <a:off x="4229100" y="2533650"/>
            <a:ext cx="1466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Cloudflare</a:t>
            </a:r>
          </a:p>
        </p:txBody>
      </p:sp>
      <p:sp>
        <p:nvSpPr>
          <p:cNvPr id="14" name="">
            <a:extLst xmlns:a="http://schemas.openxmlformats.org/drawingml/2006/main">
              <a:ext uri="{FF2B5EF4-FFF2-40B4-BE49-F238E27FC236}">
                <a16:creationId xmlns:a16="http://schemas.microsoft.com/office/drawing/2014/main" id="{A5631891-BED3-46D5-8019-0E2D06FAADDE}"/>
              </a:ext>
            </a:extLst>
          </p:cNvPr>
          <p:cNvSpPr>
            <a:spLocks xmlns:a="http://schemas.openxmlformats.org/drawingml/2006/main" noGrp="1"/>
          </p:cNvSpPr>
          <p:nvPr/>
        </p:nvSpPr>
        <p:spPr>
          <a:xfrm xmlns:a="http://schemas.openxmlformats.org/drawingml/2006/main">
            <a:off x="4229100" y="2971800"/>
            <a:ext cx="1466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73B31"/>
                </a:solidFill>
                <a:latin typeface="Arial"/>
                <a:ea typeface="Arial"/>
                <a:cs typeface="Arial"/>
              </a:defRPr>
            </a:pPr>
            <a:r>
              <a:rPr sz="1200" b="0">
                <a:solidFill>
                  <a:srgbClr val="173B31"/>
                </a:solidFill>
                <a:latin typeface="Arial"/>
                <a:ea typeface="Arial"/>
                <a:cs typeface="Arial"/>
              </a:rPr>
              <a:t>Worker + assets</a:t>
            </a:r>
          </a:p>
          <a:p xmlns:a="http://schemas.openxmlformats.org/drawingml/2006/main">
            <a:pPr>
              <a:defRPr sz="1200" b="0">
                <a:solidFill>
                  <a:srgbClr val="173B31"/>
                </a:solidFill>
                <a:latin typeface="Arial"/>
                <a:ea typeface="Arial"/>
                <a:cs typeface="Arial"/>
              </a:defRPr>
            </a:pPr>
            <a:r>
              <a:rPr sz="1200" b="0">
                <a:solidFill>
                  <a:srgbClr val="173B31"/>
                </a:solidFill>
                <a:latin typeface="Arial"/>
                <a:ea typeface="Arial"/>
                <a:cs typeface="Arial"/>
              </a:rPr>
              <a:t>free public hosting</a:t>
            </a:r>
          </a:p>
        </p:txBody>
      </p:sp>
      <p:sp>
        <p:nvSpPr>
          <p:cNvPr id="15" name="">
            <a:extLst xmlns:a="http://schemas.openxmlformats.org/drawingml/2006/main">
              <a:ext uri="{FF2B5EF4-FFF2-40B4-BE49-F238E27FC236}">
                <a16:creationId xmlns:a16="http://schemas.microsoft.com/office/drawing/2014/main" id="{C99DF8A3-7944-4108-A644-79647A6D6230}"/>
              </a:ext>
            </a:extLst>
          </p:cNvPr>
          <p:cNvSpPr>
            <a:spLocks xmlns:a="http://schemas.openxmlformats.org/drawingml/2006/main" noGrp="1"/>
          </p:cNvSpPr>
          <p:nvPr/>
        </p:nvSpPr>
        <p:spPr>
          <a:xfrm xmlns:a="http://schemas.openxmlformats.org/drawingml/2006/main">
            <a:off x="7391400" y="2324100"/>
            <a:ext cx="1809750" cy="1371600"/>
          </a:xfrm>
          <a:prstGeom xmlns:a="http://schemas.openxmlformats.org/drawingml/2006/main" prst="roundRect">
            <a:avLst>
              <a:gd name="adj" fmla="val 5556"/>
            </a:avLst>
          </a:prstGeom>
          <a:solidFill xmlns:a="http://schemas.openxmlformats.org/drawingml/2006/main">
            <a:srgbClr val="DFE9F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4499373-5702-46A4-A787-285BE91D92DD}"/>
              </a:ext>
            </a:extLst>
          </p:cNvPr>
          <p:cNvSpPr>
            <a:spLocks xmlns:a="http://schemas.openxmlformats.org/drawingml/2006/main" noGrp="1"/>
          </p:cNvSpPr>
          <p:nvPr/>
        </p:nvSpPr>
        <p:spPr>
          <a:xfrm xmlns:a="http://schemas.openxmlformats.org/drawingml/2006/main">
            <a:off x="7562850" y="2533650"/>
            <a:ext cx="1466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Supabase</a:t>
            </a:r>
          </a:p>
        </p:txBody>
      </p:sp>
      <p:sp>
        <p:nvSpPr>
          <p:cNvPr id="17" name="">
            <a:extLst xmlns:a="http://schemas.openxmlformats.org/drawingml/2006/main">
              <a:ext uri="{FF2B5EF4-FFF2-40B4-BE49-F238E27FC236}">
                <a16:creationId xmlns:a16="http://schemas.microsoft.com/office/drawing/2014/main" id="{BB954A1A-693C-4C20-9DE1-4146A99122E2}"/>
              </a:ext>
            </a:extLst>
          </p:cNvPr>
          <p:cNvSpPr>
            <a:spLocks xmlns:a="http://schemas.openxmlformats.org/drawingml/2006/main" noGrp="1"/>
          </p:cNvSpPr>
          <p:nvPr/>
        </p:nvSpPr>
        <p:spPr>
          <a:xfrm xmlns:a="http://schemas.openxmlformats.org/drawingml/2006/main">
            <a:off x="7562850" y="2971800"/>
            <a:ext cx="1466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73B31"/>
                </a:solidFill>
                <a:latin typeface="Arial"/>
                <a:ea typeface="Arial"/>
                <a:cs typeface="Arial"/>
              </a:defRPr>
            </a:pPr>
            <a:r>
              <a:rPr sz="1200" b="0">
                <a:solidFill>
                  <a:srgbClr val="173B31"/>
                </a:solidFill>
                <a:latin typeface="Arial"/>
                <a:ea typeface="Arial"/>
                <a:cs typeface="Arial"/>
              </a:rPr>
              <a:t>PostgreSQL</a:t>
            </a:r>
          </a:p>
          <a:p xmlns:a="http://schemas.openxmlformats.org/drawingml/2006/main">
            <a:pPr>
              <a:defRPr sz="1200" b="0">
                <a:solidFill>
                  <a:srgbClr val="173B31"/>
                </a:solidFill>
                <a:latin typeface="Arial"/>
                <a:ea typeface="Arial"/>
                <a:cs typeface="Arial"/>
              </a:defRPr>
            </a:pPr>
            <a:r>
              <a:rPr sz="1200" b="0">
                <a:solidFill>
                  <a:srgbClr val="173B31"/>
                </a:solidFill>
                <a:latin typeface="Arial"/>
                <a:ea typeface="Arial"/>
                <a:cs typeface="Arial"/>
              </a:rPr>
              <a:t>RLS + views</a:t>
            </a:r>
          </a:p>
        </p:txBody>
      </p:sp>
      <p:sp>
        <p:nvSpPr>
          <p:cNvPr id="18" name="">
            <a:extLst xmlns:a="http://schemas.openxmlformats.org/drawingml/2006/main">
              <a:ext uri="{FF2B5EF4-FFF2-40B4-BE49-F238E27FC236}">
                <a16:creationId xmlns:a16="http://schemas.microsoft.com/office/drawing/2014/main" id="{4F1E1FC0-BAB8-4C1A-A3C6-33E77CF9C711}"/>
              </a:ext>
            </a:extLst>
          </p:cNvPr>
          <p:cNvSpPr>
            <a:spLocks xmlns:a="http://schemas.openxmlformats.org/drawingml/2006/main" noGrp="1"/>
          </p:cNvSpPr>
          <p:nvPr/>
        </p:nvSpPr>
        <p:spPr>
          <a:xfrm xmlns:a="http://schemas.openxmlformats.org/drawingml/2006/main">
            <a:off x="10534650" y="2324100"/>
            <a:ext cx="1104900" cy="1371600"/>
          </a:xfrm>
          <a:prstGeom xmlns:a="http://schemas.openxmlformats.org/drawingml/2006/main" prst="roundRect">
            <a:avLst>
              <a:gd name="adj" fmla="val 6897"/>
            </a:avLst>
          </a:prstGeom>
          <a:solidFill xmlns:a="http://schemas.openxmlformats.org/drawingml/2006/main">
            <a:srgbClr val="F1D8D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07E1CC4-1BC7-4052-8D5C-A347745F1D83}"/>
              </a:ext>
            </a:extLst>
          </p:cNvPr>
          <p:cNvSpPr>
            <a:spLocks xmlns:a="http://schemas.openxmlformats.org/drawingml/2006/main" noGrp="1"/>
          </p:cNvSpPr>
          <p:nvPr/>
        </p:nvSpPr>
        <p:spPr>
          <a:xfrm xmlns:a="http://schemas.openxmlformats.org/drawingml/2006/main">
            <a:off x="10706100" y="2533650"/>
            <a:ext cx="762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1159"/>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76EF1A67-E277-4EB2-9869-351A2298CE4A}"/>
              </a:ext>
            </a:extLst>
          </p:cNvPr>
          <p:cNvSpPr>
            <a:spLocks xmlns:a="http://schemas.openxmlformats.org/drawingml/2006/main" noGrp="1"/>
          </p:cNvSpPr>
          <p:nvPr/>
        </p:nvSpPr>
        <p:spPr>
          <a:xfrm xmlns:a="http://schemas.openxmlformats.org/drawingml/2006/main">
            <a:off x="10706100" y="2971800"/>
            <a:ext cx="762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7109"/>
          </a:bodyPr>
          <a:lstStyle xmlns:a="http://schemas.openxmlformats.org/drawingml/2006/main"/>
          <a:p xmlns:a="http://schemas.openxmlformats.org/drawingml/2006/main">
            <a:pPr>
              <a:defRPr sz="1200" b="0">
                <a:solidFill>
                  <a:srgbClr val="173B31"/>
                </a:solidFill>
                <a:latin typeface="Arial"/>
                <a:ea typeface="Arial"/>
                <a:cs typeface="Arial"/>
              </a:defRPr>
            </a:pPr>
            <a:r>
              <a:rPr sz="1200" b="0">
                <a:solidFill>
                  <a:srgbClr val="173B31"/>
                </a:solidFill>
                <a:latin typeface="Arial"/>
                <a:ea typeface="Arial"/>
                <a:cs typeface="Arial"/>
              </a:rPr>
              <a:t>Browser</a:t>
            </a:r>
          </a:p>
          <a:p xmlns:a="http://schemas.openxmlformats.org/drawingml/2006/main">
            <a:pPr>
              <a:defRPr sz="1200" b="0">
                <a:solidFill>
                  <a:srgbClr val="173B31"/>
                </a:solidFill>
                <a:latin typeface="Arial"/>
                <a:ea typeface="Arial"/>
                <a:cs typeface="Arial"/>
              </a:defRPr>
            </a:pPr>
            <a:r>
              <a:rPr sz="1200" b="0">
                <a:solidFill>
                  <a:srgbClr val="173B31"/>
                </a:solidFill>
                <a:latin typeface="Arial"/>
                <a:ea typeface="Arial"/>
                <a:cs typeface="Arial"/>
              </a:rPr>
              <a:t>no sign-in</a:t>
            </a:r>
          </a:p>
        </p:txBody>
      </p:sp>
      <p:sp>
        <p:nvSpPr>
          <p:cNvPr id="21" name="">
            <a:extLst xmlns:a="http://schemas.openxmlformats.org/drawingml/2006/main">
              <a:ext uri="{FF2B5EF4-FFF2-40B4-BE49-F238E27FC236}">
                <a16:creationId xmlns:a16="http://schemas.microsoft.com/office/drawing/2014/main" id="{E21763DA-57F9-4EA1-A730-192231A63F86}"/>
              </a:ext>
            </a:extLst>
          </p:cNvPr>
          <p:cNvSpPr>
            <a:spLocks xmlns:a="http://schemas.openxmlformats.org/drawingml/2006/main" noGrp="1"/>
          </p:cNvSpPr>
          <p:nvPr/>
        </p:nvSpPr>
        <p:spPr>
          <a:xfrm xmlns:a="http://schemas.openxmlformats.org/drawingml/2006/main">
            <a:off x="685800" y="4343400"/>
            <a:ext cx="152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424"/>
          </a:bodyPr>
          <a:lstStyle xmlns:a="http://schemas.openxmlformats.org/drawingml/2006/main"/>
          <a:p xmlns:a="http://schemas.openxmlformats.org/drawingml/2006/main">
            <a:pPr>
              <a:defRPr sz="1650" b="1">
                <a:solidFill>
                  <a:srgbClr val="C64235"/>
                </a:solidFill>
                <a:latin typeface="Arial"/>
                <a:ea typeface="Arial"/>
                <a:cs typeface="Arial"/>
              </a:defRPr>
            </a:pPr>
            <a:r>
              <a:rPr sz="1650" b="1">
                <a:solidFill>
                  <a:srgbClr val="C64235"/>
                </a:solidFill>
                <a:latin typeface="Arial"/>
                <a:ea typeface="Arial"/>
                <a:cs typeface="Arial"/>
              </a:rPr>
              <a:t>Controls</a:t>
            </a:r>
          </a:p>
        </p:txBody>
      </p:sp>
      <p:sp>
        <p:nvSpPr>
          <p:cNvPr id="22" name="">
            <a:extLst xmlns:a="http://schemas.openxmlformats.org/drawingml/2006/main">
              <a:ext uri="{FF2B5EF4-FFF2-40B4-BE49-F238E27FC236}">
                <a16:creationId xmlns:a16="http://schemas.microsoft.com/office/drawing/2014/main" id="{2C733E97-0ACA-426F-A1C9-066257200B7B}"/>
              </a:ext>
            </a:extLst>
          </p:cNvPr>
          <p:cNvSpPr>
            <a:spLocks xmlns:a="http://schemas.openxmlformats.org/drawingml/2006/main" noGrp="1"/>
          </p:cNvSpPr>
          <p:nvPr/>
        </p:nvSpPr>
        <p:spPr>
          <a:xfrm xmlns:a="http://schemas.openxmlformats.org/drawingml/2006/main">
            <a:off x="685800" y="4800600"/>
            <a:ext cx="4953000" cy="342900"/>
          </a:xfrm>
          <a:prstGeom xmlns:a="http://schemas.openxmlformats.org/drawingml/2006/main" prst="roundRect">
            <a:avLst>
              <a:gd name="adj" fmla="val 22222"/>
            </a:avLst>
          </a:prstGeom>
          <a:solidFill xmlns:a="http://schemas.openxmlformats.org/drawingml/2006/main">
            <a:srgbClr val="FFFDF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67C28F32-D3B3-4427-949F-B4C14B082A07}"/>
              </a:ext>
            </a:extLst>
          </p:cNvPr>
          <p:cNvSpPr>
            <a:spLocks xmlns:a="http://schemas.openxmlformats.org/drawingml/2006/main" noGrp="1"/>
          </p:cNvSpPr>
          <p:nvPr/>
        </p:nvSpPr>
        <p:spPr>
          <a:xfrm xmlns:a="http://schemas.openxmlformats.org/drawingml/2006/main">
            <a:off x="819150" y="4867275"/>
            <a:ext cx="4686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defRPr sz="1125" b="1">
                <a:solidFill>
                  <a:srgbClr val="173B31"/>
                </a:solidFill>
                <a:latin typeface="Arial"/>
                <a:ea typeface="Arial"/>
                <a:cs typeface="Arial"/>
              </a:defRPr>
            </a:pPr>
            <a:r>
              <a:rPr sz="1125" b="1">
                <a:solidFill>
                  <a:srgbClr val="173B31"/>
                </a:solidFill>
                <a:latin typeface="Arial"/>
                <a:ea typeface="Arial"/>
                <a:cs typeface="Arial"/>
              </a:rPr>
              <a:t>No service-role key in the browser</a:t>
            </a:r>
          </a:p>
        </p:txBody>
      </p:sp>
      <p:sp>
        <p:nvSpPr>
          <p:cNvPr id="24" name="">
            <a:extLst xmlns:a="http://schemas.openxmlformats.org/drawingml/2006/main">
              <a:ext uri="{FF2B5EF4-FFF2-40B4-BE49-F238E27FC236}">
                <a16:creationId xmlns:a16="http://schemas.microsoft.com/office/drawing/2014/main" id="{DE7EFFFD-9462-4D06-8763-CABDD0C9BC8A}"/>
              </a:ext>
            </a:extLst>
          </p:cNvPr>
          <p:cNvSpPr>
            <a:spLocks xmlns:a="http://schemas.openxmlformats.org/drawingml/2006/main" noGrp="1"/>
          </p:cNvSpPr>
          <p:nvPr/>
        </p:nvSpPr>
        <p:spPr>
          <a:xfrm xmlns:a="http://schemas.openxmlformats.org/drawingml/2006/main">
            <a:off x="6096000" y="4800600"/>
            <a:ext cx="4953000" cy="342900"/>
          </a:xfrm>
          <a:prstGeom xmlns:a="http://schemas.openxmlformats.org/drawingml/2006/main" prst="roundRect">
            <a:avLst>
              <a:gd name="adj" fmla="val 22222"/>
            </a:avLst>
          </a:prstGeom>
          <a:solidFill xmlns:a="http://schemas.openxmlformats.org/drawingml/2006/main">
            <a:srgbClr val="F5E7CB"/>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821A916-3C0E-4FB0-815D-184B9FC6FB0C}"/>
              </a:ext>
            </a:extLst>
          </p:cNvPr>
          <p:cNvSpPr>
            <a:spLocks xmlns:a="http://schemas.openxmlformats.org/drawingml/2006/main" noGrp="1"/>
          </p:cNvSpPr>
          <p:nvPr/>
        </p:nvSpPr>
        <p:spPr>
          <a:xfrm xmlns:a="http://schemas.openxmlformats.org/drawingml/2006/main">
            <a:off x="6229350" y="4867275"/>
            <a:ext cx="4686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defRPr sz="1125" b="1">
                <a:solidFill>
                  <a:srgbClr val="173B31"/>
                </a:solidFill>
                <a:latin typeface="Arial"/>
                <a:ea typeface="Arial"/>
                <a:cs typeface="Arial"/>
              </a:defRPr>
            </a:pPr>
            <a:r>
              <a:rPr sz="1125" b="1">
                <a:solidFill>
                  <a:srgbClr val="173B31"/>
                </a:solidFill>
                <a:latin typeface="Arial"/>
                <a:ea typeface="Arial"/>
                <a:cs typeface="Arial"/>
              </a:rPr>
              <a:t>Environment variables in deployment settings</a:t>
            </a:r>
          </a:p>
        </p:txBody>
      </p:sp>
      <p:sp>
        <p:nvSpPr>
          <p:cNvPr id="26" name="">
            <a:extLst xmlns:a="http://schemas.openxmlformats.org/drawingml/2006/main">
              <a:ext uri="{FF2B5EF4-FFF2-40B4-BE49-F238E27FC236}">
                <a16:creationId xmlns:a16="http://schemas.microsoft.com/office/drawing/2014/main" id="{972AA3B0-5B6F-4357-AA3B-2DA25D856A99}"/>
              </a:ext>
            </a:extLst>
          </p:cNvPr>
          <p:cNvSpPr>
            <a:spLocks xmlns:a="http://schemas.openxmlformats.org/drawingml/2006/main" noGrp="1"/>
          </p:cNvSpPr>
          <p:nvPr/>
        </p:nvSpPr>
        <p:spPr>
          <a:xfrm xmlns:a="http://schemas.openxmlformats.org/drawingml/2006/main">
            <a:off x="685800" y="5353050"/>
            <a:ext cx="4953000" cy="342900"/>
          </a:xfrm>
          <a:prstGeom xmlns:a="http://schemas.openxmlformats.org/drawingml/2006/main" prst="roundRect">
            <a:avLst>
              <a:gd name="adj" fmla="val 22222"/>
            </a:avLst>
          </a:prstGeom>
          <a:solidFill xmlns:a="http://schemas.openxmlformats.org/drawingml/2006/main">
            <a:srgbClr val="FFFDF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07C03F8-0AA9-4253-A7AE-3CD70EEE852D}"/>
              </a:ext>
            </a:extLst>
          </p:cNvPr>
          <p:cNvSpPr>
            <a:spLocks xmlns:a="http://schemas.openxmlformats.org/drawingml/2006/main" noGrp="1"/>
          </p:cNvSpPr>
          <p:nvPr/>
        </p:nvSpPr>
        <p:spPr>
          <a:xfrm xmlns:a="http://schemas.openxmlformats.org/drawingml/2006/main">
            <a:off x="819150" y="5419725"/>
            <a:ext cx="4686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defRPr sz="1125" b="1">
                <a:solidFill>
                  <a:srgbClr val="173B31"/>
                </a:solidFill>
                <a:latin typeface="Arial"/>
                <a:ea typeface="Arial"/>
                <a:cs typeface="Arial"/>
              </a:defRPr>
            </a:pPr>
            <a:r>
              <a:rPr sz="1125" b="1">
                <a:solidFill>
                  <a:srgbClr val="173B31"/>
                </a:solidFill>
                <a:latin typeface="Arial"/>
                <a:ea typeface="Arial"/>
                <a:cs typeface="Arial"/>
              </a:rPr>
              <a:t>Row-level security on public writes and reads</a:t>
            </a:r>
          </a:p>
        </p:txBody>
      </p:sp>
      <p:sp>
        <p:nvSpPr>
          <p:cNvPr id="28" name="">
            <a:extLst xmlns:a="http://schemas.openxmlformats.org/drawingml/2006/main">
              <a:ext uri="{FF2B5EF4-FFF2-40B4-BE49-F238E27FC236}">
                <a16:creationId xmlns:a16="http://schemas.microsoft.com/office/drawing/2014/main" id="{A3EFE12C-51D1-4EDA-9111-B8C1181A62D7}"/>
              </a:ext>
            </a:extLst>
          </p:cNvPr>
          <p:cNvSpPr>
            <a:spLocks xmlns:a="http://schemas.openxmlformats.org/drawingml/2006/main" noGrp="1"/>
          </p:cNvSpPr>
          <p:nvPr/>
        </p:nvSpPr>
        <p:spPr>
          <a:xfrm xmlns:a="http://schemas.openxmlformats.org/drawingml/2006/main">
            <a:off x="6096000" y="5353050"/>
            <a:ext cx="4953000" cy="342900"/>
          </a:xfrm>
          <a:prstGeom xmlns:a="http://schemas.openxmlformats.org/drawingml/2006/main" prst="roundRect">
            <a:avLst>
              <a:gd name="adj" fmla="val 22222"/>
            </a:avLst>
          </a:prstGeom>
          <a:solidFill xmlns:a="http://schemas.openxmlformats.org/drawingml/2006/main">
            <a:srgbClr val="F5E7CB"/>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8E1ACAF-AE5D-4090-89AF-325A5E9BA68A}"/>
              </a:ext>
            </a:extLst>
          </p:cNvPr>
          <p:cNvSpPr>
            <a:spLocks xmlns:a="http://schemas.openxmlformats.org/drawingml/2006/main" noGrp="1"/>
          </p:cNvSpPr>
          <p:nvPr/>
        </p:nvSpPr>
        <p:spPr>
          <a:xfrm xmlns:a="http://schemas.openxmlformats.org/drawingml/2006/main">
            <a:off x="6229350" y="5419725"/>
            <a:ext cx="4686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defRPr sz="1125" b="1">
                <a:solidFill>
                  <a:srgbClr val="173B31"/>
                </a:solidFill>
                <a:latin typeface="Arial"/>
                <a:ea typeface="Arial"/>
                <a:cs typeface="Arial"/>
              </a:defRPr>
            </a:pPr>
            <a:r>
              <a:rPr sz="1125" b="1">
                <a:solidFill>
                  <a:srgbClr val="173B31"/>
                </a:solidFill>
                <a:latin typeface="Arial"/>
                <a:ea typeface="Arial"/>
                <a:cs typeface="Arial"/>
              </a:rPr>
              <a:t>Automated test, build, deploy and health check</a:t>
            </a:r>
          </a:p>
        </p:txBody>
      </p:sp>
      <p:sp>
        <p:nvSpPr>
          <p:cNvPr id="30" name="">
            <a:extLst xmlns:a="http://schemas.openxmlformats.org/drawingml/2006/main">
              <a:ext uri="{FF2B5EF4-FFF2-40B4-BE49-F238E27FC236}">
                <a16:creationId xmlns:a16="http://schemas.microsoft.com/office/drawing/2014/main" id="{41375777-37FE-4536-8249-750CC613E5D4}"/>
              </a:ext>
            </a:extLst>
          </p:cNvPr>
          <p:cNvSpPr>
            <a:spLocks xmlns:a="http://schemas.openxmlformats.org/drawingml/2006/main" noGrp="1"/>
          </p:cNvSpPr>
          <p:nvPr/>
        </p:nvSpPr>
        <p:spPr>
          <a:xfrm xmlns:a="http://schemas.openxmlformats.org/drawingml/2006/main">
            <a:off x="685800" y="6105525"/>
            <a:ext cx="866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196"/>
          </a:bodyPr>
          <a:lstStyle xmlns:a="http://schemas.openxmlformats.org/drawingml/2006/main"/>
          <a:p xmlns:a="http://schemas.openxmlformats.org/drawingml/2006/main">
            <a:pPr>
              <a:defRPr sz="1275" b="1">
                <a:solidFill>
                  <a:srgbClr val="173B31"/>
                </a:solidFill>
                <a:latin typeface="Arial"/>
                <a:ea typeface="Arial"/>
                <a:cs typeface="Arial"/>
              </a:defRPr>
            </a:pPr>
            <a:r>
              <a:rPr sz="1275" b="1">
                <a:solidFill>
                  <a:srgbClr val="173B31"/>
                </a:solidFill>
                <a:latin typeface="Arial"/>
                <a:ea typeface="Arial"/>
                <a:cs typeface="Arial"/>
              </a:rPr>
              <a:t>Live: playo-venue-observatory.dhivaa2004.workers.dev</a:t>
            </a:r>
          </a:p>
        </p:txBody>
      </p:sp>
    </p:spTree>
    <p:extLst>
      <p:ext uri="{BB962C8B-B14F-4D97-AF65-F5344CB8AC3E}">
        <p14:creationId xmlns:p14="http://schemas.microsoft.com/office/powerpoint/2010/main" val="276545293"/>
      </p:ext>
    </p:extLst>
  </p:cSld>
</p:sld>
</file>

<file path=ppt/slides/slide14.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2A9AF9E-68B1-47B7-AB87-E3AD4867AD6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D7A6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0DE60C-034E-4092-93BA-122691C21DAE}"/>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6BCA1F49-F211-4E4E-A69E-9D7D05A55992}"/>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The evidence is valuable — and uneven.</a:t>
            </a:r>
          </a:p>
        </p:txBody>
      </p:sp>
      <p:sp>
        <p:nvSpPr>
          <p:cNvPr id="4" name="">
            <a:extLst xmlns:a="http://schemas.openxmlformats.org/drawingml/2006/main">
              <a:ext uri="{FF2B5EF4-FFF2-40B4-BE49-F238E27FC236}">
                <a16:creationId xmlns:a16="http://schemas.microsoft.com/office/drawing/2014/main" id="{D115D109-73EE-40A8-9FD5-92FE8B692050}"/>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The strongest insights come from combining descriptive analysis with data-quality context.</a:t>
            </a:r>
          </a:p>
        </p:txBody>
      </p:sp>
      <p:sp>
        <p:nvSpPr>
          <p:cNvPr id="5" name="">
            <a:extLst xmlns:a="http://schemas.openxmlformats.org/drawingml/2006/main">
              <a:ext uri="{FF2B5EF4-FFF2-40B4-BE49-F238E27FC236}">
                <a16:creationId xmlns:a16="http://schemas.microsoft.com/office/drawing/2014/main" id="{5AECB989-1951-48B9-9805-D2C694650BAA}"/>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A7727159-EBBB-45D1-9326-314155850C1E}"/>
              </a:ext>
            </a:extLst>
          </p:cNvPr>
          <p:cNvSpPr>
            <a:spLocks xmlns:a="http://schemas.openxmlformats.org/drawingml/2006/main" noGrp="1"/>
          </p:cNvSpPr>
          <p:nvPr/>
        </p:nvSpPr>
        <p:spPr>
          <a:xfrm xmlns:a="http://schemas.openxmlformats.org/drawingml/2006/main">
            <a:off x="609600" y="2038350"/>
            <a:ext cx="76200" cy="781050"/>
          </a:xfrm>
          <a:prstGeom xmlns:a="http://schemas.openxmlformats.org/drawingml/2006/main" prst="roundRect">
            <a:avLst>
              <a:gd name="adj" fmla="val 50000"/>
            </a:avLst>
          </a:prstGeom>
          <a:solidFill xmlns:a="http://schemas.openxmlformats.org/drawingml/2006/main">
            <a:srgbClr val="C64235"/>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77339FE-2556-44C3-B1F4-2B2CEBEB5A13}"/>
              </a:ext>
            </a:extLst>
          </p:cNvPr>
          <p:cNvSpPr>
            <a:spLocks xmlns:a="http://schemas.openxmlformats.org/drawingml/2006/main" noGrp="1"/>
          </p:cNvSpPr>
          <p:nvPr/>
        </p:nvSpPr>
        <p:spPr>
          <a:xfrm xmlns:a="http://schemas.openxmlformats.org/drawingml/2006/main">
            <a:off x="895350" y="21145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C64235"/>
                </a:solidFill>
                <a:latin typeface="Arial"/>
                <a:ea typeface="Arial"/>
                <a:cs typeface="Arial"/>
              </a:defRPr>
            </a:pPr>
            <a:r>
              <a:rPr sz="1425" b="1">
                <a:solidFill>
                  <a:srgbClr val="C64235"/>
                </a:solidFill>
                <a:latin typeface="Arial"/>
                <a:ea typeface="Arial"/>
                <a:cs typeface="Arial"/>
              </a:rPr>
              <a:t>Coverage</a:t>
            </a:r>
          </a:p>
        </p:txBody>
      </p:sp>
      <p:sp>
        <p:nvSpPr>
          <p:cNvPr id="8" name="">
            <a:extLst xmlns:a="http://schemas.openxmlformats.org/drawingml/2006/main">
              <a:ext uri="{FF2B5EF4-FFF2-40B4-BE49-F238E27FC236}">
                <a16:creationId xmlns:a16="http://schemas.microsoft.com/office/drawing/2014/main" id="{35BEFF2F-4F20-49D8-A823-1FE55CD0CB0B}"/>
              </a:ext>
            </a:extLst>
          </p:cNvPr>
          <p:cNvSpPr>
            <a:spLocks xmlns:a="http://schemas.openxmlformats.org/drawingml/2006/main" noGrp="1"/>
          </p:cNvSpPr>
          <p:nvPr/>
        </p:nvSpPr>
        <p:spPr>
          <a:xfrm xmlns:a="http://schemas.openxmlformats.org/drawingml/2006/main">
            <a:off x="2876550" y="2085975"/>
            <a:ext cx="7772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73B31"/>
                </a:solidFill>
                <a:latin typeface="Arial"/>
                <a:ea typeface="Arial"/>
                <a:cs typeface="Arial"/>
              </a:defRPr>
            </a:pPr>
            <a:r>
              <a:rPr sz="1800" b="1">
                <a:solidFill>
                  <a:srgbClr val="173B31"/>
                </a:solidFill>
                <a:latin typeface="Arial"/>
                <a:ea typeface="Arial"/>
                <a:cs typeface="Arial"/>
              </a:rPr>
              <a:t>Bangalore and Hyderabad dominate the recorded snapshot.</a:t>
            </a:r>
          </a:p>
        </p:txBody>
      </p:sp>
      <p:sp>
        <p:nvSpPr>
          <p:cNvPr id="9" name="">
            <a:extLst xmlns:a="http://schemas.openxmlformats.org/drawingml/2006/main">
              <a:ext uri="{FF2B5EF4-FFF2-40B4-BE49-F238E27FC236}">
                <a16:creationId xmlns:a16="http://schemas.microsoft.com/office/drawing/2014/main" id="{3549BE44-03C1-46AC-92DC-ED167B074069}"/>
              </a:ext>
            </a:extLst>
          </p:cNvPr>
          <p:cNvSpPr>
            <a:spLocks xmlns:a="http://schemas.openxmlformats.org/drawingml/2006/main" noGrp="1"/>
          </p:cNvSpPr>
          <p:nvPr/>
        </p:nvSpPr>
        <p:spPr>
          <a:xfrm xmlns:a="http://schemas.openxmlformats.org/drawingml/2006/main">
            <a:off x="609600" y="3028950"/>
            <a:ext cx="76200" cy="781050"/>
          </a:xfrm>
          <a:prstGeom xmlns:a="http://schemas.openxmlformats.org/drawingml/2006/main" prst="roundRect">
            <a:avLst>
              <a:gd name="adj" fmla="val 50000"/>
            </a:avLst>
          </a:prstGeom>
          <a:solidFill xmlns:a="http://schemas.openxmlformats.org/drawingml/2006/main">
            <a:srgbClr val="D8902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0CAA520-76C4-40EC-855D-306FDBF9FD0D}"/>
              </a:ext>
            </a:extLst>
          </p:cNvPr>
          <p:cNvSpPr>
            <a:spLocks xmlns:a="http://schemas.openxmlformats.org/drawingml/2006/main" noGrp="1"/>
          </p:cNvSpPr>
          <p:nvPr/>
        </p:nvSpPr>
        <p:spPr>
          <a:xfrm xmlns:a="http://schemas.openxmlformats.org/drawingml/2006/main">
            <a:off x="895350" y="31051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D89029"/>
                </a:solidFill>
                <a:latin typeface="Arial"/>
                <a:ea typeface="Arial"/>
                <a:cs typeface="Arial"/>
              </a:defRPr>
            </a:pPr>
            <a:r>
              <a:rPr sz="1425" b="1">
                <a:solidFill>
                  <a:srgbClr val="D89029"/>
                </a:solidFill>
                <a:latin typeface="Arial"/>
                <a:ea typeface="Arial"/>
                <a:cs typeface="Arial"/>
              </a:rPr>
              <a:t>Ratings</a:t>
            </a:r>
          </a:p>
        </p:txBody>
      </p:sp>
      <p:sp>
        <p:nvSpPr>
          <p:cNvPr id="11" name="">
            <a:extLst xmlns:a="http://schemas.openxmlformats.org/drawingml/2006/main">
              <a:ext uri="{FF2B5EF4-FFF2-40B4-BE49-F238E27FC236}">
                <a16:creationId xmlns:a16="http://schemas.microsoft.com/office/drawing/2014/main" id="{B5A2C566-E850-4B65-AAE5-0A90F3A3D92A}"/>
              </a:ext>
            </a:extLst>
          </p:cNvPr>
          <p:cNvSpPr>
            <a:spLocks xmlns:a="http://schemas.openxmlformats.org/drawingml/2006/main" noGrp="1"/>
          </p:cNvSpPr>
          <p:nvPr/>
        </p:nvSpPr>
        <p:spPr>
          <a:xfrm xmlns:a="http://schemas.openxmlformats.org/drawingml/2006/main">
            <a:off x="2876550" y="3076575"/>
            <a:ext cx="7772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73B31"/>
                </a:solidFill>
                <a:latin typeface="Arial"/>
                <a:ea typeface="Arial"/>
                <a:cs typeface="Arial"/>
              </a:defRPr>
            </a:pPr>
            <a:r>
              <a:rPr sz="1800" b="1">
                <a:solidFill>
                  <a:srgbClr val="173B31"/>
                </a:solidFill>
                <a:latin typeface="Arial"/>
                <a:ea typeface="Arial"/>
                <a:cs typeface="Arial"/>
              </a:rPr>
              <a:t>511 venues are unrated; missing means unknown, never zero.</a:t>
            </a:r>
          </a:p>
        </p:txBody>
      </p:sp>
      <p:sp>
        <p:nvSpPr>
          <p:cNvPr id="12" name="">
            <a:extLst xmlns:a="http://schemas.openxmlformats.org/drawingml/2006/main">
              <a:ext uri="{FF2B5EF4-FFF2-40B4-BE49-F238E27FC236}">
                <a16:creationId xmlns:a16="http://schemas.microsoft.com/office/drawing/2014/main" id="{2AA7279C-A033-4F6F-8DAA-91E3952684E5}"/>
              </a:ext>
            </a:extLst>
          </p:cNvPr>
          <p:cNvSpPr>
            <a:spLocks xmlns:a="http://schemas.openxmlformats.org/drawingml/2006/main" noGrp="1"/>
          </p:cNvSpPr>
          <p:nvPr/>
        </p:nvSpPr>
        <p:spPr>
          <a:xfrm xmlns:a="http://schemas.openxmlformats.org/drawingml/2006/main">
            <a:off x="609600" y="4019550"/>
            <a:ext cx="76200" cy="781050"/>
          </a:xfrm>
          <a:prstGeom xmlns:a="http://schemas.openxmlformats.org/drawingml/2006/main" prst="roundRect">
            <a:avLst>
              <a:gd name="adj" fmla="val 50000"/>
            </a:avLst>
          </a:prstGeom>
          <a:solidFill xmlns:a="http://schemas.openxmlformats.org/drawingml/2006/main">
            <a:srgbClr val="2D7A6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98F8E0A-7ADC-4FDD-AA42-2E43A62016A2}"/>
              </a:ext>
            </a:extLst>
          </p:cNvPr>
          <p:cNvSpPr>
            <a:spLocks xmlns:a="http://schemas.openxmlformats.org/drawingml/2006/main" noGrp="1"/>
          </p:cNvSpPr>
          <p:nvPr/>
        </p:nvSpPr>
        <p:spPr>
          <a:xfrm xmlns:a="http://schemas.openxmlformats.org/drawingml/2006/main">
            <a:off x="895350" y="40957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2D7A62"/>
                </a:solidFill>
                <a:latin typeface="Arial"/>
                <a:ea typeface="Arial"/>
                <a:cs typeface="Arial"/>
              </a:defRPr>
            </a:pPr>
            <a:r>
              <a:rPr sz="1425" b="1">
                <a:solidFill>
                  <a:srgbClr val="2D7A62"/>
                </a:solidFill>
                <a:latin typeface="Arial"/>
                <a:ea typeface="Arial"/>
                <a:cs typeface="Arial"/>
              </a:rPr>
              <a:t>Taxonomy</a:t>
            </a:r>
          </a:p>
        </p:txBody>
      </p:sp>
      <p:sp>
        <p:nvSpPr>
          <p:cNvPr id="14" name="">
            <a:extLst xmlns:a="http://schemas.openxmlformats.org/drawingml/2006/main">
              <a:ext uri="{FF2B5EF4-FFF2-40B4-BE49-F238E27FC236}">
                <a16:creationId xmlns:a16="http://schemas.microsoft.com/office/drawing/2014/main" id="{9801A0CF-4E2E-4B76-8424-CD4910368A2F}"/>
              </a:ext>
            </a:extLst>
          </p:cNvPr>
          <p:cNvSpPr>
            <a:spLocks xmlns:a="http://schemas.openxmlformats.org/drawingml/2006/main" noGrp="1"/>
          </p:cNvSpPr>
          <p:nvPr/>
        </p:nvSpPr>
        <p:spPr>
          <a:xfrm xmlns:a="http://schemas.openxmlformats.org/drawingml/2006/main">
            <a:off x="2876550" y="4067175"/>
            <a:ext cx="7772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73B31"/>
                </a:solidFill>
                <a:latin typeface="Arial"/>
                <a:ea typeface="Arial"/>
                <a:cs typeface="Arial"/>
              </a:defRPr>
            </a:pPr>
            <a:r>
              <a:rPr sz="1800" b="1">
                <a:solidFill>
                  <a:srgbClr val="173B31"/>
                </a:solidFill>
                <a:latin typeface="Arial"/>
                <a:ea typeface="Arial"/>
                <a:cs typeface="Arial"/>
              </a:rPr>
              <a:t>The 89 labels include sports and supporting services.</a:t>
            </a:r>
          </a:p>
        </p:txBody>
      </p:sp>
      <p:sp>
        <p:nvSpPr>
          <p:cNvPr id="15" name="">
            <a:extLst xmlns:a="http://schemas.openxmlformats.org/drawingml/2006/main">
              <a:ext uri="{FF2B5EF4-FFF2-40B4-BE49-F238E27FC236}">
                <a16:creationId xmlns:a16="http://schemas.microsoft.com/office/drawing/2014/main" id="{E49E9E47-F86D-4811-BF29-42F6868813E6}"/>
              </a:ext>
            </a:extLst>
          </p:cNvPr>
          <p:cNvSpPr>
            <a:spLocks xmlns:a="http://schemas.openxmlformats.org/drawingml/2006/main" noGrp="1"/>
          </p:cNvSpPr>
          <p:nvPr/>
        </p:nvSpPr>
        <p:spPr>
          <a:xfrm xmlns:a="http://schemas.openxmlformats.org/drawingml/2006/main">
            <a:off x="609600" y="5010150"/>
            <a:ext cx="76200" cy="781050"/>
          </a:xfrm>
          <a:prstGeom xmlns:a="http://schemas.openxmlformats.org/drawingml/2006/main" prst="roundRect">
            <a:avLst>
              <a:gd name="adj" fmla="val 50000"/>
            </a:avLst>
          </a:prstGeom>
          <a:solidFill xmlns:a="http://schemas.openxmlformats.org/drawingml/2006/main">
            <a:srgbClr val="4E79A7"/>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6E81D6C-D9B7-42BE-88A4-3050FE085E06}"/>
              </a:ext>
            </a:extLst>
          </p:cNvPr>
          <p:cNvSpPr>
            <a:spLocks xmlns:a="http://schemas.openxmlformats.org/drawingml/2006/main" noGrp="1"/>
          </p:cNvSpPr>
          <p:nvPr/>
        </p:nvSpPr>
        <p:spPr>
          <a:xfrm xmlns:a="http://schemas.openxmlformats.org/drawingml/2006/main">
            <a:off x="895350" y="508635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defRPr sz="1425" b="1">
                <a:solidFill>
                  <a:srgbClr val="4E79A7"/>
                </a:solidFill>
                <a:latin typeface="Arial"/>
                <a:ea typeface="Arial"/>
                <a:cs typeface="Arial"/>
              </a:defRPr>
            </a:pPr>
            <a:r>
              <a:rPr sz="1425" b="1">
                <a:solidFill>
                  <a:srgbClr val="4E79A7"/>
                </a:solidFill>
                <a:latin typeface="Arial"/>
                <a:ea typeface="Arial"/>
                <a:cs typeface="Arial"/>
              </a:rPr>
              <a:t>Reliability</a:t>
            </a:r>
          </a:p>
        </p:txBody>
      </p:sp>
      <p:sp>
        <p:nvSpPr>
          <p:cNvPr id="17" name="">
            <a:extLst xmlns:a="http://schemas.openxmlformats.org/drawingml/2006/main">
              <a:ext uri="{FF2B5EF4-FFF2-40B4-BE49-F238E27FC236}">
                <a16:creationId xmlns:a16="http://schemas.microsoft.com/office/drawing/2014/main" id="{1C63E83E-5993-4269-BA9C-14C5B42A5456}"/>
              </a:ext>
            </a:extLst>
          </p:cNvPr>
          <p:cNvSpPr>
            <a:spLocks xmlns:a="http://schemas.openxmlformats.org/drawingml/2006/main" noGrp="1"/>
          </p:cNvSpPr>
          <p:nvPr/>
        </p:nvSpPr>
        <p:spPr>
          <a:xfrm xmlns:a="http://schemas.openxmlformats.org/drawingml/2006/main">
            <a:off x="2876550" y="5057775"/>
            <a:ext cx="7772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800" b="1">
                <a:solidFill>
                  <a:srgbClr val="173B31"/>
                </a:solidFill>
                <a:latin typeface="Arial"/>
                <a:ea typeface="Arial"/>
                <a:cs typeface="Arial"/>
              </a:defRPr>
            </a:pPr>
            <a:r>
              <a:rPr sz="1800" b="1">
                <a:solidFill>
                  <a:srgbClr val="173B31"/>
                </a:solidFill>
                <a:latin typeface="Arial"/>
                <a:ea typeface="Arial"/>
                <a:cs typeface="Arial"/>
              </a:rPr>
              <a:t>Delhi / NCR has a much larger unrated share than other regions.</a:t>
            </a:r>
          </a:p>
        </p:txBody>
      </p:sp>
      <p:sp>
        <p:nvSpPr>
          <p:cNvPr id="18" name="">
            <a:extLst xmlns:a="http://schemas.openxmlformats.org/drawingml/2006/main">
              <a:ext uri="{FF2B5EF4-FFF2-40B4-BE49-F238E27FC236}">
                <a16:creationId xmlns:a16="http://schemas.microsoft.com/office/drawing/2014/main" id="{B349D799-86FA-4197-A147-1571D27C5049}"/>
              </a:ext>
            </a:extLst>
          </p:cNvPr>
          <p:cNvSpPr>
            <a:spLocks xmlns:a="http://schemas.openxmlformats.org/drawingml/2006/main" noGrp="1"/>
          </p:cNvSpPr>
          <p:nvPr/>
        </p:nvSpPr>
        <p:spPr>
          <a:xfrm xmlns:a="http://schemas.openxmlformats.org/drawingml/2006/main">
            <a:off x="609600" y="5905500"/>
            <a:ext cx="10153650" cy="381000"/>
          </a:xfrm>
          <a:prstGeom xmlns:a="http://schemas.openxmlformats.org/drawingml/2006/main" prst="roundRect">
            <a:avLst>
              <a:gd name="adj" fmla="val 20000"/>
            </a:avLst>
          </a:prstGeom>
          <a:solidFill xmlns:a="http://schemas.openxmlformats.org/drawingml/2006/main">
            <a:srgbClr val="F5E7CB"/>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066AB23-4DFD-44ED-93AB-09B3B7A2317D}"/>
              </a:ext>
            </a:extLst>
          </p:cNvPr>
          <p:cNvSpPr>
            <a:spLocks xmlns:a="http://schemas.openxmlformats.org/drawingml/2006/main" noGrp="1"/>
          </p:cNvSpPr>
          <p:nvPr/>
        </p:nvSpPr>
        <p:spPr>
          <a:xfrm xmlns:a="http://schemas.openxmlformats.org/drawingml/2006/main">
            <a:off x="857250" y="5991225"/>
            <a:ext cx="971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defRPr sz="1200" b="1">
                <a:solidFill>
                  <a:srgbClr val="1D2B27"/>
                </a:solidFill>
                <a:latin typeface="Arial"/>
                <a:ea typeface="Arial"/>
                <a:cs typeface="Arial"/>
              </a:defRPr>
            </a:pPr>
            <a:r>
              <a:rPr sz="1200" b="1">
                <a:solidFill>
                  <a:srgbClr val="1D2B27"/>
                </a:solidFill>
                <a:latin typeface="Arial"/>
                <a:ea typeface="Arial"/>
                <a:cs typeface="Arial"/>
              </a:rPr>
              <a:t>Use recorded evidence for comparison — not claims about current availability, demand or revenue.</a:t>
            </a:r>
          </a:p>
        </p:txBody>
      </p:sp>
    </p:spTree>
    <p:extLst>
      <p:ext uri="{BB962C8B-B14F-4D97-AF65-F5344CB8AC3E}">
        <p14:creationId xmlns:p14="http://schemas.microsoft.com/office/powerpoint/2010/main" val="210423463"/>
      </p:ext>
    </p:extLst>
  </p:cSld>
</p:sld>
</file>

<file path=ppt/slides/slide15.xml><?xml version="1.0" encoding="utf-8"?>
<p:sld xmlns:p="http://schemas.openxmlformats.org/presentationml/2006/main">
  <p:cSld>
    <p:bg>
      <p:bgPr>
        <a:solidFill xmlns:a="http://schemas.openxmlformats.org/drawingml/2006/main">
          <a:srgbClr val="F7F3E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6C1B5A2-57AC-4376-B135-019C60F96CE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D8902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C54575-D9B2-434A-AC00-B53B838A19BF}"/>
              </a:ext>
            </a:extLst>
          </p:cNvPr>
          <p:cNvSpPr>
            <a:spLocks xmlns:a="http://schemas.openxmlformats.org/drawingml/2006/main" noGrp="1"/>
          </p:cNvSpPr>
          <p:nvPr/>
        </p:nvSpPr>
        <p:spPr>
          <a:xfrm xmlns:a="http://schemas.openxmlformats.org/drawingml/2006/main">
            <a:off x="533400" y="361950"/>
            <a:ext cx="533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125" b="1">
                <a:solidFill>
                  <a:srgbClr val="C64235"/>
                </a:solidFill>
                <a:latin typeface="Arial"/>
                <a:ea typeface="Arial"/>
                <a:cs typeface="Arial"/>
              </a:defRPr>
            </a:pPr>
            <a:r>
              <a:rPr sz="1125" b="1">
                <a:solidFill>
                  <a:srgbClr val="C64235"/>
                </a:solidFill>
                <a:latin typeface="Arial"/>
                <a:ea typeface="Arial"/>
                <a:cs typeface="Arial"/>
              </a:rPr>
              <a:t>RESPONSIBLE USE</a:t>
            </a:r>
          </a:p>
        </p:txBody>
      </p:sp>
      <p:sp>
        <p:nvSpPr>
          <p:cNvPr id="3" name="">
            <a:extLst xmlns:a="http://schemas.openxmlformats.org/drawingml/2006/main">
              <a:ext uri="{FF2B5EF4-FFF2-40B4-BE49-F238E27FC236}">
                <a16:creationId xmlns:a16="http://schemas.microsoft.com/office/drawing/2014/main" id="{0D9BD369-C23C-46A1-B114-F9BEF239125D}"/>
              </a:ext>
            </a:extLst>
          </p:cNvPr>
          <p:cNvSpPr>
            <a:spLocks xmlns:a="http://schemas.openxmlformats.org/drawingml/2006/main" noGrp="1"/>
          </p:cNvSpPr>
          <p:nvPr/>
        </p:nvSpPr>
        <p:spPr>
          <a:xfrm xmlns:a="http://schemas.openxmlformats.org/drawingml/2006/main">
            <a:off x="533400" y="704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700" b="1">
                <a:solidFill>
                  <a:srgbClr val="173B31"/>
                </a:solidFill>
                <a:latin typeface="Arial"/>
                <a:ea typeface="Arial"/>
                <a:cs typeface="Arial"/>
              </a:defRPr>
            </a:pPr>
            <a:r>
              <a:rPr sz="2700" b="1">
                <a:solidFill>
                  <a:srgbClr val="173B31"/>
                </a:solidFill>
                <a:latin typeface="Arial"/>
                <a:ea typeface="Arial"/>
                <a:cs typeface="Arial"/>
              </a:rPr>
              <a:t>The system makes its limitations visible instead of hiding them.</a:t>
            </a:r>
          </a:p>
        </p:txBody>
      </p:sp>
      <p:sp>
        <p:nvSpPr>
          <p:cNvPr id="4" name="">
            <a:extLst xmlns:a="http://schemas.openxmlformats.org/drawingml/2006/main">
              <a:ext uri="{FF2B5EF4-FFF2-40B4-BE49-F238E27FC236}">
                <a16:creationId xmlns:a16="http://schemas.microsoft.com/office/drawing/2014/main" id="{199CD67B-D72E-4ECD-8C7E-ED678E38A2FD}"/>
              </a:ext>
            </a:extLst>
          </p:cNvPr>
          <p:cNvSpPr>
            <a:spLocks xmlns:a="http://schemas.openxmlformats.org/drawingml/2006/main" noGrp="1"/>
          </p:cNvSpPr>
          <p:nvPr/>
        </p:nvSpPr>
        <p:spPr>
          <a:xfrm xmlns:a="http://schemas.openxmlformats.org/drawingml/2006/main">
            <a:off x="552450" y="1295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0">
                <a:solidFill>
                  <a:srgbClr val="66736D"/>
                </a:solidFill>
                <a:latin typeface="Arial"/>
                <a:ea typeface="Arial"/>
                <a:cs typeface="Arial"/>
              </a:defRPr>
            </a:pPr>
            <a:r>
              <a:rPr sz="1275" b="0">
                <a:solidFill>
                  <a:srgbClr val="66736D"/>
                </a:solidFill>
                <a:latin typeface="Arial"/>
                <a:ea typeface="Arial"/>
                <a:cs typeface="Arial"/>
              </a:rPr>
              <a:t>A credible capstone says what its data cannot support.</a:t>
            </a:r>
          </a:p>
        </p:txBody>
      </p:sp>
      <p:sp>
        <p:nvSpPr>
          <p:cNvPr id="5" name="">
            <a:extLst xmlns:a="http://schemas.openxmlformats.org/drawingml/2006/main">
              <a:ext uri="{FF2B5EF4-FFF2-40B4-BE49-F238E27FC236}">
                <a16:creationId xmlns:a16="http://schemas.microsoft.com/office/drawing/2014/main" id="{D271E664-C8EA-4C03-B8D8-E075D4FAFB74}"/>
              </a:ext>
            </a:extLst>
          </p:cNvPr>
          <p:cNvSpPr>
            <a:spLocks xmlns:a="http://schemas.openxmlformats.org/drawingml/2006/main" noGrp="1"/>
          </p:cNvSpPr>
          <p:nvPr/>
        </p:nvSpPr>
        <p:spPr>
          <a:xfrm xmlns:a="http://schemas.openxmlformats.org/drawingml/2006/main">
            <a:off x="11315700" y="619125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308"/>
          </a:bodyPr>
          <a:lstStyle xmlns:a="http://schemas.openxmlformats.org/drawingml/2006/main"/>
          <a:p xmlns:a="http://schemas.openxmlformats.org/drawingml/2006/main">
            <a:pPr>
              <a:defRPr sz="975" b="1">
                <a:solidFill>
                  <a:srgbClr val="66736D"/>
                </a:solidFill>
                <a:latin typeface="Arial"/>
                <a:ea typeface="Arial"/>
                <a:cs typeface="Arial"/>
              </a:defRPr>
            </a:pPr>
            <a:r>
              <a:rPr sz="975" b="1">
                <a:solidFill>
                  <a:srgbClr val="66736D"/>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CC6723F2-D09D-4D53-A948-9B3D40EE6D89}"/>
              </a:ext>
            </a:extLst>
          </p:cNvPr>
          <p:cNvSpPr>
            <a:spLocks xmlns:a="http://schemas.openxmlformats.org/drawingml/2006/main" noGrp="1"/>
          </p:cNvSpPr>
          <p:nvPr/>
        </p:nvSpPr>
        <p:spPr>
          <a:xfrm xmlns:a="http://schemas.openxmlformats.org/drawingml/2006/main">
            <a:off x="571500" y="2076450"/>
            <a:ext cx="4905375"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4DF76C5-BC3E-449C-91B3-64233C9D483D}"/>
              </a:ext>
            </a:extLst>
          </p:cNvPr>
          <p:cNvSpPr>
            <a:spLocks xmlns:a="http://schemas.openxmlformats.org/drawingml/2006/main" noGrp="1"/>
          </p:cNvSpPr>
          <p:nvPr/>
        </p:nvSpPr>
        <p:spPr>
          <a:xfrm xmlns:a="http://schemas.openxmlformats.org/drawingml/2006/main">
            <a:off x="800100" y="2247900"/>
            <a:ext cx="4448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defRPr sz="1500" b="1">
                <a:solidFill>
                  <a:srgbClr val="C64235"/>
                </a:solidFill>
                <a:latin typeface="Arial"/>
                <a:ea typeface="Arial"/>
                <a:cs typeface="Arial"/>
              </a:defRPr>
            </a:pPr>
            <a:r>
              <a:rPr sz="1500" b="1">
                <a:solidFill>
                  <a:srgbClr val="C64235"/>
                </a:solidFill>
                <a:latin typeface="Arial"/>
                <a:ea typeface="Arial"/>
                <a:cs typeface="Arial"/>
              </a:rPr>
              <a:t>Unknown dates</a:t>
            </a:r>
          </a:p>
        </p:txBody>
      </p:sp>
      <p:sp>
        <p:nvSpPr>
          <p:cNvPr id="8" name="">
            <a:extLst xmlns:a="http://schemas.openxmlformats.org/drawingml/2006/main">
              <a:ext uri="{FF2B5EF4-FFF2-40B4-BE49-F238E27FC236}">
                <a16:creationId xmlns:a16="http://schemas.microsoft.com/office/drawing/2014/main" id="{6C6BA809-5D96-498B-8823-F30DE7E7EDE7}"/>
              </a:ext>
            </a:extLst>
          </p:cNvPr>
          <p:cNvSpPr>
            <a:spLocks xmlns:a="http://schemas.openxmlformats.org/drawingml/2006/main" noGrp="1"/>
          </p:cNvSpPr>
          <p:nvPr/>
        </p:nvSpPr>
        <p:spPr>
          <a:xfrm xmlns:a="http://schemas.openxmlformats.org/drawingml/2006/main">
            <a:off x="800100" y="2600325"/>
            <a:ext cx="44481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No reliable observation timestamp, so change over time cannot be measured.</a:t>
            </a:r>
          </a:p>
        </p:txBody>
      </p:sp>
      <p:sp>
        <p:nvSpPr>
          <p:cNvPr id="9" name="">
            <a:extLst xmlns:a="http://schemas.openxmlformats.org/drawingml/2006/main">
              <a:ext uri="{FF2B5EF4-FFF2-40B4-BE49-F238E27FC236}">
                <a16:creationId xmlns:a16="http://schemas.microsoft.com/office/drawing/2014/main" id="{BE5026C0-4CAC-489E-B93F-938CA384C481}"/>
              </a:ext>
            </a:extLst>
          </p:cNvPr>
          <p:cNvSpPr>
            <a:spLocks xmlns:a="http://schemas.openxmlformats.org/drawingml/2006/main" noGrp="1"/>
          </p:cNvSpPr>
          <p:nvPr/>
        </p:nvSpPr>
        <p:spPr>
          <a:xfrm xmlns:a="http://schemas.openxmlformats.org/drawingml/2006/main">
            <a:off x="5857875" y="2076450"/>
            <a:ext cx="4905375" cy="1257300"/>
          </a:xfrm>
          <a:prstGeom xmlns:a="http://schemas.openxmlformats.org/drawingml/2006/main" prst="roundRect">
            <a:avLst>
              <a:gd name="adj" fmla="val 6061"/>
            </a:avLst>
          </a:prstGeom>
          <a:solidFill xmlns:a="http://schemas.openxmlformats.org/drawingml/2006/main">
            <a:srgbClr val="F5E7C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1475FEB-7311-4846-B3FE-545CEFF9D2BE}"/>
              </a:ext>
            </a:extLst>
          </p:cNvPr>
          <p:cNvSpPr>
            <a:spLocks xmlns:a="http://schemas.openxmlformats.org/drawingml/2006/main" noGrp="1"/>
          </p:cNvSpPr>
          <p:nvPr/>
        </p:nvSpPr>
        <p:spPr>
          <a:xfrm xmlns:a="http://schemas.openxmlformats.org/drawingml/2006/main">
            <a:off x="6086475" y="2247900"/>
            <a:ext cx="4448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defRPr sz="1500" b="1">
                <a:solidFill>
                  <a:srgbClr val="C64235"/>
                </a:solidFill>
                <a:latin typeface="Arial"/>
                <a:ea typeface="Arial"/>
                <a:cs typeface="Arial"/>
              </a:defRPr>
            </a:pPr>
            <a:r>
              <a:rPr sz="1500" b="1">
                <a:solidFill>
                  <a:srgbClr val="C64235"/>
                </a:solidFill>
                <a:latin typeface="Arial"/>
                <a:ea typeface="Arial"/>
                <a:cs typeface="Arial"/>
              </a:rPr>
              <a:t>Selection bias</a:t>
            </a:r>
          </a:p>
        </p:txBody>
      </p:sp>
      <p:sp>
        <p:nvSpPr>
          <p:cNvPr id="11" name="">
            <a:extLst xmlns:a="http://schemas.openxmlformats.org/drawingml/2006/main">
              <a:ext uri="{FF2B5EF4-FFF2-40B4-BE49-F238E27FC236}">
                <a16:creationId xmlns:a16="http://schemas.microsoft.com/office/drawing/2014/main" id="{845A88AE-1E1E-407D-BB7D-B726A9C0FF6B}"/>
              </a:ext>
            </a:extLst>
          </p:cNvPr>
          <p:cNvSpPr>
            <a:spLocks xmlns:a="http://schemas.openxmlformats.org/drawingml/2006/main" noGrp="1"/>
          </p:cNvSpPr>
          <p:nvPr/>
        </p:nvSpPr>
        <p:spPr>
          <a:xfrm xmlns:a="http://schemas.openxmlformats.org/drawingml/2006/main">
            <a:off x="6086475" y="2600325"/>
            <a:ext cx="44481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Four source regions are not a representative sample of all Indian venues.</a:t>
            </a:r>
          </a:p>
        </p:txBody>
      </p:sp>
      <p:sp>
        <p:nvSpPr>
          <p:cNvPr id="12" name="">
            <a:extLst xmlns:a="http://schemas.openxmlformats.org/drawingml/2006/main">
              <a:ext uri="{FF2B5EF4-FFF2-40B4-BE49-F238E27FC236}">
                <a16:creationId xmlns:a16="http://schemas.microsoft.com/office/drawing/2014/main" id="{12668950-5221-4A63-80E6-168EE84B512A}"/>
              </a:ext>
            </a:extLst>
          </p:cNvPr>
          <p:cNvSpPr>
            <a:spLocks xmlns:a="http://schemas.openxmlformats.org/drawingml/2006/main" noGrp="1"/>
          </p:cNvSpPr>
          <p:nvPr/>
        </p:nvSpPr>
        <p:spPr>
          <a:xfrm xmlns:a="http://schemas.openxmlformats.org/drawingml/2006/main">
            <a:off x="571500" y="3524250"/>
            <a:ext cx="4905375"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8F26A69-59AE-436E-B7F1-A5D6F94DE99C}"/>
              </a:ext>
            </a:extLst>
          </p:cNvPr>
          <p:cNvSpPr>
            <a:spLocks xmlns:a="http://schemas.openxmlformats.org/drawingml/2006/main" noGrp="1"/>
          </p:cNvSpPr>
          <p:nvPr/>
        </p:nvSpPr>
        <p:spPr>
          <a:xfrm xmlns:a="http://schemas.openxmlformats.org/drawingml/2006/main">
            <a:off x="800100" y="3695700"/>
            <a:ext cx="4448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defRPr sz="1500" b="1">
                <a:solidFill>
                  <a:srgbClr val="C64235"/>
                </a:solidFill>
                <a:latin typeface="Arial"/>
                <a:ea typeface="Arial"/>
                <a:cs typeface="Arial"/>
              </a:defRPr>
            </a:pPr>
            <a:r>
              <a:rPr sz="1500" b="1">
                <a:solidFill>
                  <a:srgbClr val="C64235"/>
                </a:solidFill>
                <a:latin typeface="Arial"/>
                <a:ea typeface="Arial"/>
                <a:cs typeface="Arial"/>
              </a:rPr>
              <a:t>Sparse targets</a:t>
            </a:r>
          </a:p>
        </p:txBody>
      </p:sp>
      <p:sp>
        <p:nvSpPr>
          <p:cNvPr id="14" name="">
            <a:extLst xmlns:a="http://schemas.openxmlformats.org/drawingml/2006/main">
              <a:ext uri="{FF2B5EF4-FFF2-40B4-BE49-F238E27FC236}">
                <a16:creationId xmlns:a16="http://schemas.microsoft.com/office/drawing/2014/main" id="{51269EA9-6ECF-4A46-87C0-E1387CD02866}"/>
              </a:ext>
            </a:extLst>
          </p:cNvPr>
          <p:cNvSpPr>
            <a:spLocks xmlns:a="http://schemas.openxmlformats.org/drawingml/2006/main" noGrp="1"/>
          </p:cNvSpPr>
          <p:nvPr/>
        </p:nvSpPr>
        <p:spPr>
          <a:xfrm xmlns:a="http://schemas.openxmlformats.org/drawingml/2006/main">
            <a:off x="800100" y="4048125"/>
            <a:ext cx="44481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Unrated venues cannot be used for supervised evaluation.</a:t>
            </a:r>
          </a:p>
        </p:txBody>
      </p:sp>
      <p:sp>
        <p:nvSpPr>
          <p:cNvPr id="15" name="">
            <a:extLst xmlns:a="http://schemas.openxmlformats.org/drawingml/2006/main">
              <a:ext uri="{FF2B5EF4-FFF2-40B4-BE49-F238E27FC236}">
                <a16:creationId xmlns:a16="http://schemas.microsoft.com/office/drawing/2014/main" id="{4B59C0C0-DCB9-4EE6-9A10-15215D370C9E}"/>
              </a:ext>
            </a:extLst>
          </p:cNvPr>
          <p:cNvSpPr>
            <a:spLocks xmlns:a="http://schemas.openxmlformats.org/drawingml/2006/main" noGrp="1"/>
          </p:cNvSpPr>
          <p:nvPr/>
        </p:nvSpPr>
        <p:spPr>
          <a:xfrm xmlns:a="http://schemas.openxmlformats.org/drawingml/2006/main">
            <a:off x="5857875" y="3524250"/>
            <a:ext cx="4905375" cy="1257300"/>
          </a:xfrm>
          <a:prstGeom xmlns:a="http://schemas.openxmlformats.org/drawingml/2006/main" prst="roundRect">
            <a:avLst>
              <a:gd name="adj" fmla="val 6061"/>
            </a:avLst>
          </a:prstGeom>
          <a:solidFill xmlns:a="http://schemas.openxmlformats.org/drawingml/2006/main">
            <a:srgbClr val="F5E7CB"/>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9A6A368-3C18-44A0-92B9-4A7200C75B64}"/>
              </a:ext>
            </a:extLst>
          </p:cNvPr>
          <p:cNvSpPr>
            <a:spLocks xmlns:a="http://schemas.openxmlformats.org/drawingml/2006/main" noGrp="1"/>
          </p:cNvSpPr>
          <p:nvPr/>
        </p:nvSpPr>
        <p:spPr>
          <a:xfrm xmlns:a="http://schemas.openxmlformats.org/drawingml/2006/main">
            <a:off x="6086475" y="3695700"/>
            <a:ext cx="4448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defRPr sz="1500" b="1">
                <a:solidFill>
                  <a:srgbClr val="C64235"/>
                </a:solidFill>
                <a:latin typeface="Arial"/>
                <a:ea typeface="Arial"/>
                <a:cs typeface="Arial"/>
              </a:defRPr>
            </a:pPr>
            <a:r>
              <a:rPr sz="1500" b="1">
                <a:solidFill>
                  <a:srgbClr val="C64235"/>
                </a:solidFill>
                <a:latin typeface="Arial"/>
                <a:ea typeface="Arial"/>
                <a:cs typeface="Arial"/>
              </a:rPr>
              <a:t>Missing business facts</a:t>
            </a:r>
          </a:p>
        </p:txBody>
      </p:sp>
      <p:sp>
        <p:nvSpPr>
          <p:cNvPr id="17" name="">
            <a:extLst xmlns:a="http://schemas.openxmlformats.org/drawingml/2006/main">
              <a:ext uri="{FF2B5EF4-FFF2-40B4-BE49-F238E27FC236}">
                <a16:creationId xmlns:a16="http://schemas.microsoft.com/office/drawing/2014/main" id="{7EEF5C77-83C8-42F8-8403-181648B5BF24}"/>
              </a:ext>
            </a:extLst>
          </p:cNvPr>
          <p:cNvSpPr>
            <a:spLocks xmlns:a="http://schemas.openxmlformats.org/drawingml/2006/main" noGrp="1"/>
          </p:cNvSpPr>
          <p:nvPr/>
        </p:nvSpPr>
        <p:spPr>
          <a:xfrm xmlns:a="http://schemas.openxmlformats.org/drawingml/2006/main">
            <a:off x="6086475" y="4048125"/>
            <a:ext cx="44481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1D2B27"/>
                </a:solidFill>
                <a:latin typeface="Arial"/>
                <a:ea typeface="Arial"/>
                <a:cs typeface="Arial"/>
              </a:defRPr>
            </a:pPr>
            <a:r>
              <a:rPr sz="1200" b="0">
                <a:solidFill>
                  <a:srgbClr val="1D2B27"/>
                </a:solidFill>
                <a:latin typeface="Arial"/>
                <a:ea typeface="Arial"/>
                <a:cs typeface="Arial"/>
              </a:rPr>
              <a:t>No bookings, prices, revenue, capacity or verified current availability.</a:t>
            </a:r>
          </a:p>
        </p:txBody>
      </p:sp>
      <p:sp>
        <p:nvSpPr>
          <p:cNvPr id="18" name="">
            <a:extLst xmlns:a="http://schemas.openxmlformats.org/drawingml/2006/main">
              <a:ext uri="{FF2B5EF4-FFF2-40B4-BE49-F238E27FC236}">
                <a16:creationId xmlns:a16="http://schemas.microsoft.com/office/drawing/2014/main" id="{1DC3916E-B0B2-454D-A57A-F17FB5C0567B}"/>
              </a:ext>
            </a:extLst>
          </p:cNvPr>
          <p:cNvSpPr>
            <a:spLocks xmlns:a="http://schemas.openxmlformats.org/drawingml/2006/main" noGrp="1"/>
          </p:cNvSpPr>
          <p:nvPr/>
        </p:nvSpPr>
        <p:spPr>
          <a:xfrm xmlns:a="http://schemas.openxmlformats.org/drawingml/2006/main">
            <a:off x="571500" y="5067300"/>
            <a:ext cx="10191750" cy="876300"/>
          </a:xfrm>
          <a:prstGeom xmlns:a="http://schemas.openxmlformats.org/drawingml/2006/main" prst="roundRect">
            <a:avLst>
              <a:gd name="adj" fmla="val 8696"/>
            </a:avLst>
          </a:prstGeom>
          <a:solidFill xmlns:a="http://schemas.openxmlformats.org/drawingml/2006/main">
            <a:srgbClr val="173B3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773A01F-D3EA-4F11-B08E-85473B2545E7}"/>
              </a:ext>
            </a:extLst>
          </p:cNvPr>
          <p:cNvSpPr>
            <a:spLocks xmlns:a="http://schemas.openxmlformats.org/drawingml/2006/main" noGrp="1"/>
          </p:cNvSpPr>
          <p:nvPr/>
        </p:nvSpPr>
        <p:spPr>
          <a:xfrm xmlns:a="http://schemas.openxmlformats.org/drawingml/2006/main">
            <a:off x="800100" y="5238750"/>
            <a:ext cx="9734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defRPr sz="1500" b="1">
                <a:solidFill>
                  <a:srgbClr val="FFFFFF"/>
                </a:solidFill>
                <a:latin typeface="Arial"/>
                <a:ea typeface="Arial"/>
                <a:cs typeface="Arial"/>
              </a:defRPr>
            </a:pPr>
            <a:r>
              <a:rPr sz="1500" b="1">
                <a:solidFill>
                  <a:srgbClr val="FFFFFF"/>
                </a:solidFill>
                <a:latin typeface="Arial"/>
                <a:ea typeface="Arial"/>
                <a:cs typeface="Arial"/>
              </a:rPr>
              <a:t>Modest model fit</a:t>
            </a:r>
          </a:p>
        </p:txBody>
      </p:sp>
      <p:sp>
        <p:nvSpPr>
          <p:cNvPr id="20" name="">
            <a:extLst xmlns:a="http://schemas.openxmlformats.org/drawingml/2006/main">
              <a:ext uri="{FF2B5EF4-FFF2-40B4-BE49-F238E27FC236}">
                <a16:creationId xmlns:a16="http://schemas.microsoft.com/office/drawing/2014/main" id="{875C6957-AF84-455E-8B08-25C8BF84AF23}"/>
              </a:ext>
            </a:extLst>
          </p:cNvPr>
          <p:cNvSpPr>
            <a:spLocks xmlns:a="http://schemas.openxmlformats.org/drawingml/2006/main" noGrp="1"/>
          </p:cNvSpPr>
          <p:nvPr/>
        </p:nvSpPr>
        <p:spPr>
          <a:xfrm xmlns:a="http://schemas.openxmlformats.org/drawingml/2006/main">
            <a:off x="800100" y="5591175"/>
            <a:ext cx="97345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00" b="0">
                <a:solidFill>
                  <a:srgbClr val="DDECE2"/>
                </a:solidFill>
                <a:latin typeface="Arial"/>
                <a:ea typeface="Arial"/>
                <a:cs typeface="Arial"/>
              </a:defRPr>
            </a:pPr>
            <a:r>
              <a:rPr sz="1200" b="0">
                <a:solidFill>
                  <a:srgbClr val="DDECE2"/>
                </a:solidFill>
                <a:latin typeface="Arial"/>
                <a:ea typeface="Arial"/>
                <a:cs typeface="Arial"/>
              </a:rPr>
              <a:t>Predictions are research estimates, not quality guarantees.</a:t>
            </a:r>
          </a:p>
        </p:txBody>
      </p:sp>
    </p:spTree>
    <p:extLst>
      <p:ext uri="{BB962C8B-B14F-4D97-AF65-F5344CB8AC3E}">
        <p14:creationId xmlns:p14="http://schemas.microsoft.com/office/powerpoint/2010/main" val="9706808"/>
      </p:ext>
    </p:extLst>
  </p:cSld>
</p:sld>
</file>

<file path=ppt/slides/slide16.xml><?xml version="1.0" encoding="utf-8"?>
<p:sld xmlns:p="http://schemas.openxmlformats.org/presentationml/2006/main">
  <p:cSld>
    <p:bg>
      <p:bgPr>
        <a:solidFill xmlns:a="http://schemas.openxmlformats.org/drawingml/2006/main">
          <a:srgbClr val="173B3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43C10BE-C5D2-4D96-A477-CD2A083BEEE6}"/>
              </a:ext>
            </a:extLst>
          </p:cNvPr>
          <p:cNvSpPr>
            <a:spLocks xmlns:a="http://schemas.openxmlformats.org/drawingml/2006/main" noGrp="1"/>
          </p:cNvSpPr>
          <p:nvPr/>
        </p:nvSpPr>
        <p:spPr>
          <a:xfrm xmlns:a="http://schemas.openxmlformats.org/drawingml/2006/main">
            <a:off x="609600" y="723900"/>
            <a:ext cx="685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FROM RAW FILES TO</a:t>
            </a:r>
          </a:p>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AUDITABLE DECISIONS</a:t>
            </a:r>
          </a:p>
        </p:txBody>
      </p:sp>
      <p:sp>
        <p:nvSpPr>
          <p:cNvPr id="2" name="">
            <a:extLst xmlns:a="http://schemas.openxmlformats.org/drawingml/2006/main">
              <a:ext uri="{FF2B5EF4-FFF2-40B4-BE49-F238E27FC236}">
                <a16:creationId xmlns:a16="http://schemas.microsoft.com/office/drawing/2014/main" id="{589F4447-4581-48EA-AB54-35E78DF6A3AA}"/>
              </a:ext>
            </a:extLst>
          </p:cNvPr>
          <p:cNvSpPr>
            <a:spLocks xmlns:a="http://schemas.openxmlformats.org/drawingml/2006/main" noGrp="1"/>
          </p:cNvSpPr>
          <p:nvPr/>
        </p:nvSpPr>
        <p:spPr>
          <a:xfrm xmlns:a="http://schemas.openxmlformats.org/drawingml/2006/main">
            <a:off x="628650" y="24003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275" b="1">
                <a:solidFill>
                  <a:srgbClr val="D89029"/>
                </a:solidFill>
                <a:latin typeface="Arial"/>
                <a:ea typeface="Arial"/>
                <a:cs typeface="Arial"/>
              </a:defRPr>
            </a:pPr>
            <a:r>
              <a:rPr sz="1275" b="1">
                <a:solidFill>
                  <a:srgbClr val="D89029"/>
                </a:solidFill>
                <a:latin typeface="Arial"/>
                <a:ea typeface="Arial"/>
                <a:cs typeface="Arial"/>
              </a:rPr>
              <a:t>What the team built</a:t>
            </a:r>
          </a:p>
        </p:txBody>
      </p:sp>
      <p:sp>
        <p:nvSpPr>
          <p:cNvPr id="3" name="">
            <a:extLst xmlns:a="http://schemas.openxmlformats.org/drawingml/2006/main">
              <a:ext uri="{FF2B5EF4-FFF2-40B4-BE49-F238E27FC236}">
                <a16:creationId xmlns:a16="http://schemas.microsoft.com/office/drawing/2014/main" id="{72BB9142-E399-4901-8622-BEA8F25C5EC8}"/>
              </a:ext>
            </a:extLst>
          </p:cNvPr>
          <p:cNvSpPr>
            <a:spLocks xmlns:a="http://schemas.openxmlformats.org/drawingml/2006/main" noGrp="1"/>
          </p:cNvSpPr>
          <p:nvPr/>
        </p:nvSpPr>
        <p:spPr>
          <a:xfrm xmlns:a="http://schemas.openxmlformats.org/drawingml/2006/main">
            <a:off x="647700" y="2895600"/>
            <a:ext cx="190500" cy="190500"/>
          </a:xfrm>
          <a:prstGeom xmlns:a="http://schemas.openxmlformats.org/drawingml/2006/main" prst="ellipse">
            <a:avLst/>
          </a:prstGeom>
          <a:solidFill xmlns:a="http://schemas.openxmlformats.org/drawingml/2006/main">
            <a:srgbClr val="C64235"/>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4BA6B03-C21B-49C0-A664-08447774AC8A}"/>
              </a:ext>
            </a:extLst>
          </p:cNvPr>
          <p:cNvSpPr>
            <a:spLocks xmlns:a="http://schemas.openxmlformats.org/drawingml/2006/main" noGrp="1"/>
          </p:cNvSpPr>
          <p:nvPr/>
        </p:nvSpPr>
        <p:spPr>
          <a:xfrm xmlns:a="http://schemas.openxmlformats.org/drawingml/2006/main">
            <a:off x="990600" y="2857500"/>
            <a:ext cx="628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1">
                <a:solidFill>
                  <a:srgbClr val="FFFFFF"/>
                </a:solidFill>
                <a:latin typeface="Arial"/>
                <a:ea typeface="Arial"/>
                <a:cs typeface="Arial"/>
              </a:defRPr>
            </a:pPr>
            <a:r>
              <a:rPr sz="1500" b="1">
                <a:solidFill>
                  <a:srgbClr val="FFFFFF"/>
                </a:solidFill>
                <a:latin typeface="Arial"/>
                <a:ea typeface="Arial"/>
                <a:cs typeface="Arial"/>
              </a:rPr>
              <a:t>3,697 deduplicated historical venues</a:t>
            </a:r>
          </a:p>
        </p:txBody>
      </p:sp>
      <p:sp>
        <p:nvSpPr>
          <p:cNvPr id="5" name="">
            <a:extLst xmlns:a="http://schemas.openxmlformats.org/drawingml/2006/main">
              <a:ext uri="{FF2B5EF4-FFF2-40B4-BE49-F238E27FC236}">
                <a16:creationId xmlns:a16="http://schemas.microsoft.com/office/drawing/2014/main" id="{E0591334-42B8-4D19-BA63-CEA9B7EDC55C}"/>
              </a:ext>
            </a:extLst>
          </p:cNvPr>
          <p:cNvSpPr>
            <a:spLocks xmlns:a="http://schemas.openxmlformats.org/drawingml/2006/main" noGrp="1"/>
          </p:cNvSpPr>
          <p:nvPr/>
        </p:nvSpPr>
        <p:spPr>
          <a:xfrm xmlns:a="http://schemas.openxmlformats.org/drawingml/2006/main">
            <a:off x="647700" y="3390900"/>
            <a:ext cx="190500" cy="190500"/>
          </a:xfrm>
          <a:prstGeom xmlns:a="http://schemas.openxmlformats.org/drawingml/2006/main" prst="ellipse">
            <a:avLst/>
          </a:prstGeom>
          <a:solidFill xmlns:a="http://schemas.openxmlformats.org/drawingml/2006/main">
            <a:srgbClr val="D8902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D8D1BFB-1E11-43A7-AA8B-1C809947F944}"/>
              </a:ext>
            </a:extLst>
          </p:cNvPr>
          <p:cNvSpPr>
            <a:spLocks xmlns:a="http://schemas.openxmlformats.org/drawingml/2006/main" noGrp="1"/>
          </p:cNvSpPr>
          <p:nvPr/>
        </p:nvSpPr>
        <p:spPr>
          <a:xfrm xmlns:a="http://schemas.openxmlformats.org/drawingml/2006/main">
            <a:off x="990600" y="3352800"/>
            <a:ext cx="628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Normalized PostgreSQL with provenance</a:t>
            </a:r>
          </a:p>
        </p:txBody>
      </p:sp>
      <p:sp>
        <p:nvSpPr>
          <p:cNvPr id="7" name="">
            <a:extLst xmlns:a="http://schemas.openxmlformats.org/drawingml/2006/main">
              <a:ext uri="{FF2B5EF4-FFF2-40B4-BE49-F238E27FC236}">
                <a16:creationId xmlns:a16="http://schemas.microsoft.com/office/drawing/2014/main" id="{173FCBE7-F037-4FC9-A8AF-F218E000D2CE}"/>
              </a:ext>
            </a:extLst>
          </p:cNvPr>
          <p:cNvSpPr>
            <a:spLocks xmlns:a="http://schemas.openxmlformats.org/drawingml/2006/main" noGrp="1"/>
          </p:cNvSpPr>
          <p:nvPr/>
        </p:nvSpPr>
        <p:spPr>
          <a:xfrm xmlns:a="http://schemas.openxmlformats.org/drawingml/2006/main">
            <a:off x="647700" y="3886200"/>
            <a:ext cx="190500" cy="190500"/>
          </a:xfrm>
          <a:prstGeom xmlns:a="http://schemas.openxmlformats.org/drawingml/2006/main" prst="ellipse">
            <a:avLst/>
          </a:prstGeom>
          <a:solidFill xmlns:a="http://schemas.openxmlformats.org/drawingml/2006/main">
            <a:srgbClr val="2D7A6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DD5FAA8-94E1-4732-A30A-A9EA35213F3C}"/>
              </a:ext>
            </a:extLst>
          </p:cNvPr>
          <p:cNvSpPr>
            <a:spLocks xmlns:a="http://schemas.openxmlformats.org/drawingml/2006/main" noGrp="1"/>
          </p:cNvSpPr>
          <p:nvPr/>
        </p:nvSpPr>
        <p:spPr>
          <a:xfrm xmlns:a="http://schemas.openxmlformats.org/drawingml/2006/main">
            <a:off x="990600" y="3848100"/>
            <a:ext cx="628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Leakage-aware grouped ML evaluation</a:t>
            </a:r>
          </a:p>
        </p:txBody>
      </p:sp>
      <p:sp>
        <p:nvSpPr>
          <p:cNvPr id="9" name="">
            <a:extLst xmlns:a="http://schemas.openxmlformats.org/drawingml/2006/main">
              <a:ext uri="{FF2B5EF4-FFF2-40B4-BE49-F238E27FC236}">
                <a16:creationId xmlns:a16="http://schemas.microsoft.com/office/drawing/2014/main" id="{DAC721C8-7978-4279-8457-7E8691A7A80A}"/>
              </a:ext>
            </a:extLst>
          </p:cNvPr>
          <p:cNvSpPr>
            <a:spLocks xmlns:a="http://schemas.openxmlformats.org/drawingml/2006/main" noGrp="1"/>
          </p:cNvSpPr>
          <p:nvPr/>
        </p:nvSpPr>
        <p:spPr>
          <a:xfrm xmlns:a="http://schemas.openxmlformats.org/drawingml/2006/main">
            <a:off x="647700" y="4381500"/>
            <a:ext cx="190500" cy="190500"/>
          </a:xfrm>
          <a:prstGeom xmlns:a="http://schemas.openxmlformats.org/drawingml/2006/main" prst="ellipse">
            <a:avLst/>
          </a:prstGeom>
          <a:solidFill xmlns:a="http://schemas.openxmlformats.org/drawingml/2006/main">
            <a:srgbClr val="4E79A7"/>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69FCC03-2101-4EF3-B903-6A655154074C}"/>
              </a:ext>
            </a:extLst>
          </p:cNvPr>
          <p:cNvSpPr>
            <a:spLocks xmlns:a="http://schemas.openxmlformats.org/drawingml/2006/main" noGrp="1"/>
          </p:cNvSpPr>
          <p:nvPr/>
        </p:nvSpPr>
        <p:spPr>
          <a:xfrm xmlns:a="http://schemas.openxmlformats.org/drawingml/2006/main">
            <a:off x="990600" y="4343400"/>
            <a:ext cx="628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Public Cloudflare dashboard backed by Supabase</a:t>
            </a:r>
          </a:p>
        </p:txBody>
      </p:sp>
      <p:sp>
        <p:nvSpPr>
          <p:cNvPr id="11" name="">
            <a:extLst xmlns:a="http://schemas.openxmlformats.org/drawingml/2006/main">
              <a:ext uri="{FF2B5EF4-FFF2-40B4-BE49-F238E27FC236}">
                <a16:creationId xmlns:a16="http://schemas.microsoft.com/office/drawing/2014/main" id="{58363BB7-F1F8-45F2-8674-AC366DD3C7AF}"/>
              </a:ext>
            </a:extLst>
          </p:cNvPr>
          <p:cNvSpPr>
            <a:spLocks xmlns:a="http://schemas.openxmlformats.org/drawingml/2006/main" noGrp="1"/>
          </p:cNvSpPr>
          <p:nvPr/>
        </p:nvSpPr>
        <p:spPr>
          <a:xfrm xmlns:a="http://schemas.openxmlformats.org/drawingml/2006/main">
            <a:off x="647700" y="4876800"/>
            <a:ext cx="190500" cy="190500"/>
          </a:xfrm>
          <a:prstGeom xmlns:a="http://schemas.openxmlformats.org/drawingml/2006/main" prst="ellipse">
            <a:avLst/>
          </a:prstGeom>
          <a:solidFill xmlns:a="http://schemas.openxmlformats.org/drawingml/2006/main">
            <a:srgbClr val="9B6BB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9B83BBC-FFAC-49C6-AE2B-9B03B14DEB66}"/>
              </a:ext>
            </a:extLst>
          </p:cNvPr>
          <p:cNvSpPr>
            <a:spLocks xmlns:a="http://schemas.openxmlformats.org/drawingml/2006/main" noGrp="1"/>
          </p:cNvSpPr>
          <p:nvPr/>
        </p:nvSpPr>
        <p:spPr>
          <a:xfrm xmlns:a="http://schemas.openxmlformats.org/drawingml/2006/main">
            <a:off x="990600" y="4838700"/>
            <a:ext cx="628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Moderated, separate community contribution flow</a:t>
            </a:r>
          </a:p>
        </p:txBody>
      </p:sp>
      <p:sp>
        <p:nvSpPr>
          <p:cNvPr id="13" name="">
            <a:extLst xmlns:a="http://schemas.openxmlformats.org/drawingml/2006/main">
              <a:ext uri="{FF2B5EF4-FFF2-40B4-BE49-F238E27FC236}">
                <a16:creationId xmlns:a16="http://schemas.microsoft.com/office/drawing/2014/main" id="{80D1659C-9247-4DF3-9F2E-194A97843011}"/>
              </a:ext>
            </a:extLst>
          </p:cNvPr>
          <p:cNvSpPr>
            <a:spLocks xmlns:a="http://schemas.openxmlformats.org/drawingml/2006/main" noGrp="1"/>
          </p:cNvSpPr>
          <p:nvPr/>
        </p:nvSpPr>
        <p:spPr>
          <a:xfrm xmlns:a="http://schemas.openxmlformats.org/drawingml/2006/main">
            <a:off x="8020050" y="666750"/>
            <a:ext cx="3333750" cy="4762500"/>
          </a:xfrm>
          <a:prstGeom xmlns:a="http://schemas.openxmlformats.org/drawingml/2006/main" prst="roundRect">
            <a:avLst>
              <a:gd name="adj" fmla="val 2286"/>
            </a:avLst>
          </a:prstGeom>
          <a:solidFill xmlns:a="http://schemas.openxmlformats.org/drawingml/2006/main">
            <a:srgbClr val="F7F3E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933E12E-D06A-4BDC-8519-2E50A446DDDF}"/>
              </a:ext>
            </a:extLst>
          </p:cNvPr>
          <p:cNvSpPr>
            <a:spLocks xmlns:a="http://schemas.openxmlformats.org/drawingml/2006/main" noGrp="1"/>
          </p:cNvSpPr>
          <p:nvPr/>
        </p:nvSpPr>
        <p:spPr>
          <a:xfrm xmlns:a="http://schemas.openxmlformats.org/drawingml/2006/main">
            <a:off x="8324850" y="1009650"/>
            <a:ext cx="2724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652"/>
          </a:bodyPr>
          <a:lstStyle xmlns:a="http://schemas.openxmlformats.org/drawingml/2006/main"/>
          <a:p xmlns:a="http://schemas.openxmlformats.org/drawingml/2006/main">
            <a:pPr>
              <a:defRPr sz="1725" b="1">
                <a:solidFill>
                  <a:srgbClr val="173B31"/>
                </a:solidFill>
                <a:latin typeface="Arial"/>
                <a:ea typeface="Arial"/>
                <a:cs typeface="Arial"/>
              </a:defRPr>
            </a:pPr>
            <a:r>
              <a:rPr sz="1725" b="1">
                <a:solidFill>
                  <a:srgbClr val="173B31"/>
                </a:solidFill>
                <a:latin typeface="Arial"/>
                <a:ea typeface="Arial"/>
                <a:cs typeface="Arial"/>
              </a:rPr>
              <a:t>Suggested live demo</a:t>
            </a:r>
          </a:p>
        </p:txBody>
      </p:sp>
      <p:sp>
        <p:nvSpPr>
          <p:cNvPr id="15" name="">
            <a:extLst xmlns:a="http://schemas.openxmlformats.org/drawingml/2006/main">
              <a:ext uri="{FF2B5EF4-FFF2-40B4-BE49-F238E27FC236}">
                <a16:creationId xmlns:a16="http://schemas.microsoft.com/office/drawing/2014/main" id="{5A9A297B-B25C-4999-A155-974DAA2DD8A4}"/>
              </a:ext>
            </a:extLst>
          </p:cNvPr>
          <p:cNvSpPr>
            <a:spLocks xmlns:a="http://schemas.openxmlformats.org/drawingml/2006/main" noGrp="1"/>
          </p:cNvSpPr>
          <p:nvPr/>
        </p:nvSpPr>
        <p:spPr>
          <a:xfrm xmlns:a="http://schemas.openxmlformats.org/drawingml/2006/main">
            <a:off x="8324850" y="1657350"/>
            <a:ext cx="257175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1650" b="0">
                <a:solidFill>
                  <a:srgbClr val="1D2B27"/>
                </a:solidFill>
                <a:latin typeface="Arial"/>
                <a:ea typeface="Arial"/>
                <a:cs typeface="Arial"/>
              </a:defRPr>
            </a:pPr>
            <a:r>
              <a:rPr sz="1650" b="0">
                <a:solidFill>
                  <a:srgbClr val="1D2B27"/>
                </a:solidFill>
                <a:latin typeface="Arial"/>
                <a:ea typeface="Arial"/>
                <a:cs typeface="Arial"/>
              </a:rPr>
              <a:t>1  Overview</a:t>
            </a:r>
          </a:p>
          <a:p xmlns:a="http://schemas.openxmlformats.org/drawingml/2006/main">
            <a:pPr>
              <a:defRPr sz="1650" b="0">
                <a:solidFill>
                  <a:srgbClr val="1D2B27"/>
                </a:solidFill>
                <a:latin typeface="Arial"/>
                <a:ea typeface="Arial"/>
                <a:cs typeface="Arial"/>
              </a:defRPr>
            </a:pPr>
            <a:r>
              <a:rPr sz="1650" b="0">
                <a:solidFill>
                  <a:srgbClr val="1D2B27"/>
                </a:solidFill>
                <a:latin typeface="Arial"/>
                <a:ea typeface="Arial"/>
                <a:cs typeface="Arial"/>
              </a:rPr>
              <a:t>2  Venue explorer</a:t>
            </a:r>
          </a:p>
          <a:p xmlns:a="http://schemas.openxmlformats.org/drawingml/2006/main">
            <a:pPr>
              <a:defRPr sz="1650" b="0">
                <a:solidFill>
                  <a:srgbClr val="1D2B27"/>
                </a:solidFill>
                <a:latin typeface="Arial"/>
                <a:ea typeface="Arial"/>
                <a:cs typeface="Arial"/>
              </a:defRPr>
            </a:pPr>
            <a:r>
              <a:rPr sz="1650" b="0">
                <a:solidFill>
                  <a:srgbClr val="1D2B27"/>
                </a:solidFill>
                <a:latin typeface="Arial"/>
                <a:ea typeface="Arial"/>
                <a:cs typeface="Arial"/>
              </a:rPr>
              <a:t>3  SQL analysis</a:t>
            </a:r>
          </a:p>
          <a:p xmlns:a="http://schemas.openxmlformats.org/drawingml/2006/main">
            <a:pPr>
              <a:defRPr sz="1650" b="0">
                <a:solidFill>
                  <a:srgbClr val="1D2B27"/>
                </a:solidFill>
                <a:latin typeface="Arial"/>
                <a:ea typeface="Arial"/>
                <a:cs typeface="Arial"/>
              </a:defRPr>
            </a:pPr>
            <a:r>
              <a:rPr sz="1650" b="0">
                <a:solidFill>
                  <a:srgbClr val="1D2B27"/>
                </a:solidFill>
                <a:latin typeface="Arial"/>
                <a:ea typeface="Arial"/>
                <a:cs typeface="Arial"/>
              </a:rPr>
              <a:t>4  ML explanation</a:t>
            </a:r>
          </a:p>
          <a:p xmlns:a="http://schemas.openxmlformats.org/drawingml/2006/main">
            <a:pPr>
              <a:defRPr sz="1650" b="0">
                <a:solidFill>
                  <a:srgbClr val="1D2B27"/>
                </a:solidFill>
                <a:latin typeface="Arial"/>
                <a:ea typeface="Arial"/>
                <a:cs typeface="Arial"/>
              </a:defRPr>
            </a:pPr>
            <a:r>
              <a:rPr sz="1650" b="0">
                <a:solidFill>
                  <a:srgbClr val="1D2B27"/>
                </a:solidFill>
                <a:latin typeface="Arial"/>
                <a:ea typeface="Arial"/>
                <a:cs typeface="Arial"/>
              </a:rPr>
              <a:t>5  Add a venue</a:t>
            </a:r>
          </a:p>
          <a:p xmlns:a="http://schemas.openxmlformats.org/drawingml/2006/main">
            <a:pPr>
              <a:defRPr sz="1650" b="0">
                <a:solidFill>
                  <a:srgbClr val="1D2B27"/>
                </a:solidFill>
                <a:latin typeface="Arial"/>
                <a:ea typeface="Arial"/>
                <a:cs typeface="Arial"/>
              </a:defRPr>
            </a:pPr>
            <a:r>
              <a:rPr sz="1650" b="0">
                <a:solidFill>
                  <a:srgbClr val="1D2B27"/>
                </a:solidFill>
                <a:latin typeface="Arial"/>
                <a:ea typeface="Arial"/>
                <a:cs typeface="Arial"/>
              </a:rPr>
              <a:t>6  Community venues</a:t>
            </a:r>
          </a:p>
        </p:txBody>
      </p:sp>
      <p:sp>
        <p:nvSpPr>
          <p:cNvPr id="16" name="">
            <a:extLst xmlns:a="http://schemas.openxmlformats.org/drawingml/2006/main">
              <a:ext uri="{FF2B5EF4-FFF2-40B4-BE49-F238E27FC236}">
                <a16:creationId xmlns:a16="http://schemas.microsoft.com/office/drawing/2014/main" id="{D097AE54-4002-4F5F-9842-4E00D1DCC101}"/>
              </a:ext>
            </a:extLst>
          </p:cNvPr>
          <p:cNvSpPr>
            <a:spLocks xmlns:a="http://schemas.openxmlformats.org/drawingml/2006/main" noGrp="1"/>
          </p:cNvSpPr>
          <p:nvPr/>
        </p:nvSpPr>
        <p:spPr>
          <a:xfrm xmlns:a="http://schemas.openxmlformats.org/drawingml/2006/main">
            <a:off x="8324850" y="4552950"/>
            <a:ext cx="1714500" cy="342900"/>
          </a:xfrm>
          <a:prstGeom xmlns:a="http://schemas.openxmlformats.org/drawingml/2006/main" prst="roundRect">
            <a:avLst>
              <a:gd name="adj" fmla="val 22222"/>
            </a:avLst>
          </a:prstGeom>
          <a:solidFill xmlns:a="http://schemas.openxmlformats.org/drawingml/2006/main">
            <a:srgbClr val="C6423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5CB9FAE-B484-4ACE-A147-EB0A16B73314}"/>
              </a:ext>
            </a:extLst>
          </p:cNvPr>
          <p:cNvSpPr>
            <a:spLocks xmlns:a="http://schemas.openxmlformats.org/drawingml/2006/main" noGrp="1"/>
          </p:cNvSpPr>
          <p:nvPr/>
        </p:nvSpPr>
        <p:spPr>
          <a:xfrm xmlns:a="http://schemas.openxmlformats.org/drawingml/2006/main">
            <a:off x="8458200" y="4619625"/>
            <a:ext cx="1447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8889"/>
          </a:bodyPr>
          <a:lstStyle xmlns:a="http://schemas.openxmlformats.org/drawingml/2006/main"/>
          <a:p xmlns:a="http://schemas.openxmlformats.org/drawingml/2006/main">
            <a:pPr>
              <a:defRPr sz="1125" b="1">
                <a:solidFill>
                  <a:srgbClr val="FFFFFF"/>
                </a:solidFill>
                <a:latin typeface="Arial"/>
                <a:ea typeface="Arial"/>
                <a:cs typeface="Arial"/>
              </a:defRPr>
            </a:pPr>
            <a:r>
              <a:rPr sz="1125" b="1">
                <a:solidFill>
                  <a:srgbClr val="FFFFFF"/>
                </a:solidFill>
                <a:latin typeface="Arial"/>
                <a:ea typeface="Arial"/>
                <a:cs typeface="Arial"/>
              </a:rPr>
              <a:t>Questions?</a:t>
            </a:r>
          </a:p>
        </p:txBody>
      </p:sp>
      <p:sp>
        <p:nvSpPr>
          <p:cNvPr id="18" name="">
            <a:extLst xmlns:a="http://schemas.openxmlformats.org/drawingml/2006/main">
              <a:ext uri="{FF2B5EF4-FFF2-40B4-BE49-F238E27FC236}">
                <a16:creationId xmlns:a16="http://schemas.microsoft.com/office/drawing/2014/main" id="{E3A56E1B-7059-4B36-B28F-A2B007BA970A}"/>
              </a:ext>
            </a:extLst>
          </p:cNvPr>
          <p:cNvSpPr>
            <a:spLocks xmlns:a="http://schemas.openxmlformats.org/drawingml/2006/main" noGrp="1"/>
          </p:cNvSpPr>
          <p:nvPr/>
        </p:nvSpPr>
        <p:spPr>
          <a:xfrm xmlns:a="http://schemas.openxmlformats.org/drawingml/2006/main">
            <a:off x="628650" y="6134100"/>
            <a:ext cx="685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defRPr sz="1200" b="0">
                <a:solidFill>
                  <a:srgbClr val="DDECE2"/>
                </a:solidFill>
                <a:latin typeface="Arial"/>
                <a:ea typeface="Arial"/>
                <a:cs typeface="Arial"/>
              </a:defRPr>
            </a:pPr>
            <a:r>
              <a:rPr sz="1200" b="0">
                <a:solidFill>
                  <a:srgbClr val="DDECE2"/>
                </a:solidFill>
                <a:latin typeface="Arial"/>
                <a:ea typeface="Arial"/>
                <a:cs typeface="Arial"/>
              </a:rPr>
              <a:t>Source code and methodology are public on GitHub.</a:t>
            </a:r>
          </a:p>
        </p:txBody>
      </p:sp>
    </p:spTree>
    <p:extLst>
      <p:ext uri="{BB962C8B-B14F-4D97-AF65-F5344CB8AC3E}">
        <p14:creationId xmlns:p14="http://schemas.microsoft.com/office/powerpoint/2010/main" val="858672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2026-09-30T18:43:09.1530000Z</dcterms:created>
  <dcterms:modified xsi:type="dcterms:W3CDTF">2026-09-30T18:43:09.1530000Z</dcterms:modified>
</coreProperties>
</file>